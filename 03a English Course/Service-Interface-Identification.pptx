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8" r:id="rId1"/>
  </p:sldMasterIdLst>
  <p:notesMasterIdLst>
    <p:notesMasterId r:id="rId13"/>
  </p:notesMasterIdLst>
  <p:sldIdLst>
    <p:sldId id="256" r:id="rId2"/>
    <p:sldId id="262" r:id="rId3"/>
    <p:sldId id="265" r:id="rId4"/>
    <p:sldId id="264" r:id="rId5"/>
    <p:sldId id="266" r:id="rId6"/>
    <p:sldId id="269" r:id="rId7"/>
    <p:sldId id="270" r:id="rId8"/>
    <p:sldId id="271" r:id="rId9"/>
    <p:sldId id="272" r:id="rId10"/>
    <p:sldId id="268"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9" autoAdjust="0"/>
    <p:restoredTop sz="81235" autoAdjust="0"/>
  </p:normalViewPr>
  <p:slideViewPr>
    <p:cSldViewPr snapToGrid="0">
      <p:cViewPr varScale="1">
        <p:scale>
          <a:sx n="90" d="100"/>
          <a:sy n="90" d="100"/>
        </p:scale>
        <p:origin x="12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985B8-CC2D-4C87-82FB-4B3315457908}" type="datetimeFigureOut">
              <a:rPr lang="de-DE" smtClean="0"/>
              <a:t>24.09.2026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55475-B631-4FA3-886C-1F95E3AFB43D}" type="slidenum">
              <a:rPr lang="de-DE" smtClean="0"/>
              <a:t>‹#›</a:t>
            </a:fld>
            <a:endParaRPr lang="de-DE"/>
          </a:p>
        </p:txBody>
      </p:sp>
    </p:spTree>
    <p:extLst>
      <p:ext uri="{BB962C8B-B14F-4D97-AF65-F5344CB8AC3E}">
        <p14:creationId xmlns:p14="http://schemas.microsoft.com/office/powerpoint/2010/main" val="4139560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Tx/>
              <a:buChar char="-"/>
            </a:pPr>
            <a:r>
              <a:rPr lang="de-DE" dirty="0" err="1"/>
              <a:t>Good</a:t>
            </a:r>
            <a:r>
              <a:rPr lang="de-DE" dirty="0"/>
              <a:t> </a:t>
            </a:r>
            <a:r>
              <a:rPr lang="de-DE" dirty="0" err="1"/>
              <a:t>morning</a:t>
            </a:r>
            <a:r>
              <a:rPr lang="de-DE" dirty="0"/>
              <a:t> </a:t>
            </a:r>
            <a:r>
              <a:rPr lang="de-DE" dirty="0" err="1"/>
              <a:t>everyone</a:t>
            </a:r>
            <a:r>
              <a:rPr lang="de-DE" dirty="0"/>
              <a:t>, </a:t>
            </a:r>
            <a:r>
              <a:rPr lang="de-DE" dirty="0" err="1"/>
              <a:t>my</a:t>
            </a:r>
            <a:r>
              <a:rPr lang="de-DE" dirty="0"/>
              <a:t> </a:t>
            </a:r>
            <a:r>
              <a:rPr lang="de-DE" dirty="0" err="1"/>
              <a:t>name</a:t>
            </a:r>
            <a:r>
              <a:rPr lang="de-DE" dirty="0"/>
              <a:t> </a:t>
            </a:r>
            <a:r>
              <a:rPr lang="de-DE" dirty="0" err="1"/>
              <a:t>is</a:t>
            </a:r>
            <a:r>
              <a:rPr lang="de-DE" dirty="0"/>
              <a:t> Alexander and I am </a:t>
            </a:r>
            <a:r>
              <a:rPr lang="de-DE" dirty="0" err="1"/>
              <a:t>studying</a:t>
            </a:r>
            <a:r>
              <a:rPr lang="de-DE" dirty="0"/>
              <a:t> in a </a:t>
            </a:r>
            <a:r>
              <a:rPr lang="de-DE" dirty="0" err="1"/>
              <a:t>master</a:t>
            </a:r>
            <a:r>
              <a:rPr lang="de-DE" dirty="0"/>
              <a:t> </a:t>
            </a:r>
            <a:r>
              <a:rPr lang="de-DE" dirty="0" err="1"/>
              <a:t>degree</a:t>
            </a:r>
            <a:r>
              <a:rPr lang="de-DE" dirty="0"/>
              <a:t> of Computer Science</a:t>
            </a:r>
          </a:p>
          <a:p>
            <a:pPr marL="171450" indent="-171450">
              <a:buFontTx/>
              <a:buChar char="-"/>
            </a:pPr>
            <a:r>
              <a:rPr lang="de-DE" dirty="0"/>
              <a:t>excited to talk about a topic related to my studies that I find interesting: „Software Migration“. </a:t>
            </a:r>
          </a:p>
          <a:p>
            <a:pPr marL="171450" indent="-171450">
              <a:buFontTx/>
              <a:buChar char="-"/>
            </a:pPr>
            <a:r>
              <a:rPr lang="de-DE" dirty="0"/>
              <a:t>Everyone is using software, nowadays even people‘s life is relying on software. We all use for example this smart device every day which is full of software.</a:t>
            </a:r>
          </a:p>
          <a:p>
            <a:pPr marL="171450" indent="-171450">
              <a:buFontTx/>
              <a:buChar char="-"/>
            </a:pPr>
            <a:r>
              <a:rPr lang="de-DE" dirty="0"/>
              <a:t>But did you know that organisations are often relying and maintaining outdated Software?</a:t>
            </a:r>
          </a:p>
          <a:p>
            <a:pPr marL="171450" indent="-171450">
              <a:buFontTx/>
              <a:buChar char="-"/>
            </a:pPr>
            <a:r>
              <a:rPr lang="de-DE" dirty="0"/>
              <a:t>This is like using and relying on trains which are build in the 1970s, like the SWB is doing</a:t>
            </a:r>
          </a:p>
          <a:p>
            <a:pPr marL="171450" indent="-171450">
              <a:buFontTx/>
              <a:buChar char="-"/>
            </a:pPr>
            <a:endParaRPr lang="de-DE" dirty="0"/>
          </a:p>
        </p:txBody>
      </p:sp>
      <p:sp>
        <p:nvSpPr>
          <p:cNvPr id="4" name="Foliennummernplatzhalter 3"/>
          <p:cNvSpPr>
            <a:spLocks noGrp="1"/>
          </p:cNvSpPr>
          <p:nvPr>
            <p:ph type="sldNum" sz="quarter" idx="5"/>
          </p:nvPr>
        </p:nvSpPr>
        <p:spPr/>
        <p:txBody>
          <a:bodyPr/>
          <a:lstStyle/>
          <a:p>
            <a:fld id="{87455475-B631-4FA3-886C-1F95E3AFB43D}" type="slidenum">
              <a:rPr lang="de-DE" smtClean="0"/>
              <a:t>1</a:t>
            </a:fld>
            <a:endParaRPr lang="de-DE"/>
          </a:p>
        </p:txBody>
      </p:sp>
    </p:spTree>
    <p:extLst>
      <p:ext uri="{BB962C8B-B14F-4D97-AF65-F5344CB8AC3E}">
        <p14:creationId xmlns:p14="http://schemas.microsoft.com/office/powerpoint/2010/main" val="697286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0B2B5-8B72-E9C5-A42A-74FB78A14AA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58D214E-A80E-2EE5-567A-15F8C2F5BA7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529D789-6066-C2CA-FB56-83FFD46152EC}"/>
              </a:ext>
            </a:extLst>
          </p:cNvPr>
          <p:cNvSpPr>
            <a:spLocks noGrp="1"/>
          </p:cNvSpPr>
          <p:nvPr>
            <p:ph type="body" idx="1"/>
          </p:nvPr>
        </p:nvSpPr>
        <p:spPr/>
        <p:txBody>
          <a:bodyPr/>
          <a:lstStyle/>
          <a:p>
            <a:pPr marL="171450" indent="-171450">
              <a:buFontTx/>
              <a:buChar char="-"/>
            </a:pPr>
            <a:r>
              <a:rPr lang="de-DE" dirty="0"/>
              <a:t>You perhaps noticed that the SWB recently had to take out most of their trams ouf of service</a:t>
            </a:r>
          </a:p>
          <a:p>
            <a:pPr marL="171450" indent="-171450">
              <a:buFontTx/>
              <a:buChar char="-"/>
            </a:pPr>
            <a:r>
              <a:rPr lang="de-DE" dirty="0"/>
              <a:t>Maybe some of you including me exprencied the effect, more time to travel between Bonn and University, full busses and more stress because the replacement service is not working properly</a:t>
            </a:r>
          </a:p>
          <a:p>
            <a:pPr marL="171450" indent="-171450">
              <a:buFontTx/>
              <a:buChar char="-"/>
            </a:pPr>
            <a:r>
              <a:rPr lang="de-DE" dirty="0"/>
              <a:t>The main problem is that SWB is relying on Trams which are build in the 1970/80s. </a:t>
            </a:r>
          </a:p>
          <a:p>
            <a:pPr marL="171450" indent="-171450">
              <a:buFontTx/>
              <a:buChar char="-"/>
            </a:pPr>
            <a:r>
              <a:rPr lang="de-DE" dirty="0"/>
              <a:t>Instead of ordering step-by-step new Trams they kept in repairing the old trams again and again.</a:t>
            </a:r>
          </a:p>
          <a:p>
            <a:pPr marL="171450" indent="-171450">
              <a:buFontTx/>
              <a:buChar char="-"/>
            </a:pPr>
            <a:r>
              <a:rPr lang="de-DE" dirty="0"/>
              <a:t>Organisations are facing similar problems in regard to software</a:t>
            </a:r>
          </a:p>
        </p:txBody>
      </p:sp>
      <p:sp>
        <p:nvSpPr>
          <p:cNvPr id="4" name="Foliennummernplatzhalter 3">
            <a:extLst>
              <a:ext uri="{FF2B5EF4-FFF2-40B4-BE49-F238E27FC236}">
                <a16:creationId xmlns:a16="http://schemas.microsoft.com/office/drawing/2014/main" id="{695B2E9D-79D3-236A-2338-3684227DF8B9}"/>
              </a:ext>
            </a:extLst>
          </p:cNvPr>
          <p:cNvSpPr>
            <a:spLocks noGrp="1"/>
          </p:cNvSpPr>
          <p:nvPr>
            <p:ph type="sldNum" sz="quarter" idx="5"/>
          </p:nvPr>
        </p:nvSpPr>
        <p:spPr/>
        <p:txBody>
          <a:bodyPr/>
          <a:lstStyle/>
          <a:p>
            <a:fld id="{87455475-B631-4FA3-886C-1F95E3AFB43D}" type="slidenum">
              <a:rPr lang="de-DE" smtClean="0"/>
              <a:t>2</a:t>
            </a:fld>
            <a:endParaRPr lang="de-DE"/>
          </a:p>
        </p:txBody>
      </p:sp>
    </p:spTree>
    <p:extLst>
      <p:ext uri="{BB962C8B-B14F-4D97-AF65-F5344CB8AC3E}">
        <p14:creationId xmlns:p14="http://schemas.microsoft.com/office/powerpoint/2010/main" val="2719571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08BBF-04F5-E4A8-1539-FFF8A75F811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152669A-ABC7-56A4-4295-32F3E1C5CDF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90D0442-9259-E716-21CC-98E956FF71F9}"/>
              </a:ext>
            </a:extLst>
          </p:cNvPr>
          <p:cNvSpPr>
            <a:spLocks noGrp="1"/>
          </p:cNvSpPr>
          <p:nvPr>
            <p:ph type="body" idx="1"/>
          </p:nvPr>
        </p:nvSpPr>
        <p:spPr/>
        <p:txBody>
          <a:bodyPr/>
          <a:lstStyle/>
          <a:p>
            <a:pPr marL="171450" indent="-171450">
              <a:buFontTx/>
              <a:buChar char="-"/>
            </a:pPr>
            <a:r>
              <a:rPr lang="de-DE" dirty="0"/>
              <a:t>Software Migration is exactly dealing with the question: How can we transform old software into new Software.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a:t>So today, I would like to explain you what Software Migration means and why it is relevant</a:t>
            </a:r>
          </a:p>
          <a:p>
            <a:pPr marL="171450" indent="-171450">
              <a:buFontTx/>
              <a:buChar char="-"/>
            </a:pPr>
            <a:r>
              <a:rPr lang="de-DE" dirty="0"/>
              <a:t>If you have any further questions please note them down and keep them until the end of my talk. I will be open for questions afterwards.</a:t>
            </a:r>
          </a:p>
          <a:p>
            <a:pPr marL="171450" indent="-171450">
              <a:buFontTx/>
              <a:buChar char="-"/>
            </a:pPr>
            <a:endParaRPr lang="de-DE" dirty="0"/>
          </a:p>
          <a:p>
            <a:pPr marL="171450" indent="-171450">
              <a:buFontTx/>
              <a:buChar char="-"/>
            </a:pPr>
            <a:endParaRPr lang="de-DE" dirty="0"/>
          </a:p>
        </p:txBody>
      </p:sp>
      <p:sp>
        <p:nvSpPr>
          <p:cNvPr id="4" name="Foliennummernplatzhalter 3">
            <a:extLst>
              <a:ext uri="{FF2B5EF4-FFF2-40B4-BE49-F238E27FC236}">
                <a16:creationId xmlns:a16="http://schemas.microsoft.com/office/drawing/2014/main" id="{B02F55DA-1078-B4CB-96B1-0D4EA49287F4}"/>
              </a:ext>
            </a:extLst>
          </p:cNvPr>
          <p:cNvSpPr>
            <a:spLocks noGrp="1"/>
          </p:cNvSpPr>
          <p:nvPr>
            <p:ph type="sldNum" sz="quarter" idx="5"/>
          </p:nvPr>
        </p:nvSpPr>
        <p:spPr/>
        <p:txBody>
          <a:bodyPr/>
          <a:lstStyle/>
          <a:p>
            <a:fld id="{87455475-B631-4FA3-886C-1F95E3AFB43D}" type="slidenum">
              <a:rPr lang="de-DE" smtClean="0"/>
              <a:t>3</a:t>
            </a:fld>
            <a:endParaRPr lang="de-DE"/>
          </a:p>
        </p:txBody>
      </p:sp>
    </p:spTree>
    <p:extLst>
      <p:ext uri="{BB962C8B-B14F-4D97-AF65-F5344CB8AC3E}">
        <p14:creationId xmlns:p14="http://schemas.microsoft.com/office/powerpoint/2010/main" val="3149709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a:t>So, first I want to explain you the definition of software migration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a:t>Then, I want you explain the Term Big Bang Migration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a:t>And in the end we will look on the Strangler Pattern, which might be the SWB‘s longterm solution for their Tram problem</a:t>
            </a:r>
          </a:p>
        </p:txBody>
      </p:sp>
      <p:sp>
        <p:nvSpPr>
          <p:cNvPr id="4" name="Slide Number Placeholder 3"/>
          <p:cNvSpPr>
            <a:spLocks noGrp="1"/>
          </p:cNvSpPr>
          <p:nvPr>
            <p:ph type="sldNum" sz="quarter" idx="5"/>
          </p:nvPr>
        </p:nvSpPr>
        <p:spPr/>
        <p:txBody>
          <a:bodyPr/>
          <a:lstStyle/>
          <a:p>
            <a:fld id="{87455475-B631-4FA3-886C-1F95E3AFB43D}" type="slidenum">
              <a:rPr lang="de-DE" smtClean="0"/>
              <a:t>4</a:t>
            </a:fld>
            <a:endParaRPr lang="de-DE"/>
          </a:p>
        </p:txBody>
      </p:sp>
    </p:spTree>
    <p:extLst>
      <p:ext uri="{BB962C8B-B14F-4D97-AF65-F5344CB8AC3E}">
        <p14:creationId xmlns:p14="http://schemas.microsoft.com/office/powerpoint/2010/main" val="52919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sz="1200" dirty="0"/>
              <a:t>Splitting and transferring software to a new platform or technology</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de-DE" sz="1200" dirty="0"/>
              <a:t>Goal: meet new requirements and improve future maintanability</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de-DE" sz="1200" dirty="0"/>
              <a:t>Existing functionality is to be preserved in order to prevent the loss of business knowledge</a:t>
            </a:r>
          </a:p>
        </p:txBody>
      </p:sp>
      <p:sp>
        <p:nvSpPr>
          <p:cNvPr id="4" name="Slide Number Placeholder 3"/>
          <p:cNvSpPr>
            <a:spLocks noGrp="1"/>
          </p:cNvSpPr>
          <p:nvPr>
            <p:ph type="sldNum" sz="quarter" idx="5"/>
          </p:nvPr>
        </p:nvSpPr>
        <p:spPr/>
        <p:txBody>
          <a:bodyPr/>
          <a:lstStyle/>
          <a:p>
            <a:fld id="{87455475-B631-4FA3-886C-1F95E3AFB43D}" type="slidenum">
              <a:rPr lang="de-DE" smtClean="0"/>
              <a:t>5</a:t>
            </a:fld>
            <a:endParaRPr lang="de-DE"/>
          </a:p>
        </p:txBody>
      </p:sp>
    </p:spTree>
    <p:extLst>
      <p:ext uri="{BB962C8B-B14F-4D97-AF65-F5344CB8AC3E}">
        <p14:creationId xmlns:p14="http://schemas.microsoft.com/office/powerpoint/2010/main" val="4017039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CCA80-0C47-5FE0-A401-44A6108FC2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E7F9E-F87B-78D7-1D6C-231DB44C56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155C8-16A1-47FE-2D16-93667A53C64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sz="1200" dirty="0"/>
              <a:t>Big Bang Migraation: A completely new system is </a:t>
            </a:r>
            <a:r>
              <a:rPr lang="en-GB" sz="1200" noProof="0" dirty="0"/>
              <a:t>separately developed. If it is done it will replace the old system</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noProof="0" dirty="0"/>
              <a:t>In order to do this, you have to fully understand the old system which might not be given leading to…</a:t>
            </a:r>
          </a:p>
        </p:txBody>
      </p:sp>
      <p:sp>
        <p:nvSpPr>
          <p:cNvPr id="4" name="Slide Number Placeholder 3">
            <a:extLst>
              <a:ext uri="{FF2B5EF4-FFF2-40B4-BE49-F238E27FC236}">
                <a16:creationId xmlns:a16="http://schemas.microsoft.com/office/drawing/2014/main" id="{ABE19732-D2CA-42CF-DB0F-E09022B8CABA}"/>
              </a:ext>
            </a:extLst>
          </p:cNvPr>
          <p:cNvSpPr>
            <a:spLocks noGrp="1"/>
          </p:cNvSpPr>
          <p:nvPr>
            <p:ph type="sldNum" sz="quarter" idx="5"/>
          </p:nvPr>
        </p:nvSpPr>
        <p:spPr/>
        <p:txBody>
          <a:bodyPr/>
          <a:lstStyle/>
          <a:p>
            <a:fld id="{87455475-B631-4FA3-886C-1F95E3AFB43D}" type="slidenum">
              <a:rPr lang="de-DE" smtClean="0"/>
              <a:t>6</a:t>
            </a:fld>
            <a:endParaRPr lang="de-DE"/>
          </a:p>
        </p:txBody>
      </p:sp>
    </p:spTree>
    <p:extLst>
      <p:ext uri="{BB962C8B-B14F-4D97-AF65-F5344CB8AC3E}">
        <p14:creationId xmlns:p14="http://schemas.microsoft.com/office/powerpoint/2010/main" val="1640413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093EF-5CF7-97B6-DA0A-8EC496A4EE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9E0372-FCB0-6273-CFD6-4524F1FB7F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B354B0-C11B-9AEC-3918-1C8D1A804F5C}"/>
              </a:ext>
            </a:extLst>
          </p:cNvPr>
          <p:cNvSpPr>
            <a:spLocks noGrp="1"/>
          </p:cNvSpPr>
          <p:nvPr>
            <p:ph type="body" idx="1"/>
          </p:nvPr>
        </p:nvSpPr>
        <p:spPr/>
        <p:txBody>
          <a:bodyPr/>
          <a:lstStyle/>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noProof="0" dirty="0"/>
              <a:t>Risks: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noProof="0" dirty="0"/>
              <a:t>… huge time effort</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noProof="0" dirty="0"/>
              <a:t>You must maintain two systems leading to huge costs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noProof="0" dirty="0"/>
              <a:t>You have the risk that during or after the transitional phase parts of the company may not be operational or not working properly</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noProof="0" dirty="0"/>
              <a:t>Risk that new software is outdated on completion again</a:t>
            </a:r>
          </a:p>
        </p:txBody>
      </p:sp>
      <p:sp>
        <p:nvSpPr>
          <p:cNvPr id="4" name="Slide Number Placeholder 3">
            <a:extLst>
              <a:ext uri="{FF2B5EF4-FFF2-40B4-BE49-F238E27FC236}">
                <a16:creationId xmlns:a16="http://schemas.microsoft.com/office/drawing/2014/main" id="{3C147140-A208-1E2C-160C-46D9DCB65DC7}"/>
              </a:ext>
            </a:extLst>
          </p:cNvPr>
          <p:cNvSpPr>
            <a:spLocks noGrp="1"/>
          </p:cNvSpPr>
          <p:nvPr>
            <p:ph type="sldNum" sz="quarter" idx="5"/>
          </p:nvPr>
        </p:nvSpPr>
        <p:spPr/>
        <p:txBody>
          <a:bodyPr/>
          <a:lstStyle/>
          <a:p>
            <a:fld id="{87455475-B631-4FA3-886C-1F95E3AFB43D}" type="slidenum">
              <a:rPr lang="de-DE" smtClean="0"/>
              <a:t>7</a:t>
            </a:fld>
            <a:endParaRPr lang="de-DE"/>
          </a:p>
        </p:txBody>
      </p:sp>
    </p:spTree>
    <p:extLst>
      <p:ext uri="{BB962C8B-B14F-4D97-AF65-F5344CB8AC3E}">
        <p14:creationId xmlns:p14="http://schemas.microsoft.com/office/powerpoint/2010/main" val="3682028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90D31-FD5B-437E-EAC4-C2690C9C3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D7F37B-A261-8CB8-887F-3D0360EEB6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727A7F-88EB-41E1-90AE-722565898D9F}"/>
              </a:ext>
            </a:extLst>
          </p:cNvPr>
          <p:cNvSpPr>
            <a:spLocks noGrp="1"/>
          </p:cNvSpPr>
          <p:nvPr>
            <p:ph type="body" idx="1"/>
          </p:nvPr>
        </p:nvSpPr>
        <p:spPr/>
        <p:txBody>
          <a:bodyPr/>
          <a:lstStyle/>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b="1" noProof="0" dirty="0"/>
              <a:t>Strangler Pattern:</a:t>
            </a:r>
            <a:endParaRPr lang="en-GB" sz="1200" noProof="0" dirty="0"/>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GB" sz="1200" b="0" noProof="0" dirty="0"/>
              <a:t>“To strangle” means that something is slowly wrapping around something else until it becomes overtaken. </a:t>
            </a: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GB" sz="1200" b="0" noProof="0" dirty="0"/>
              <a:t>Here in this image, we can see, that the vines will by time cut off light and the nutrition supply of the big tree, so that it will die. Only the strangler vines will remain.</a:t>
            </a: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GB" sz="1200" b="0" noProof="0" dirty="0"/>
              <a:t>We want our transition from the old towards the new system in a similar kind of way</a:t>
            </a:r>
          </a:p>
        </p:txBody>
      </p:sp>
      <p:sp>
        <p:nvSpPr>
          <p:cNvPr id="4" name="Slide Number Placeholder 3">
            <a:extLst>
              <a:ext uri="{FF2B5EF4-FFF2-40B4-BE49-F238E27FC236}">
                <a16:creationId xmlns:a16="http://schemas.microsoft.com/office/drawing/2014/main" id="{F9006380-B571-D067-BD81-5CC1CF900687}"/>
              </a:ext>
            </a:extLst>
          </p:cNvPr>
          <p:cNvSpPr>
            <a:spLocks noGrp="1"/>
          </p:cNvSpPr>
          <p:nvPr>
            <p:ph type="sldNum" sz="quarter" idx="5"/>
          </p:nvPr>
        </p:nvSpPr>
        <p:spPr/>
        <p:txBody>
          <a:bodyPr/>
          <a:lstStyle/>
          <a:p>
            <a:fld id="{87455475-B631-4FA3-886C-1F95E3AFB43D}" type="slidenum">
              <a:rPr lang="de-DE" smtClean="0"/>
              <a:t>8</a:t>
            </a:fld>
            <a:endParaRPr lang="de-DE"/>
          </a:p>
        </p:txBody>
      </p:sp>
    </p:spTree>
    <p:extLst>
      <p:ext uri="{BB962C8B-B14F-4D97-AF65-F5344CB8AC3E}">
        <p14:creationId xmlns:p14="http://schemas.microsoft.com/office/powerpoint/2010/main" val="2271209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9BC24-C5AC-3C2C-2ACF-86991D182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BED2FD-4B13-A9FE-D69F-3EF909D41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55E5FC-C7B1-4995-52CE-9E03E393E47B}"/>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b="1" noProof="0" dirty="0"/>
              <a:t>Strangler Pattern:</a:t>
            </a:r>
            <a:r>
              <a:rPr lang="en-GB" sz="1200" b="0" noProof="0" dirty="0"/>
              <a:t> The new System is strangling the old system step-by-step</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b="0" noProof="0" dirty="0"/>
              <a:t>As we can see here the old system is incrementally replaced by the new system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b="0" noProof="0" dirty="0"/>
              <a:t>During the Migration Process the System have to provide an Facade routing function calls to the right system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b="0" noProof="0" dirty="0"/>
              <a:t>We see that parts of the old system is incrementally integrated into the new system.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b="0" noProof="0" dirty="0"/>
              <a:t>By time the new system strangle the old system like the vines of the tree until the old system is completely migrated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b="0" noProof="0" dirty="0"/>
              <a:t>Personally, I would recommend SWB to use the Strangler Pattern to incrementally renew their fleet, which they might already planning</a:t>
            </a:r>
          </a:p>
        </p:txBody>
      </p:sp>
      <p:sp>
        <p:nvSpPr>
          <p:cNvPr id="4" name="Slide Number Placeholder 3">
            <a:extLst>
              <a:ext uri="{FF2B5EF4-FFF2-40B4-BE49-F238E27FC236}">
                <a16:creationId xmlns:a16="http://schemas.microsoft.com/office/drawing/2014/main" id="{5F654693-BA55-79B8-623B-84223DC66117}"/>
              </a:ext>
            </a:extLst>
          </p:cNvPr>
          <p:cNvSpPr>
            <a:spLocks noGrp="1"/>
          </p:cNvSpPr>
          <p:nvPr>
            <p:ph type="sldNum" sz="quarter" idx="5"/>
          </p:nvPr>
        </p:nvSpPr>
        <p:spPr/>
        <p:txBody>
          <a:bodyPr/>
          <a:lstStyle/>
          <a:p>
            <a:fld id="{87455475-B631-4FA3-886C-1F95E3AFB43D}" type="slidenum">
              <a:rPr lang="de-DE" smtClean="0"/>
              <a:t>9</a:t>
            </a:fld>
            <a:endParaRPr lang="de-DE"/>
          </a:p>
        </p:txBody>
      </p:sp>
    </p:spTree>
    <p:extLst>
      <p:ext uri="{BB962C8B-B14F-4D97-AF65-F5344CB8AC3E}">
        <p14:creationId xmlns:p14="http://schemas.microsoft.com/office/powerpoint/2010/main" val="1818638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de-DE" dirty="0"/>
              <a:t>Thats it what I wanted to share with you today about Software Migration. Of course you can dive more deeper into to topic, but I want to let like this for today</a:t>
            </a:r>
          </a:p>
          <a:p>
            <a:pPr marL="171450" indent="-171450">
              <a:buFontTx/>
              <a:buChar char="-"/>
            </a:pPr>
            <a:r>
              <a:rPr lang="de-DE" dirty="0"/>
              <a:t>As references I used one lecture of my master degree and this paper for the definition of Software Migration</a:t>
            </a:r>
          </a:p>
          <a:p>
            <a:pPr marL="171450" indent="-171450">
              <a:buFontTx/>
              <a:buChar char="-"/>
            </a:pPr>
            <a:r>
              <a:rPr lang="de-DE" dirty="0"/>
              <a:t>I used Google Gemini to support my presentation with pictures</a:t>
            </a:r>
          </a:p>
        </p:txBody>
      </p:sp>
      <p:sp>
        <p:nvSpPr>
          <p:cNvPr id="4" name="Slide Number Placeholder 3"/>
          <p:cNvSpPr>
            <a:spLocks noGrp="1"/>
          </p:cNvSpPr>
          <p:nvPr>
            <p:ph type="sldNum" sz="quarter" idx="5"/>
          </p:nvPr>
        </p:nvSpPr>
        <p:spPr/>
        <p:txBody>
          <a:bodyPr/>
          <a:lstStyle/>
          <a:p>
            <a:fld id="{87455475-B631-4FA3-886C-1F95E3AFB43D}" type="slidenum">
              <a:rPr lang="de-DE" smtClean="0"/>
              <a:t>10</a:t>
            </a:fld>
            <a:endParaRPr lang="de-DE"/>
          </a:p>
        </p:txBody>
      </p:sp>
    </p:spTree>
    <p:extLst>
      <p:ext uri="{BB962C8B-B14F-4D97-AF65-F5344CB8AC3E}">
        <p14:creationId xmlns:p14="http://schemas.microsoft.com/office/powerpoint/2010/main" val="184204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de-DE" dirty="0"/>
              <a:t>I appreciate your attenetion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a:t>I am now open and looking forward for your questions</a:t>
            </a:r>
          </a:p>
        </p:txBody>
      </p:sp>
      <p:sp>
        <p:nvSpPr>
          <p:cNvPr id="4" name="Slide Number Placeholder 3"/>
          <p:cNvSpPr>
            <a:spLocks noGrp="1"/>
          </p:cNvSpPr>
          <p:nvPr>
            <p:ph type="sldNum" sz="quarter" idx="5"/>
          </p:nvPr>
        </p:nvSpPr>
        <p:spPr/>
        <p:txBody>
          <a:bodyPr/>
          <a:lstStyle/>
          <a:p>
            <a:fld id="{87455475-B631-4FA3-886C-1F95E3AFB43D}" type="slidenum">
              <a:rPr lang="de-DE" smtClean="0"/>
              <a:t>11</a:t>
            </a:fld>
            <a:endParaRPr lang="de-DE"/>
          </a:p>
        </p:txBody>
      </p:sp>
    </p:spTree>
    <p:extLst>
      <p:ext uri="{BB962C8B-B14F-4D97-AF65-F5344CB8AC3E}">
        <p14:creationId xmlns:p14="http://schemas.microsoft.com/office/powerpoint/2010/main" val="3191941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de-DE"/>
              <a:t>Master-Untertitelformat bearbeiten</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a:lstStyle>
            <a:lvl1pPr>
              <a:defRPr>
                <a:solidFill>
                  <a:schemeClr val="bg1"/>
                </a:solidFill>
              </a:defRPr>
            </a:lvl1pPr>
          </a:lstStyle>
          <a:p>
            <a:endParaRPr lang="de-DE"/>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a:lstStyle>
            <a:lvl1pPr>
              <a:defRPr>
                <a:solidFill>
                  <a:schemeClr val="bg1"/>
                </a:solidFill>
              </a:defRPr>
            </a:lvl1pPr>
          </a:lstStyle>
          <a:p>
            <a:fld id="{D81AB21C-4ADE-460B-A71C-A3AAF9F42E86}" type="datetime1">
              <a:rPr lang="de-DE" smtClean="0"/>
              <a:t>25.09.2026</a:t>
            </a:fld>
            <a:endParaRPr lang="de-DE"/>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a:lstStyle>
            <a:lvl1pPr>
              <a:defRPr>
                <a:solidFill>
                  <a:schemeClr val="bg1"/>
                </a:solidFill>
              </a:defRPr>
            </a:lvl1pPr>
          </a:lstStyle>
          <a:p>
            <a:fld id="{EE37D961-4667-421C-914A-80EB01B4E571}" type="slidenum">
              <a:rPr lang="de-DE" smtClean="0"/>
              <a:t>‹#›</a:t>
            </a:fld>
            <a:endParaRPr lang="de-DE"/>
          </a:p>
        </p:txBody>
      </p:sp>
      <p:sp>
        <p:nvSpPr>
          <p:cNvPr id="7" name="Rectangle 6">
            <a:extLst>
              <a:ext uri="{FF2B5EF4-FFF2-40B4-BE49-F238E27FC236}">
                <a16:creationId xmlns:a16="http://schemas.microsoft.com/office/drawing/2014/main" id="{6631FF2A-9DA0-DC5C-0C53-91FDE15093DD}"/>
              </a:ext>
            </a:extLst>
          </p:cNvPr>
          <p:cNvSpPr/>
          <p:nvPr/>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CA4208E-B529-0934-86E0-24278D43C68A}"/>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527699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Inhal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anchor="t">
            <a:normAutofit/>
          </a:bodyPr>
          <a:lstStyle>
            <a:lvl1pPr>
              <a:defRPr sz="3600" cap="all" baseline="0"/>
            </a:lvl1pPr>
          </a:lstStyle>
          <a:p>
            <a:r>
              <a:rPr lang="de-DE"/>
              <a:t>Mastertitelformat bearbeiten</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Rectangle 6">
            <a:extLst>
              <a:ext uri="{FF2B5EF4-FFF2-40B4-BE49-F238E27FC236}">
                <a16:creationId xmlns:a16="http://schemas.microsoft.com/office/drawing/2014/main" id="{E5526932-58BC-3B05-A619-8FE2BA7973D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E4751EC6-9764-CDDF-E8BC-793AD483E0A9}"/>
              </a:ext>
            </a:extLst>
          </p:cNvPr>
          <p:cNvSpPr>
            <a:spLocks noGrp="1"/>
          </p:cNvSpPr>
          <p:nvPr>
            <p:ph type="ftr" sz="quarter" idx="11"/>
          </p:nvPr>
        </p:nvSpPr>
        <p:spPr/>
        <p:txBody>
          <a:bodyPr/>
          <a:lstStyle/>
          <a:p>
            <a:endParaRPr lang="de-DE"/>
          </a:p>
        </p:txBody>
      </p:sp>
      <p:sp>
        <p:nvSpPr>
          <p:cNvPr id="8" name="Date Placeholder 7">
            <a:extLst>
              <a:ext uri="{FF2B5EF4-FFF2-40B4-BE49-F238E27FC236}">
                <a16:creationId xmlns:a16="http://schemas.microsoft.com/office/drawing/2014/main" id="{DA395EC9-5212-9F09-E9FA-0AB62AFB6D99}"/>
              </a:ext>
            </a:extLst>
          </p:cNvPr>
          <p:cNvSpPr>
            <a:spLocks noGrp="1"/>
          </p:cNvSpPr>
          <p:nvPr>
            <p:ph type="dt" sz="half" idx="10"/>
          </p:nvPr>
        </p:nvSpPr>
        <p:spPr/>
        <p:txBody>
          <a:bodyPr/>
          <a:lstStyle/>
          <a:p>
            <a:fld id="{B769BD36-5B2E-49C5-B2CA-BBB388A69301}" type="datetime1">
              <a:rPr lang="de-DE" smtClean="0"/>
              <a:t>25.09.2026</a:t>
            </a:fld>
            <a:endParaRPr lang="de-DE"/>
          </a:p>
        </p:txBody>
      </p:sp>
      <p:sp>
        <p:nvSpPr>
          <p:cNvPr id="10" name="Slide Number Placeholder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a:lstStyle/>
          <a:p>
            <a:fld id="{EE37D961-4667-421C-914A-80EB01B4E571}" type="slidenum">
              <a:rPr lang="de-DE" smtClean="0"/>
              <a:t>‹#›</a:t>
            </a:fld>
            <a:endParaRPr lang="de-DE"/>
          </a:p>
        </p:txBody>
      </p:sp>
    </p:spTree>
    <p:extLst>
      <p:ext uri="{BB962C8B-B14F-4D97-AF65-F5344CB8AC3E}">
        <p14:creationId xmlns:p14="http://schemas.microsoft.com/office/powerpoint/2010/main" val="258509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de-DE"/>
              <a:t>Master-Untertitelformat bearbeiten</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a:lstStyle>
            <a:lvl1pPr>
              <a:defRPr>
                <a:solidFill>
                  <a:schemeClr val="tx2"/>
                </a:solidFill>
              </a:defRPr>
            </a:lvl1pPr>
          </a:lstStyle>
          <a:p>
            <a:endParaRPr lang="de-DE"/>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a:lstStyle>
            <a:lvl1pPr>
              <a:defRPr>
                <a:solidFill>
                  <a:schemeClr val="tx2"/>
                </a:solidFill>
              </a:defRPr>
            </a:lvl1pPr>
          </a:lstStyle>
          <a:p>
            <a:fld id="{A04D1186-6C7F-4D4E-A88B-FAEA543FDE71}" type="datetime1">
              <a:rPr lang="de-DE" smtClean="0"/>
              <a:t>25.09.2026</a:t>
            </a:fld>
            <a:endParaRPr lang="de-DE"/>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Tree>
    <p:extLst>
      <p:ext uri="{BB962C8B-B14F-4D97-AF65-F5344CB8AC3E}">
        <p14:creationId xmlns:p14="http://schemas.microsoft.com/office/powerpoint/2010/main" val="36710704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a:r>
              <a:rPr lang="de-DE"/>
              <a:t>Master-Untertitelformat bearbeiten</a:t>
            </a:r>
            <a:endParaRPr lang="en-US" dirty="0"/>
          </a:p>
        </p:txBody>
      </p:sp>
      <p:sp>
        <p:nvSpPr>
          <p:cNvPr id="10" name="Picture Placeholder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a:lstStyle>
            <a:lvl1pPr>
              <a:defRPr>
                <a:solidFill>
                  <a:schemeClr val="tx2"/>
                </a:solidFill>
              </a:defRPr>
            </a:lvl1pPr>
          </a:lstStyle>
          <a:p>
            <a:endParaRPr lang="de-DE"/>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a:lstStyle>
            <a:lvl1pPr>
              <a:defRPr>
                <a:solidFill>
                  <a:schemeClr val="tx2"/>
                </a:solidFill>
                <a:effectLst/>
              </a:defRPr>
            </a:lvl1pPr>
          </a:lstStyle>
          <a:p>
            <a:fld id="{8C816D4B-7EF4-441A-B4C2-FE4E6DF9413B}" type="datetime1">
              <a:rPr lang="de-DE" smtClean="0"/>
              <a:t>25.09.2026</a:t>
            </a:fld>
            <a:endParaRPr lang="de-DE"/>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
        <p:nvSpPr>
          <p:cNvPr id="9" name="Rectangle 8">
            <a:extLst>
              <a:ext uri="{FF2B5EF4-FFF2-40B4-BE49-F238E27FC236}">
                <a16:creationId xmlns:a16="http://schemas.microsoft.com/office/drawing/2014/main" id="{F879DE85-4541-95AA-B871-7CBAD2BA1550}"/>
              </a:ext>
            </a:extLst>
          </p:cNvPr>
          <p:cNvSpPr/>
          <p:nvPr/>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03417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bschnitts-&#10;überschrif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a:lstStyle>
            <a:lvl1pPr>
              <a:defRPr>
                <a:solidFill>
                  <a:schemeClr val="bg2"/>
                </a:solidFill>
              </a:defRPr>
            </a:lvl1pPr>
          </a:lstStyle>
          <a:p>
            <a:endParaRPr lang="de-DE"/>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a:lstStyle>
            <a:lvl1pPr>
              <a:defRPr>
                <a:solidFill>
                  <a:schemeClr val="bg2"/>
                </a:solidFill>
              </a:defRPr>
            </a:lvl1pPr>
          </a:lstStyle>
          <a:p>
            <a:fld id="{F3870A30-E7BE-4930-A082-632427B9F746}" type="datetime1">
              <a:rPr lang="de-DE" smtClean="0"/>
              <a:t>25.09.2026</a:t>
            </a:fld>
            <a:endParaRPr lang="de-DE"/>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a:lstStyle>
            <a:lvl1pPr>
              <a:defRPr>
                <a:solidFill>
                  <a:schemeClr val="bg2"/>
                </a:solidFill>
              </a:defRPr>
            </a:lvl1pPr>
          </a:lstStyle>
          <a:p>
            <a:fld id="{EE37D961-4667-421C-914A-80EB01B4E571}" type="slidenum">
              <a:rPr lang="de-DE" smtClean="0"/>
              <a:t>‹#›</a:t>
            </a:fld>
            <a:endParaRPr lang="de-DE"/>
          </a:p>
        </p:txBody>
      </p:sp>
      <p:sp>
        <p:nvSpPr>
          <p:cNvPr id="32" name="Rectangle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19894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a:lstStyle>
            <a:lvl1pPr>
              <a:defRPr>
                <a:solidFill>
                  <a:schemeClr val="tx2"/>
                </a:solidFill>
              </a:defRPr>
            </a:lvl1pPr>
          </a:lstStyle>
          <a:p>
            <a:endParaRPr lang="de-DE"/>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a:lstStyle>
            <a:lvl1pPr>
              <a:defRPr>
                <a:solidFill>
                  <a:schemeClr val="tx2"/>
                </a:solidFill>
              </a:defRPr>
            </a:lvl1pPr>
          </a:lstStyle>
          <a:p>
            <a:fld id="{E6510A25-DD95-46F4-93C6-18A2713E04B4}" type="datetime1">
              <a:rPr lang="de-DE" smtClean="0"/>
              <a:t>25.09.2026</a:t>
            </a:fld>
            <a:endParaRPr lang="de-DE"/>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
        <p:nvSpPr>
          <p:cNvPr id="34" name="Rectangle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273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a:normAutofit/>
          </a:bodyPr>
          <a:lstStyle>
            <a:lvl1pPr>
              <a:defRPr sz="7200" cap="all" baseline="0"/>
            </a:lvl1pPr>
          </a:lstStyle>
          <a:p>
            <a:r>
              <a:rPr lang="en-US" dirty="0"/>
              <a:t>AGENDA</a:t>
            </a:r>
          </a:p>
        </p:txBody>
      </p:sp>
      <p:sp>
        <p:nvSpPr>
          <p:cNvPr id="39" name="Picture Placeholder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a:lstStyle/>
          <a:p>
            <a:endParaRPr lang="de-DE"/>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a:lstStyle/>
          <a:p>
            <a:fld id="{29C74BD5-1F0E-47AD-8C89-146E64AC8452}" type="datetime1">
              <a:rPr lang="de-DE" smtClean="0"/>
              <a:t>25.09.2026</a:t>
            </a:fld>
            <a:endParaRPr lang="de-DE"/>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a:lstStyle/>
          <a:p>
            <a:fld id="{EE37D961-4667-421C-914A-80EB01B4E571}" type="slidenum">
              <a:rPr lang="de-DE" smtClean="0"/>
              <a:t>‹#›</a:t>
            </a:fld>
            <a:endParaRPr lang="de-DE"/>
          </a:p>
        </p:txBody>
      </p:sp>
      <p:sp>
        <p:nvSpPr>
          <p:cNvPr id="34" name="Rectangle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2567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anchor="t">
            <a:normAutofit/>
          </a:bodyPr>
          <a:lstStyle>
            <a:lvl1pPr>
              <a:defRPr sz="3600" cap="all" baseline="0"/>
            </a:lvl1pPr>
          </a:lstStyle>
          <a:p>
            <a:r>
              <a:rPr lang="de-DE"/>
              <a:t>Mastertitelformat bearbeiten</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de-DE"/>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20356945-49C9-45CC-B802-30E8E58983E1}" type="datetime1">
              <a:rPr lang="de-DE" smtClean="0"/>
              <a:t>25.09.2026</a:t>
            </a:fld>
            <a:endParaRPr lang="de-DE"/>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EE37D961-4667-421C-914A-80EB01B4E571}" type="slidenum">
              <a:rPr lang="de-DE" smtClean="0"/>
              <a:t>‹#›</a:t>
            </a:fld>
            <a:endParaRPr lang="de-DE"/>
          </a:p>
        </p:txBody>
      </p:sp>
      <p:sp>
        <p:nvSpPr>
          <p:cNvPr id="34" name="Rectangle 33">
            <a:extLst>
              <a:ext uri="{FF2B5EF4-FFF2-40B4-BE49-F238E27FC236}">
                <a16:creationId xmlns:a16="http://schemas.microsoft.com/office/drawing/2014/main" id="{9AE531BB-71E1-57EF-0879-5979B0C95458}"/>
              </a:ext>
            </a:extLst>
          </p:cNvPr>
          <p:cNvSpPr/>
          <p:nvPr/>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1FD272-0797-A5C1-BAB9-E68F518B8158}"/>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990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anchor="t">
            <a:normAutofit/>
          </a:bodyPr>
          <a:lstStyle>
            <a:lvl1pPr>
              <a:defRPr sz="3600" cap="all" baseline="0">
                <a:latin typeface="+mj-lt"/>
              </a:defRPr>
            </a:lvl1pPr>
          </a:lstStyle>
          <a:p>
            <a:r>
              <a:rPr lang="de-DE"/>
              <a:t>Mastertitelformat bearbeiten</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de-DE"/>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E4648BA1-CA38-4664-A734-B4F073F81EE4}" type="datetime1">
              <a:rPr lang="de-DE" smtClean="0"/>
              <a:t>25.09.2026</a:t>
            </a:fld>
            <a:endParaRPr lang="de-DE"/>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EE37D961-4667-421C-914A-80EB01B4E571}" type="slidenum">
              <a:rPr lang="de-DE" smtClean="0"/>
              <a:t>‹#›</a:t>
            </a:fld>
            <a:endParaRPr lang="de-DE"/>
          </a:p>
        </p:txBody>
      </p:sp>
      <p:sp>
        <p:nvSpPr>
          <p:cNvPr id="7" name="Rectangle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1D59CA-78A2-7B8F-A9C7-E86B47BEAE5E}"/>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2196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anchor="t"/>
          <a:lstStyle>
            <a:lvl1pPr>
              <a:defRPr cap="all" baseline="0"/>
            </a:lvl1pPr>
          </a:lstStyle>
          <a:p>
            <a:r>
              <a:rPr lang="de-DE"/>
              <a:t>Mastertitelformat bearbeiten</a:t>
            </a:r>
            <a:endParaRPr lang="en-US" dirty="0"/>
          </a:p>
        </p:txBody>
      </p:sp>
      <p:sp>
        <p:nvSpPr>
          <p:cNvPr id="38" name="Picture Placeholder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a:lstStyle>
            <a:lvl1pPr>
              <a:defRPr>
                <a:solidFill>
                  <a:schemeClr val="tx2"/>
                </a:solidFill>
              </a:defRPr>
            </a:lvl1pPr>
          </a:lstStyle>
          <a:p>
            <a:endParaRPr lang="de-DE"/>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a:lstStyle>
            <a:lvl1pPr>
              <a:defRPr>
                <a:solidFill>
                  <a:schemeClr val="tx2"/>
                </a:solidFill>
              </a:defRPr>
            </a:lvl1pPr>
          </a:lstStyle>
          <a:p>
            <a:fld id="{D3A0B99F-1422-4AEF-9F2B-572FC3C35436}" type="datetime1">
              <a:rPr lang="de-DE" smtClean="0"/>
              <a:t>25.09.2026</a:t>
            </a:fld>
            <a:endParaRPr lang="de-DE"/>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
        <p:nvSpPr>
          <p:cNvPr id="3" name="Freeform 2">
            <a:extLst>
              <a:ext uri="{FF2B5EF4-FFF2-40B4-BE49-F238E27FC236}">
                <a16:creationId xmlns:a16="http://schemas.microsoft.com/office/drawing/2014/main" id="{EC16BEA9-7D3A-E34B-4442-F0BFB853F3F8}"/>
              </a:ext>
            </a:extLst>
          </p:cNvPr>
          <p:cNvSpPr/>
          <p:nvPr/>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4">
            <a:extLst>
              <a:ext uri="{FF2B5EF4-FFF2-40B4-BE49-F238E27FC236}">
                <a16:creationId xmlns:a16="http://schemas.microsoft.com/office/drawing/2014/main" id="{A3462211-E1BA-E90A-00F8-E717C7293E42}"/>
              </a:ext>
            </a:extLst>
          </p:cNvPr>
          <p:cNvSpPr/>
          <p:nvPr/>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3246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anchor="t"/>
          <a:lstStyle>
            <a:lvl1pPr>
              <a:defRPr cap="all" baseline="0"/>
            </a:lvl1pPr>
          </a:lstStyle>
          <a:p>
            <a:r>
              <a:rPr lang="de-DE"/>
              <a:t>Mastertitelformat bearbeiten</a:t>
            </a:r>
            <a:endParaRPr lang="en-US" dirty="0"/>
          </a:p>
        </p:txBody>
      </p:sp>
      <p:sp>
        <p:nvSpPr>
          <p:cNvPr id="38" name="Picture Placeholder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a:lstStyle>
            <a:lvl1pPr>
              <a:defRPr>
                <a:solidFill>
                  <a:schemeClr val="tx2"/>
                </a:solidFill>
              </a:defRPr>
            </a:lvl1pPr>
          </a:lstStyle>
          <a:p>
            <a:endParaRPr lang="de-DE"/>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a:lstStyle>
            <a:lvl1pPr>
              <a:defRPr>
                <a:solidFill>
                  <a:schemeClr val="tx2"/>
                </a:solidFill>
              </a:defRPr>
            </a:lvl1pPr>
          </a:lstStyle>
          <a:p>
            <a:fld id="{D676953C-69A8-4D77-8E41-5C5A588E2F05}" type="datetime1">
              <a:rPr lang="de-DE" smtClean="0"/>
              <a:t>25.09.2026</a:t>
            </a:fld>
            <a:endParaRPr lang="de-DE"/>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
        <p:nvSpPr>
          <p:cNvPr id="5" name="Freeform 4">
            <a:extLst>
              <a:ext uri="{FF2B5EF4-FFF2-40B4-BE49-F238E27FC236}">
                <a16:creationId xmlns:a16="http://schemas.microsoft.com/office/drawing/2014/main" id="{ECF4FA5C-D406-8202-9143-DAEA62C5C872}"/>
              </a:ext>
            </a:extLst>
          </p:cNvPr>
          <p:cNvSpPr/>
          <p:nvPr/>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082645EB-0315-BBF0-B28C-6A31158DE8D1}"/>
              </a:ext>
            </a:extLst>
          </p:cNvPr>
          <p:cNvSpPr/>
          <p:nvPr/>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51373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anchor="t"/>
          <a:lstStyle>
            <a:lvl1pPr>
              <a:defRPr cap="all" baseline="0"/>
            </a:lvl1pPr>
          </a:lstStyle>
          <a:p>
            <a:r>
              <a:rPr lang="de-DE"/>
              <a:t>Mastertitelformat bearbeiten</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a:lstStyle>
            <a:lvl1pPr>
              <a:defRPr>
                <a:solidFill>
                  <a:schemeClr val="tx2"/>
                </a:solidFill>
              </a:defRPr>
            </a:lvl1pPr>
          </a:lstStyle>
          <a:p>
            <a:endParaRPr lang="de-DE"/>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a:lstStyle>
            <a:lvl1pPr>
              <a:defRPr>
                <a:solidFill>
                  <a:schemeClr val="tx2"/>
                </a:solidFill>
              </a:defRPr>
            </a:lvl1pPr>
          </a:lstStyle>
          <a:p>
            <a:fld id="{A46F84DB-A6A3-42FB-8383-539033BABE0E}" type="datetime1">
              <a:rPr lang="de-DE" smtClean="0"/>
              <a:t>25.09.2026</a:t>
            </a:fld>
            <a:endParaRPr lang="de-DE"/>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
        <p:nvSpPr>
          <p:cNvPr id="6" name="Picture Placeholder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E19B021D-A5A3-D515-C491-988160E0708C}"/>
              </a:ext>
            </a:extLst>
          </p:cNvPr>
          <p:cNvSpPr/>
          <p:nvPr/>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F6879252-7B61-583A-CF4D-92BF27416ADC}"/>
              </a:ext>
            </a:extLst>
          </p:cNvPr>
          <p:cNvSpPr/>
          <p:nvPr/>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679333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anchor="t">
            <a:noAutofit/>
          </a:bodyPr>
          <a:lstStyle>
            <a:lvl1pPr>
              <a:defRPr sz="3600" cap="all" baseline="0">
                <a:solidFill>
                  <a:schemeClr val="tx2"/>
                </a:solidFill>
              </a:defRPr>
            </a:lvl1pPr>
          </a:lstStyle>
          <a:p>
            <a:r>
              <a:rPr lang="de-DE"/>
              <a:t>Mastertitelformat bearbeiten</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a:lstStyle>
            <a:lvl1pPr>
              <a:defRPr>
                <a:solidFill>
                  <a:schemeClr val="tx2"/>
                </a:solidFill>
                <a:effectLst/>
              </a:defRPr>
            </a:lvl1pPr>
          </a:lstStyle>
          <a:p>
            <a:endParaRPr lang="de-DE"/>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a:lstStyle>
            <a:lvl1pPr>
              <a:defRPr>
                <a:solidFill>
                  <a:schemeClr val="tx2"/>
                </a:solidFill>
              </a:defRPr>
            </a:lvl1pPr>
          </a:lstStyle>
          <a:p>
            <a:fld id="{7190C0D1-0384-4BFB-9F74-B416904E3AE2}" type="datetime1">
              <a:rPr lang="de-DE" smtClean="0"/>
              <a:t>25.09.2026</a:t>
            </a:fld>
            <a:endParaRPr lang="de-DE"/>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a:lstStyle>
            <a:lvl1pPr>
              <a:defRPr>
                <a:solidFill>
                  <a:schemeClr val="tx2"/>
                </a:solidFill>
                <a:effectLst/>
              </a:defRPr>
            </a:lvl1pPr>
          </a:lstStyle>
          <a:p>
            <a:fld id="{EE37D961-4667-421C-914A-80EB01B4E571}" type="slidenum">
              <a:rPr lang="de-DE" smtClean="0"/>
              <a:t>‹#›</a:t>
            </a:fld>
            <a:endParaRPr lang="de-DE"/>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103B3571-8BEB-7B5F-5141-60BE7E4F2B98}"/>
              </a:ext>
            </a:extLst>
          </p:cNvPr>
          <p:cNvSpPr/>
          <p:nvPr/>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729974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anchor="t">
            <a:normAutofit/>
          </a:bodyPr>
          <a:lstStyle>
            <a:lvl1pPr>
              <a:defRPr sz="3600" cap="all" baseline="0">
                <a:solidFill>
                  <a:schemeClr val="tx2"/>
                </a:solidFill>
              </a:defRPr>
            </a:lvl1pPr>
          </a:lstStyle>
          <a:p>
            <a:r>
              <a:rPr lang="de-DE"/>
              <a:t>Mastertitelformat bearbeiten</a:t>
            </a:r>
            <a:endParaRPr lang="en-US" dirty="0"/>
          </a:p>
        </p:txBody>
      </p:sp>
      <p:sp>
        <p:nvSpPr>
          <p:cNvPr id="6" name="Content Placeholder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a:lstStyle>
            <a:lvl1pPr>
              <a:defRPr>
                <a:solidFill>
                  <a:schemeClr val="tx2"/>
                </a:solidFill>
              </a:defRPr>
            </a:lvl1pPr>
          </a:lstStyle>
          <a:p>
            <a:endParaRPr lang="de-DE"/>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a:lstStyle>
            <a:lvl1pPr>
              <a:defRPr>
                <a:solidFill>
                  <a:schemeClr val="tx2"/>
                </a:solidFill>
              </a:defRPr>
            </a:lvl1pPr>
          </a:lstStyle>
          <a:p>
            <a:fld id="{90D302EF-35AD-46F6-AAD3-18F186ED9FB5}" type="datetime1">
              <a:rPr lang="de-DE" smtClean="0"/>
              <a:t>25.09.2026</a:t>
            </a:fld>
            <a:endParaRPr lang="de-DE"/>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
        <p:nvSpPr>
          <p:cNvPr id="7" name="Picture Placeholder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8DC2254B-5D42-9D5B-16C8-9FAF562F458A}"/>
              </a:ext>
            </a:extLst>
          </p:cNvPr>
          <p:cNvSpPr/>
          <p:nvPr/>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484618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anchor="t"/>
          <a:lstStyle>
            <a:lvl1pPr>
              <a:defRPr cap="all" baseline="0">
                <a:solidFill>
                  <a:schemeClr val="tx2"/>
                </a:solidFill>
              </a:defRPr>
            </a:lvl1pPr>
          </a:lstStyle>
          <a:p>
            <a:r>
              <a:rPr lang="de-DE"/>
              <a:t>Mastertitelformat bearbeiten</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a:lstStyle>
            <a:lvl1pPr>
              <a:defRPr>
                <a:solidFill>
                  <a:schemeClr val="tx2"/>
                </a:solidFill>
              </a:defRPr>
            </a:lvl1pPr>
          </a:lstStyle>
          <a:p>
            <a:endParaRPr lang="de-DE"/>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a:lstStyle>
            <a:lvl1pPr>
              <a:defRPr>
                <a:solidFill>
                  <a:schemeClr val="tx2"/>
                </a:solidFill>
                <a:effectLst/>
              </a:defRPr>
            </a:lvl1pPr>
          </a:lstStyle>
          <a:p>
            <a:fld id="{09ED1C91-03D9-4386-A83D-9D8E4052F2E7}" type="datetime1">
              <a:rPr lang="de-DE" smtClean="0"/>
              <a:t>25.09.2026</a:t>
            </a:fld>
            <a:endParaRPr lang="de-DE"/>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
        <p:nvSpPr>
          <p:cNvPr id="3" name="Freeform 2">
            <a:extLst>
              <a:ext uri="{FF2B5EF4-FFF2-40B4-BE49-F238E27FC236}">
                <a16:creationId xmlns:a16="http://schemas.microsoft.com/office/drawing/2014/main" id="{3AEE3D4D-61F7-E7A0-0EB4-DE705A2CAF60}"/>
              </a:ext>
            </a:extLst>
          </p:cNvPr>
          <p:cNvSpPr/>
          <p:nvPr/>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06793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anchor="t">
            <a:normAutofit/>
          </a:bodyPr>
          <a:lstStyle>
            <a:lvl1pPr>
              <a:defRPr sz="3600" cap="all" baseline="0">
                <a:solidFill>
                  <a:schemeClr val="tx2"/>
                </a:solidFill>
              </a:defRPr>
            </a:lvl1pPr>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de-DE"/>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92C51D4B-2DAD-44BD-9C6E-06C7DF61FD56}" type="datetime1">
              <a:rPr lang="de-DE" smtClean="0"/>
              <a:t>25.09.2026</a:t>
            </a:fld>
            <a:endParaRPr lang="de-DE"/>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Tree>
    <p:extLst>
      <p:ext uri="{BB962C8B-B14F-4D97-AF65-F5344CB8AC3E}">
        <p14:creationId xmlns:p14="http://schemas.microsoft.com/office/powerpoint/2010/main" val="406951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anchor="t"/>
          <a:lstStyle>
            <a:lvl1pPr>
              <a:defRPr cap="all" baseline="0">
                <a:solidFill>
                  <a:schemeClr val="tx2"/>
                </a:solidFill>
              </a:defRPr>
            </a:lvl1pPr>
          </a:lstStyle>
          <a:p>
            <a:r>
              <a:rPr lang="de-DE"/>
              <a:t>Mastertitelformat bearbeiten</a:t>
            </a:r>
            <a:endParaRPr lang="en-US" dirty="0"/>
          </a:p>
        </p:txBody>
      </p:sp>
      <p:sp>
        <p:nvSpPr>
          <p:cNvPr id="36" name="Picture Placeholder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a:lstStyle>
            <a:lvl1pPr>
              <a:defRPr>
                <a:solidFill>
                  <a:schemeClr val="tx2"/>
                </a:solidFill>
              </a:defRPr>
            </a:lvl1pPr>
          </a:lstStyle>
          <a:p>
            <a:endParaRPr lang="de-DE"/>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a:lstStyle>
            <a:lvl1pPr>
              <a:defRPr>
                <a:solidFill>
                  <a:schemeClr val="tx2"/>
                </a:solidFill>
              </a:defRPr>
            </a:lvl1pPr>
          </a:lstStyle>
          <a:p>
            <a:fld id="{D9020DD0-757D-4A20-9704-6E9E58505354}" type="datetime1">
              <a:rPr lang="de-DE" smtClean="0"/>
              <a:t>25.09.2026</a:t>
            </a:fld>
            <a:endParaRPr lang="de-DE"/>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
        <p:nvSpPr>
          <p:cNvPr id="3" name="Rectangle 2">
            <a:extLst>
              <a:ext uri="{FF2B5EF4-FFF2-40B4-BE49-F238E27FC236}">
                <a16:creationId xmlns:a16="http://schemas.microsoft.com/office/drawing/2014/main" id="{54335081-FA52-F16F-A616-E20DA766DB57}"/>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3568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anchor="t">
            <a:noAutofit/>
          </a:bodyPr>
          <a:lstStyle>
            <a:lvl1pPr>
              <a:defRPr sz="3600" cap="all" baseline="0">
                <a:solidFill>
                  <a:schemeClr val="tx2"/>
                </a:solidFill>
              </a:defRPr>
            </a:lvl1pPr>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de-DE"/>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59FDD664-93E4-4EC6-9674-0799271AAB3C}" type="datetime1">
              <a:rPr lang="de-DE" smtClean="0"/>
              <a:t>25.09.2026</a:t>
            </a:fld>
            <a:endParaRPr lang="de-DE"/>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
        <p:nvSpPr>
          <p:cNvPr id="3" name="Rectangle 2">
            <a:extLst>
              <a:ext uri="{FF2B5EF4-FFF2-40B4-BE49-F238E27FC236}">
                <a16:creationId xmlns:a16="http://schemas.microsoft.com/office/drawing/2014/main" id="{05CA24FE-7F15-0A35-2050-28F4CE33B91F}"/>
              </a:ext>
            </a:extLst>
          </p:cNvPr>
          <p:cNvSpPr/>
          <p:nvPr/>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C9E0A62-7502-AFE4-4860-6DE00EB6D1D5}"/>
              </a:ext>
            </a:extLst>
          </p:cNvPr>
          <p:cNvSpPr/>
          <p:nvPr/>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23321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anchor="b">
            <a:normAutofit/>
          </a:bodyPr>
          <a:lstStyle>
            <a:lvl1pPr>
              <a:defRPr sz="2000" b="1">
                <a:solidFill>
                  <a:schemeClr val="bg1"/>
                </a:solidFill>
              </a:defRPr>
            </a:lvl1pPr>
          </a:lstStyle>
          <a:p>
            <a:r>
              <a:rPr lang="de-DE"/>
              <a:t>Mastertitelformat bearbeiten</a:t>
            </a:r>
            <a:endParaRPr lang="en-US" dirty="0"/>
          </a:p>
        </p:txBody>
      </p:sp>
      <p:sp>
        <p:nvSpPr>
          <p:cNvPr id="7" name="Content Placeholder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a:normAutofit/>
          </a:bodyPr>
          <a:lstStyle>
            <a:lvl1pPr marL="0" indent="0">
              <a:buNone/>
              <a:defRPr sz="30000" b="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a:lstStyle>
            <a:lvl1pPr>
              <a:defRPr>
                <a:solidFill>
                  <a:schemeClr val="bg1"/>
                </a:solidFill>
              </a:defRPr>
            </a:lvl1pPr>
          </a:lstStyle>
          <a:p>
            <a:endParaRPr lang="de-DE"/>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a:lstStyle>
            <a:lvl1pPr>
              <a:defRPr>
                <a:solidFill>
                  <a:schemeClr val="bg1"/>
                </a:solidFill>
              </a:defRPr>
            </a:lvl1pPr>
          </a:lstStyle>
          <a:p>
            <a:fld id="{72F37851-A0B4-4411-B9DB-0997380B9FF3}" type="datetime1">
              <a:rPr lang="de-DE" smtClean="0"/>
              <a:t>25.09.2026</a:t>
            </a:fld>
            <a:endParaRPr lang="de-DE"/>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bg1"/>
                </a:solidFill>
              </a:defRPr>
            </a:lvl1pPr>
          </a:lstStyle>
          <a:p>
            <a:fld id="{EE37D961-4667-421C-914A-80EB01B4E571}" type="slidenum">
              <a:rPr lang="de-DE" smtClean="0"/>
              <a:t>‹#›</a:t>
            </a:fld>
            <a:endParaRPr lang="de-DE"/>
          </a:p>
        </p:txBody>
      </p:sp>
      <p:sp>
        <p:nvSpPr>
          <p:cNvPr id="36" name="Rectangle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79026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a:lstStyle>
            <a:lvl1pPr>
              <a:defRPr>
                <a:solidFill>
                  <a:schemeClr val="bg2"/>
                </a:solidFill>
              </a:defRPr>
            </a:lvl1pPr>
          </a:lstStyle>
          <a:p>
            <a:endParaRPr lang="de-DE"/>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a:lstStyle>
            <a:lvl1pPr>
              <a:defRPr>
                <a:solidFill>
                  <a:schemeClr val="bg2"/>
                </a:solidFill>
              </a:defRPr>
            </a:lvl1pPr>
          </a:lstStyle>
          <a:p>
            <a:fld id="{532E6670-0A63-4AB1-9F09-34D71044049F}" type="datetime1">
              <a:rPr lang="de-DE" smtClean="0"/>
              <a:t>25.09.2026</a:t>
            </a:fld>
            <a:endParaRPr lang="de-DE"/>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a:lstStyle>
            <a:lvl1pPr>
              <a:defRPr>
                <a:solidFill>
                  <a:schemeClr val="bg2"/>
                </a:solidFill>
              </a:defRPr>
            </a:lvl1pPr>
          </a:lstStyle>
          <a:p>
            <a:fld id="{EE37D961-4667-421C-914A-80EB01B4E571}" type="slidenum">
              <a:rPr lang="de-DE" smtClean="0"/>
              <a:t>‹#›</a:t>
            </a:fld>
            <a:endParaRPr lang="de-DE"/>
          </a:p>
        </p:txBody>
      </p:sp>
      <p:sp>
        <p:nvSpPr>
          <p:cNvPr id="6" name="Rectangle 5">
            <a:extLst>
              <a:ext uri="{FF2B5EF4-FFF2-40B4-BE49-F238E27FC236}">
                <a16:creationId xmlns:a16="http://schemas.microsoft.com/office/drawing/2014/main" id="{F810F272-8DCB-3D9F-8EA6-FBDD6B7DFDA3}"/>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38ED97-EB88-D071-C45A-D0C32569D40D}"/>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7189662"/>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endParaRPr lang="de-DE"/>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a:lstStyle/>
          <a:p>
            <a:fld id="{5AA22A27-E23A-43BB-BB6A-9CAA18F709F3}" type="datetime1">
              <a:rPr lang="de-DE" smtClean="0"/>
              <a:t>25.09.2026</a:t>
            </a:fld>
            <a:endParaRPr lang="de-DE"/>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a:lstStyle/>
          <a:p>
            <a:fld id="{EE37D961-4667-421C-914A-80EB01B4E571}" type="slidenum">
              <a:rPr lang="de-DE" smtClean="0"/>
              <a:t>‹#›</a:t>
            </a:fld>
            <a:endParaRPr lang="de-DE"/>
          </a:p>
        </p:txBody>
      </p:sp>
      <p:sp>
        <p:nvSpPr>
          <p:cNvPr id="34" name="Rectangle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9435408"/>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Zwei Inhalt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anchor="t"/>
          <a:lstStyle>
            <a:lvl1pPr>
              <a:defRPr cap="all" baseline="0"/>
            </a:lvl1pPr>
          </a:lstStyle>
          <a:p>
            <a:r>
              <a:rPr lang="de-DE"/>
              <a:t>Mastertitelformat bearbeiten</a:t>
            </a:r>
            <a:endParaRPr lang="en-US" dirty="0"/>
          </a:p>
        </p:txBody>
      </p:sp>
      <p:sp>
        <p:nvSpPr>
          <p:cNvPr id="37" name="Content Placeholder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38" name="Content Placeholder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a:lstStyle/>
          <a:p>
            <a:endParaRPr lang="de-DE"/>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a:lstStyle/>
          <a:p>
            <a:fld id="{489B6080-C481-4AD9-BCB5-9016C52F72E9}" type="datetime1">
              <a:rPr lang="de-DE" smtClean="0"/>
              <a:t>25.09.2026</a:t>
            </a:fld>
            <a:endParaRPr lang="de-DE"/>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a:lstStyle/>
          <a:p>
            <a:fld id="{EE37D961-4667-421C-914A-80EB01B4E571}" type="slidenum">
              <a:rPr lang="de-DE" smtClean="0"/>
              <a:t>‹#›</a:t>
            </a:fld>
            <a:endParaRPr lang="de-DE"/>
          </a:p>
        </p:txBody>
      </p:sp>
      <p:sp>
        <p:nvSpPr>
          <p:cNvPr id="8" name="Rectangle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39402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Vergleich">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anchor="t"/>
          <a:lstStyle>
            <a:lvl1pPr>
              <a:defRPr cap="all" baseline="0"/>
            </a:lvl1pPr>
          </a:lstStyle>
          <a:p>
            <a:r>
              <a:rPr lang="de-DE"/>
              <a:t>Mastertitelformat bearbeiten</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a:lstStyle/>
          <a:p>
            <a:endParaRPr lang="de-DE"/>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a:lstStyle/>
          <a:p>
            <a:fld id="{DBA60672-BDFE-4147-A20E-C1D4EDC46A6C}" type="datetime1">
              <a:rPr lang="de-DE" smtClean="0"/>
              <a:t>25.09.2026</a:t>
            </a:fld>
            <a:endParaRPr lang="de-DE"/>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a:lstStyle/>
          <a:p>
            <a:fld id="{EE37D961-4667-421C-914A-80EB01B4E571}" type="slidenum">
              <a:rPr lang="de-DE" smtClean="0"/>
              <a:t>‹#›</a:t>
            </a:fld>
            <a:endParaRPr lang="de-DE"/>
          </a:p>
        </p:txBody>
      </p:sp>
      <p:sp>
        <p:nvSpPr>
          <p:cNvPr id="37" name="Rectangle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12904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anchor="t"/>
          <a:lstStyle>
            <a:lvl1pPr>
              <a:defRPr cap="all" baseline="0">
                <a:solidFill>
                  <a:schemeClr val="tx2"/>
                </a:solidFill>
              </a:defRPr>
            </a:lvl1pPr>
          </a:lstStyle>
          <a:p>
            <a:r>
              <a:rPr lang="de-DE"/>
              <a:t>Mastertitelformat bearbeiten</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de-DE"/>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7EE4BD56-4AC5-4C91-BFCC-8946B581A2AB}" type="datetime1">
              <a:rPr lang="de-DE" smtClean="0"/>
              <a:t>25.09.2026</a:t>
            </a:fld>
            <a:endParaRPr lang="de-DE"/>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
        <p:nvSpPr>
          <p:cNvPr id="6" name="Rectangle 5">
            <a:extLst>
              <a:ext uri="{FF2B5EF4-FFF2-40B4-BE49-F238E27FC236}">
                <a16:creationId xmlns:a16="http://schemas.microsoft.com/office/drawing/2014/main" id="{D0F7BCB4-DC28-7382-4A0F-0498411C4247}"/>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5560D8-36FC-D0D1-04BB-54F2CCBC8B5E}"/>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63640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a:lstStyle/>
          <a:p>
            <a:endParaRPr lang="de-DE"/>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a:lstStyle/>
          <a:p>
            <a:fld id="{38DC51F5-854A-49D7-8DAA-05D319E6763C}" type="datetime1">
              <a:rPr lang="de-DE" smtClean="0"/>
              <a:t>25.09.2026</a:t>
            </a:fld>
            <a:endParaRPr lang="de-DE"/>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a:lstStyle/>
          <a:p>
            <a:fld id="{EE37D961-4667-421C-914A-80EB01B4E571}" type="slidenum">
              <a:rPr lang="de-DE" smtClean="0"/>
              <a:t>‹#›</a:t>
            </a:fld>
            <a:endParaRPr lang="de-DE"/>
          </a:p>
        </p:txBody>
      </p:sp>
    </p:spTree>
    <p:extLst>
      <p:ext uri="{BB962C8B-B14F-4D97-AF65-F5344CB8AC3E}">
        <p14:creationId xmlns:p14="http://schemas.microsoft.com/office/powerpoint/2010/main" val="34485411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anchor="t">
            <a:noAutofit/>
          </a:bodyPr>
          <a:lstStyle>
            <a:lvl1pPr>
              <a:defRPr sz="7200" cap="all" baseline="0">
                <a:solidFill>
                  <a:schemeClr val="tx2"/>
                </a:solidFill>
              </a:defRPr>
            </a:lvl1pPr>
          </a:lstStyle>
          <a:p>
            <a:r>
              <a:rPr lang="de-DE"/>
              <a:t>Mastertitelformat bearbeiten</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de-DE"/>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a:lstStyle>
            <a:lvl1pPr>
              <a:defRPr>
                <a:solidFill>
                  <a:schemeClr val="tx2"/>
                </a:solidFill>
              </a:defRPr>
            </a:lvl1pPr>
          </a:lstStyle>
          <a:p>
            <a:fld id="{68431DFB-9560-4E7D-B03A-F3C58BB1426A}" type="datetime1">
              <a:rPr lang="de-DE" smtClean="0"/>
              <a:t>25.09.2026</a:t>
            </a:fld>
            <a:endParaRPr lang="de-DE"/>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
        <p:nvSpPr>
          <p:cNvPr id="34" name="Rectangle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5" name="Rectangle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7030055"/>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anchor="t">
            <a:noAutofit/>
          </a:bodyPr>
          <a:lstStyle>
            <a:lvl1pPr>
              <a:defRPr sz="7200" cap="all" baseline="0">
                <a:solidFill>
                  <a:schemeClr val="tx2"/>
                </a:solidFill>
              </a:defRPr>
            </a:lvl1pPr>
          </a:lstStyle>
          <a:p>
            <a:r>
              <a:rPr lang="de-DE"/>
              <a:t>Mastertitelformat bearbeiten</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a:lstStyle>
            <a:lvl1pPr>
              <a:defRPr>
                <a:solidFill>
                  <a:schemeClr val="tx2"/>
                </a:solidFill>
              </a:defRPr>
            </a:lvl1pPr>
          </a:lstStyle>
          <a:p>
            <a:endParaRPr lang="de-DE"/>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91543BA9-4AF0-4FD0-AAF5-D117118BA77E}" type="datetime1">
              <a:rPr lang="de-DE" smtClean="0"/>
              <a:t>25.09.2026</a:t>
            </a:fld>
            <a:endParaRPr lang="de-DE"/>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a:lstStyle>
            <a:lvl1pPr>
              <a:defRPr>
                <a:solidFill>
                  <a:schemeClr val="tx2"/>
                </a:solidFill>
              </a:defRPr>
            </a:lvl1pPr>
          </a:lstStyle>
          <a:p>
            <a:fld id="{EE37D961-4667-421C-914A-80EB01B4E571}" type="slidenum">
              <a:rPr lang="de-DE" smtClean="0"/>
              <a:t>‹#›</a:t>
            </a:fld>
            <a:endParaRPr lang="de-DE"/>
          </a:p>
        </p:txBody>
      </p:sp>
      <p:sp>
        <p:nvSpPr>
          <p:cNvPr id="58" name="Rectangle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446277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r>
              <a:rPr lang="de-DE"/>
              <a:t>Mastertitelformat bearbeiten</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endParaRPr lang="de-DE"/>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44BACA72-B558-4880-844F-C80FF74A24F6}" type="datetime1">
              <a:rPr lang="de-DE" smtClean="0"/>
              <a:t>25.09.2026</a:t>
            </a:fld>
            <a:endParaRPr lang="de-DE"/>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EE37D961-4667-421C-914A-80EB01B4E571}" type="slidenum">
              <a:rPr lang="de-DE" smtClean="0"/>
              <a:t>‹#›</a:t>
            </a:fld>
            <a:endParaRPr lang="de-DE"/>
          </a:p>
        </p:txBody>
      </p:sp>
    </p:spTree>
    <p:extLst>
      <p:ext uri="{BB962C8B-B14F-4D97-AF65-F5344CB8AC3E}">
        <p14:creationId xmlns:p14="http://schemas.microsoft.com/office/powerpoint/2010/main" val="3650628856"/>
      </p:ext>
    </p:extLst>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 id="2147483992" r:id="rId4"/>
    <p:sldLayoutId id="2147483993" r:id="rId5"/>
    <p:sldLayoutId id="2147483994" r:id="rId6"/>
    <p:sldLayoutId id="2147483995" r:id="rId7"/>
    <p:sldLayoutId id="2147483996" r:id="rId8"/>
    <p:sldLayoutId id="2147483997" r:id="rId9"/>
    <p:sldLayoutId id="2147483998" r:id="rId10"/>
    <p:sldLayoutId id="2147483999" r:id="rId11"/>
    <p:sldLayoutId id="2147484000" r:id="rId12"/>
    <p:sldLayoutId id="2147484001" r:id="rId13"/>
    <p:sldLayoutId id="2147484002" r:id="rId14"/>
    <p:sldLayoutId id="2147484003" r:id="rId15"/>
    <p:sldLayoutId id="2147484004" r:id="rId16"/>
    <p:sldLayoutId id="2147484005" r:id="rId17"/>
    <p:sldLayoutId id="2147484006" r:id="rId18"/>
    <p:sldLayoutId id="2147484007" r:id="rId19"/>
    <p:sldLayoutId id="2147484008" r:id="rId20"/>
    <p:sldLayoutId id="2147484009" r:id="rId21"/>
    <p:sldLayoutId id="2147484010" r:id="rId22"/>
    <p:sldLayoutId id="2147484011" r:id="rId23"/>
    <p:sldLayoutId id="2147484012" r:id="rId24"/>
    <p:sldLayoutId id="2147484013" r:id="rId25"/>
    <p:sldLayoutId id="2147484014" r:id="rId26"/>
    <p:sldLayoutId id="2147484015" r:id="rId27"/>
  </p:sldLayoutIdLst>
  <p:hf hdr="0" ftr="0" dt="0"/>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p15:clr>
            <a:srgbClr val="F26B43"/>
          </p15:clr>
        </p15:guide>
        <p15:guide id="31" pos="3840">
          <p15:clr>
            <a:srgbClr val="F26B43"/>
          </p15:clr>
        </p15:guide>
        <p15:guide id="32" pos="336">
          <p15:clr>
            <a:srgbClr val="F26B43"/>
          </p15:clr>
        </p15:guide>
        <p15:guide id="33" pos="7344">
          <p15:clr>
            <a:srgbClr val="F26B43"/>
          </p15:clr>
        </p15:guide>
        <p15:guide id="34" orient="horz" pos="4080">
          <p15:clr>
            <a:srgbClr val="F26B43"/>
          </p15:clr>
        </p15:guide>
        <p15:guide id="35" orient="horz" pos="1344">
          <p15:clr>
            <a:srgbClr val="F26B43"/>
          </p15:clr>
        </p15:guide>
        <p15:guide id="36"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jfif"/><Relationship Id="rId5" Type="http://schemas.openxmlformats.org/officeDocument/2006/relationships/image" Target="../media/image8.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10.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007/978-3-658-05270-6"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gemini.google.co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0DD25B-F39A-90B8-247C-D8D558AA5AEF}"/>
              </a:ext>
            </a:extLst>
          </p:cNvPr>
          <p:cNvSpPr>
            <a:spLocks noGrp="1"/>
          </p:cNvSpPr>
          <p:nvPr>
            <p:ph type="ctrTitle"/>
          </p:nvPr>
        </p:nvSpPr>
        <p:spPr>
          <a:xfrm>
            <a:off x="501954" y="689487"/>
            <a:ext cx="11188091" cy="991829"/>
          </a:xfrm>
        </p:spPr>
        <p:txBody>
          <a:bodyPr>
            <a:noAutofit/>
          </a:bodyPr>
          <a:lstStyle/>
          <a:p>
            <a:pPr algn="ctr"/>
            <a:r>
              <a:rPr lang="en-GB" sz="5400" cap="none" noProof="0" dirty="0">
                <a:latin typeface="+mn-lt"/>
              </a:rPr>
              <a:t>Software Migration</a:t>
            </a:r>
          </a:p>
        </p:txBody>
      </p:sp>
      <p:pic>
        <p:nvPicPr>
          <p:cNvPr id="13" name="Picture 12">
            <a:extLst>
              <a:ext uri="{FF2B5EF4-FFF2-40B4-BE49-F238E27FC236}">
                <a16:creationId xmlns:a16="http://schemas.microsoft.com/office/drawing/2014/main" id="{88E52DA3-D436-03E8-EE5E-CAF5774C2C79}"/>
              </a:ext>
            </a:extLst>
          </p:cNvPr>
          <p:cNvPicPr>
            <a:picLocks noChangeAspect="1"/>
          </p:cNvPicPr>
          <p:nvPr/>
        </p:nvPicPr>
        <p:blipFill>
          <a:blip r:embed="rId3"/>
          <a:stretch>
            <a:fillRect/>
          </a:stretch>
        </p:blipFill>
        <p:spPr>
          <a:xfrm>
            <a:off x="8430105" y="5738441"/>
            <a:ext cx="3859102" cy="506012"/>
          </a:xfrm>
          <a:prstGeom prst="rect">
            <a:avLst/>
          </a:prstGeom>
        </p:spPr>
      </p:pic>
    </p:spTree>
    <p:extLst>
      <p:ext uri="{BB962C8B-B14F-4D97-AF65-F5344CB8AC3E}">
        <p14:creationId xmlns:p14="http://schemas.microsoft.com/office/powerpoint/2010/main" val="4111573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E21B5-98FF-C09A-3C75-7C1BB012E86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D7E9482-ED9F-8B58-655C-5E251E932EFD}"/>
              </a:ext>
            </a:extLst>
          </p:cNvPr>
          <p:cNvSpPr>
            <a:spLocks noGrp="1"/>
          </p:cNvSpPr>
          <p:nvPr>
            <p:ph type="ctrTitle"/>
          </p:nvPr>
        </p:nvSpPr>
        <p:spPr>
          <a:xfrm>
            <a:off x="501954" y="689487"/>
            <a:ext cx="11188091" cy="991829"/>
          </a:xfrm>
        </p:spPr>
        <p:txBody>
          <a:bodyPr>
            <a:noAutofit/>
          </a:bodyPr>
          <a:lstStyle/>
          <a:p>
            <a:pPr algn="ctr"/>
            <a:r>
              <a:rPr lang="en-GB" sz="5400" cap="none" noProof="0" dirty="0">
                <a:latin typeface="+mn-lt"/>
              </a:rPr>
              <a:t>Software Migration</a:t>
            </a:r>
          </a:p>
        </p:txBody>
      </p:sp>
      <p:sp>
        <p:nvSpPr>
          <p:cNvPr id="4" name="TextBox 3">
            <a:extLst>
              <a:ext uri="{FF2B5EF4-FFF2-40B4-BE49-F238E27FC236}">
                <a16:creationId xmlns:a16="http://schemas.microsoft.com/office/drawing/2014/main" id="{9DEBDC20-D16A-71B7-823B-B4FA2D1D8807}"/>
              </a:ext>
            </a:extLst>
          </p:cNvPr>
          <p:cNvSpPr txBox="1"/>
          <p:nvPr/>
        </p:nvSpPr>
        <p:spPr>
          <a:xfrm rot="20839997">
            <a:off x="712381" y="1509997"/>
            <a:ext cx="1619354" cy="830997"/>
          </a:xfrm>
          <a:prstGeom prst="rect">
            <a:avLst/>
          </a:prstGeom>
          <a:noFill/>
        </p:spPr>
        <p:txBody>
          <a:bodyPr wrap="none" rtlCol="0">
            <a:spAutoFit/>
          </a:bodyPr>
          <a:lstStyle/>
          <a:p>
            <a:r>
              <a:rPr lang="en-GB" sz="4800" b="1" noProof="0" dirty="0">
                <a:solidFill>
                  <a:srgbClr val="FF0000"/>
                </a:solidFill>
              </a:rPr>
              <a:t>SWB</a:t>
            </a:r>
          </a:p>
        </p:txBody>
      </p:sp>
      <p:pic>
        <p:nvPicPr>
          <p:cNvPr id="14" name="Picture 13">
            <a:extLst>
              <a:ext uri="{FF2B5EF4-FFF2-40B4-BE49-F238E27FC236}">
                <a16:creationId xmlns:a16="http://schemas.microsoft.com/office/drawing/2014/main" id="{3741C69E-A40D-765E-76D4-6CA34D446754}"/>
              </a:ext>
            </a:extLst>
          </p:cNvPr>
          <p:cNvPicPr>
            <a:picLocks noChangeAspect="1"/>
          </p:cNvPicPr>
          <p:nvPr/>
        </p:nvPicPr>
        <p:blipFill>
          <a:blip r:embed="rId3"/>
          <a:stretch>
            <a:fillRect/>
          </a:stretch>
        </p:blipFill>
        <p:spPr>
          <a:xfrm rot="21306264">
            <a:off x="2404543" y="2273631"/>
            <a:ext cx="3147978" cy="2179605"/>
          </a:xfrm>
          <a:prstGeom prst="rect">
            <a:avLst/>
          </a:prstGeom>
        </p:spPr>
      </p:pic>
      <p:pic>
        <p:nvPicPr>
          <p:cNvPr id="20" name="Picture 19">
            <a:extLst>
              <a:ext uri="{FF2B5EF4-FFF2-40B4-BE49-F238E27FC236}">
                <a16:creationId xmlns:a16="http://schemas.microsoft.com/office/drawing/2014/main" id="{E58A1AA8-8FF3-9289-1806-22D89ECB89A7}"/>
              </a:ext>
            </a:extLst>
          </p:cNvPr>
          <p:cNvPicPr>
            <a:picLocks noChangeAspect="1"/>
          </p:cNvPicPr>
          <p:nvPr/>
        </p:nvPicPr>
        <p:blipFill>
          <a:blip r:embed="rId4"/>
          <a:stretch>
            <a:fillRect/>
          </a:stretch>
        </p:blipFill>
        <p:spPr>
          <a:xfrm>
            <a:off x="8430105" y="5738441"/>
            <a:ext cx="3859102" cy="506012"/>
          </a:xfrm>
          <a:prstGeom prst="rect">
            <a:avLst/>
          </a:prstGeom>
        </p:spPr>
      </p:pic>
    </p:spTree>
    <p:extLst>
      <p:ext uri="{BB962C8B-B14F-4D97-AF65-F5344CB8AC3E}">
        <p14:creationId xmlns:p14="http://schemas.microsoft.com/office/powerpoint/2010/main" val="2805581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1C20D-AB01-303B-C48F-6A5B597F6DB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09C6459-4A4B-39B8-C7CD-89AE109427C5}"/>
              </a:ext>
            </a:extLst>
          </p:cNvPr>
          <p:cNvSpPr>
            <a:spLocks noGrp="1"/>
          </p:cNvSpPr>
          <p:nvPr>
            <p:ph type="ctrTitle"/>
          </p:nvPr>
        </p:nvSpPr>
        <p:spPr>
          <a:xfrm>
            <a:off x="501954" y="689487"/>
            <a:ext cx="11188091" cy="991829"/>
          </a:xfrm>
        </p:spPr>
        <p:txBody>
          <a:bodyPr>
            <a:noAutofit/>
          </a:bodyPr>
          <a:lstStyle/>
          <a:p>
            <a:pPr algn="ctr"/>
            <a:r>
              <a:rPr lang="en-GB" sz="5400" cap="none" noProof="0" dirty="0">
                <a:latin typeface="+mn-lt"/>
              </a:rPr>
              <a:t>Software Migration</a:t>
            </a:r>
          </a:p>
        </p:txBody>
      </p:sp>
      <p:sp>
        <p:nvSpPr>
          <p:cNvPr id="4" name="TextBox 3">
            <a:extLst>
              <a:ext uri="{FF2B5EF4-FFF2-40B4-BE49-F238E27FC236}">
                <a16:creationId xmlns:a16="http://schemas.microsoft.com/office/drawing/2014/main" id="{254C7746-0432-8CD0-A35B-207CECFF56C4}"/>
              </a:ext>
            </a:extLst>
          </p:cNvPr>
          <p:cNvSpPr txBox="1"/>
          <p:nvPr/>
        </p:nvSpPr>
        <p:spPr>
          <a:xfrm rot="20839997">
            <a:off x="712381" y="1509997"/>
            <a:ext cx="1619354" cy="830997"/>
          </a:xfrm>
          <a:prstGeom prst="rect">
            <a:avLst/>
          </a:prstGeom>
          <a:noFill/>
        </p:spPr>
        <p:txBody>
          <a:bodyPr wrap="none" rtlCol="0">
            <a:spAutoFit/>
          </a:bodyPr>
          <a:lstStyle/>
          <a:p>
            <a:r>
              <a:rPr lang="en-GB" sz="4800" b="1" noProof="0" dirty="0">
                <a:solidFill>
                  <a:srgbClr val="FF0000"/>
                </a:solidFill>
              </a:rPr>
              <a:t>SWB</a:t>
            </a:r>
          </a:p>
        </p:txBody>
      </p:sp>
      <p:pic>
        <p:nvPicPr>
          <p:cNvPr id="12" name="Picture 11">
            <a:extLst>
              <a:ext uri="{FF2B5EF4-FFF2-40B4-BE49-F238E27FC236}">
                <a16:creationId xmlns:a16="http://schemas.microsoft.com/office/drawing/2014/main" id="{A60FEC83-0EA8-69B7-CB03-D379925A19BA}"/>
              </a:ext>
            </a:extLst>
          </p:cNvPr>
          <p:cNvPicPr>
            <a:picLocks noChangeAspect="1"/>
          </p:cNvPicPr>
          <p:nvPr/>
        </p:nvPicPr>
        <p:blipFill>
          <a:blip r:embed="rId3"/>
          <a:srcRect l="9987" t="13502" r="12354"/>
          <a:stretch>
            <a:fillRect/>
          </a:stretch>
        </p:blipFill>
        <p:spPr>
          <a:xfrm rot="260131">
            <a:off x="7825562" y="2040984"/>
            <a:ext cx="3147237" cy="2427114"/>
          </a:xfrm>
          <a:prstGeom prst="rect">
            <a:avLst/>
          </a:prstGeom>
        </p:spPr>
      </p:pic>
      <p:pic>
        <p:nvPicPr>
          <p:cNvPr id="14" name="Picture 13">
            <a:extLst>
              <a:ext uri="{FF2B5EF4-FFF2-40B4-BE49-F238E27FC236}">
                <a16:creationId xmlns:a16="http://schemas.microsoft.com/office/drawing/2014/main" id="{1801A643-F650-924E-0B54-3496F6225C45}"/>
              </a:ext>
            </a:extLst>
          </p:cNvPr>
          <p:cNvPicPr>
            <a:picLocks noChangeAspect="1"/>
          </p:cNvPicPr>
          <p:nvPr/>
        </p:nvPicPr>
        <p:blipFill>
          <a:blip r:embed="rId4"/>
          <a:stretch>
            <a:fillRect/>
          </a:stretch>
        </p:blipFill>
        <p:spPr>
          <a:xfrm rot="21306264">
            <a:off x="2404543" y="2273631"/>
            <a:ext cx="3147978" cy="2179605"/>
          </a:xfrm>
          <a:prstGeom prst="rect">
            <a:avLst/>
          </a:prstGeom>
        </p:spPr>
      </p:pic>
      <p:sp>
        <p:nvSpPr>
          <p:cNvPr id="15" name="Arrow: Right 14">
            <a:extLst>
              <a:ext uri="{FF2B5EF4-FFF2-40B4-BE49-F238E27FC236}">
                <a16:creationId xmlns:a16="http://schemas.microsoft.com/office/drawing/2014/main" id="{B69C23BD-CA58-AC96-4C09-64D99C628116}"/>
              </a:ext>
            </a:extLst>
          </p:cNvPr>
          <p:cNvSpPr/>
          <p:nvPr/>
        </p:nvSpPr>
        <p:spPr>
          <a:xfrm>
            <a:off x="5869171" y="2818606"/>
            <a:ext cx="1584251" cy="8718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8" name="Picture 7">
            <a:extLst>
              <a:ext uri="{FF2B5EF4-FFF2-40B4-BE49-F238E27FC236}">
                <a16:creationId xmlns:a16="http://schemas.microsoft.com/office/drawing/2014/main" id="{5CB5568B-A390-DCDC-BC11-8E2E8E5E1501}"/>
              </a:ext>
            </a:extLst>
          </p:cNvPr>
          <p:cNvPicPr>
            <a:picLocks noChangeAspect="1"/>
          </p:cNvPicPr>
          <p:nvPr/>
        </p:nvPicPr>
        <p:blipFill>
          <a:blip r:embed="rId5"/>
          <a:stretch>
            <a:fillRect/>
          </a:stretch>
        </p:blipFill>
        <p:spPr>
          <a:xfrm>
            <a:off x="8430105" y="5738441"/>
            <a:ext cx="3859102" cy="506012"/>
          </a:xfrm>
          <a:prstGeom prst="rect">
            <a:avLst/>
          </a:prstGeom>
        </p:spPr>
      </p:pic>
    </p:spTree>
    <p:extLst>
      <p:ext uri="{BB962C8B-B14F-4D97-AF65-F5344CB8AC3E}">
        <p14:creationId xmlns:p14="http://schemas.microsoft.com/office/powerpoint/2010/main" val="408587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46BAC-3F29-8BAF-AE70-0A2B82FC6DA2}"/>
              </a:ext>
            </a:extLst>
          </p:cNvPr>
          <p:cNvSpPr>
            <a:spLocks noGrp="1"/>
          </p:cNvSpPr>
          <p:nvPr>
            <p:ph type="title"/>
          </p:nvPr>
        </p:nvSpPr>
        <p:spPr/>
        <p:txBody>
          <a:bodyPr/>
          <a:lstStyle/>
          <a:p>
            <a:r>
              <a:rPr lang="en-GB" cap="none" noProof="0" dirty="0"/>
              <a:t>Outline</a:t>
            </a:r>
          </a:p>
        </p:txBody>
      </p:sp>
      <p:sp>
        <p:nvSpPr>
          <p:cNvPr id="3" name="Content Placeholder 2">
            <a:extLst>
              <a:ext uri="{FF2B5EF4-FFF2-40B4-BE49-F238E27FC236}">
                <a16:creationId xmlns:a16="http://schemas.microsoft.com/office/drawing/2014/main" id="{01A48878-7086-47B4-9435-BB1D1DD1FF96}"/>
              </a:ext>
            </a:extLst>
          </p:cNvPr>
          <p:cNvSpPr>
            <a:spLocks noGrp="1"/>
          </p:cNvSpPr>
          <p:nvPr>
            <p:ph idx="1"/>
          </p:nvPr>
        </p:nvSpPr>
        <p:spPr/>
        <p:txBody>
          <a:bodyPr>
            <a:normAutofit/>
          </a:bodyPr>
          <a:lstStyle/>
          <a:p>
            <a:pPr>
              <a:lnSpc>
                <a:spcPct val="200000"/>
              </a:lnSpc>
            </a:pPr>
            <a:r>
              <a:rPr lang="en-GB" sz="2400" noProof="0" dirty="0"/>
              <a:t>Definition of Software Migration</a:t>
            </a:r>
          </a:p>
          <a:p>
            <a:pPr>
              <a:lnSpc>
                <a:spcPct val="200000"/>
              </a:lnSpc>
            </a:pPr>
            <a:r>
              <a:rPr lang="en-GB" sz="2400" dirty="0"/>
              <a:t>Big Bang Migration</a:t>
            </a:r>
          </a:p>
          <a:p>
            <a:pPr>
              <a:lnSpc>
                <a:spcPct val="200000"/>
              </a:lnSpc>
            </a:pPr>
            <a:r>
              <a:rPr lang="en-GB" sz="2400" noProof="0" dirty="0"/>
              <a:t>Strangler Pattern</a:t>
            </a:r>
          </a:p>
        </p:txBody>
      </p:sp>
      <p:sp>
        <p:nvSpPr>
          <p:cNvPr id="16" name="Slide Number Placeholder 15">
            <a:extLst>
              <a:ext uri="{FF2B5EF4-FFF2-40B4-BE49-F238E27FC236}">
                <a16:creationId xmlns:a16="http://schemas.microsoft.com/office/drawing/2014/main" id="{F864310C-C0F5-8398-B134-FBBB66F970B2}"/>
              </a:ext>
            </a:extLst>
          </p:cNvPr>
          <p:cNvSpPr>
            <a:spLocks noGrp="1"/>
          </p:cNvSpPr>
          <p:nvPr>
            <p:ph type="sldNum" sz="quarter" idx="12"/>
          </p:nvPr>
        </p:nvSpPr>
        <p:spPr/>
        <p:txBody>
          <a:bodyPr/>
          <a:lstStyle/>
          <a:p>
            <a:fld id="{EE37D961-4667-421C-914A-80EB01B4E571}" type="slidenum">
              <a:rPr lang="de-DE" smtClean="0"/>
              <a:t>4</a:t>
            </a:fld>
            <a:endParaRPr lang="de-DE"/>
          </a:p>
        </p:txBody>
      </p:sp>
    </p:spTree>
    <p:extLst>
      <p:ext uri="{BB962C8B-B14F-4D97-AF65-F5344CB8AC3E}">
        <p14:creationId xmlns:p14="http://schemas.microsoft.com/office/powerpoint/2010/main" val="1267732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050DE-C01B-C528-5DDB-05D969AC3C2F}"/>
              </a:ext>
            </a:extLst>
          </p:cNvPr>
          <p:cNvSpPr>
            <a:spLocks noGrp="1"/>
          </p:cNvSpPr>
          <p:nvPr>
            <p:ph type="title"/>
          </p:nvPr>
        </p:nvSpPr>
        <p:spPr/>
        <p:txBody>
          <a:bodyPr/>
          <a:lstStyle/>
          <a:p>
            <a:r>
              <a:rPr lang="en-GB" cap="none" noProof="0" dirty="0"/>
              <a:t>Software Migration</a:t>
            </a:r>
          </a:p>
        </p:txBody>
      </p:sp>
      <p:sp>
        <p:nvSpPr>
          <p:cNvPr id="3" name="Content Placeholder 2">
            <a:extLst>
              <a:ext uri="{FF2B5EF4-FFF2-40B4-BE49-F238E27FC236}">
                <a16:creationId xmlns:a16="http://schemas.microsoft.com/office/drawing/2014/main" id="{BB88F7F2-70E2-DD29-8852-896918171055}"/>
              </a:ext>
            </a:extLst>
          </p:cNvPr>
          <p:cNvSpPr>
            <a:spLocks noGrp="1"/>
          </p:cNvSpPr>
          <p:nvPr>
            <p:ph idx="1"/>
          </p:nvPr>
        </p:nvSpPr>
        <p:spPr/>
        <p:txBody>
          <a:bodyPr>
            <a:normAutofit/>
          </a:bodyPr>
          <a:lstStyle/>
          <a:p>
            <a:r>
              <a:rPr lang="en-GB" sz="2400" b="1" noProof="0" dirty="0"/>
              <a:t>Definition (Wagner, 2014):</a:t>
            </a:r>
          </a:p>
          <a:p>
            <a:pPr lvl="1"/>
            <a:r>
              <a:rPr lang="en-GB" sz="2400" noProof="0" dirty="0"/>
              <a:t>Splitting and transferring software to a new platform or technology</a:t>
            </a:r>
            <a:endParaRPr lang="en-GB" sz="2000" noProof="0" dirty="0"/>
          </a:p>
          <a:p>
            <a:pPr lvl="2"/>
            <a:endParaRPr lang="en-GB" sz="2400" noProof="0" dirty="0"/>
          </a:p>
        </p:txBody>
      </p:sp>
      <p:grpSp>
        <p:nvGrpSpPr>
          <p:cNvPr id="4" name="Group 3">
            <a:extLst>
              <a:ext uri="{FF2B5EF4-FFF2-40B4-BE49-F238E27FC236}">
                <a16:creationId xmlns:a16="http://schemas.microsoft.com/office/drawing/2014/main" id="{3D574193-09E0-3B93-8253-B3A7E533F8C6}"/>
              </a:ext>
            </a:extLst>
          </p:cNvPr>
          <p:cNvGrpSpPr/>
          <p:nvPr/>
        </p:nvGrpSpPr>
        <p:grpSpPr>
          <a:xfrm>
            <a:off x="5530515" y="187382"/>
            <a:ext cx="5718731" cy="1659146"/>
            <a:chOff x="2404543" y="2040984"/>
            <a:chExt cx="8568256" cy="2427114"/>
          </a:xfrm>
        </p:grpSpPr>
        <p:pic>
          <p:nvPicPr>
            <p:cNvPr id="5" name="Picture 4">
              <a:extLst>
                <a:ext uri="{FF2B5EF4-FFF2-40B4-BE49-F238E27FC236}">
                  <a16:creationId xmlns:a16="http://schemas.microsoft.com/office/drawing/2014/main" id="{234479E6-AD94-B624-35A9-9EC35EF6F3E5}"/>
                </a:ext>
              </a:extLst>
            </p:cNvPr>
            <p:cNvPicPr>
              <a:picLocks noChangeAspect="1"/>
            </p:cNvPicPr>
            <p:nvPr/>
          </p:nvPicPr>
          <p:blipFill>
            <a:blip r:embed="rId3"/>
            <a:srcRect l="9987" t="13502" r="12354"/>
            <a:stretch>
              <a:fillRect/>
            </a:stretch>
          </p:blipFill>
          <p:spPr>
            <a:xfrm rot="260131">
              <a:off x="7825562" y="2040984"/>
              <a:ext cx="3147237" cy="2427114"/>
            </a:xfrm>
            <a:prstGeom prst="rect">
              <a:avLst/>
            </a:prstGeom>
          </p:spPr>
        </p:pic>
        <p:pic>
          <p:nvPicPr>
            <p:cNvPr id="6" name="Picture 5">
              <a:extLst>
                <a:ext uri="{FF2B5EF4-FFF2-40B4-BE49-F238E27FC236}">
                  <a16:creationId xmlns:a16="http://schemas.microsoft.com/office/drawing/2014/main" id="{F791DF38-0BB6-AE87-3A91-2B46F8B96D38}"/>
                </a:ext>
              </a:extLst>
            </p:cNvPr>
            <p:cNvPicPr>
              <a:picLocks noChangeAspect="1"/>
            </p:cNvPicPr>
            <p:nvPr/>
          </p:nvPicPr>
          <p:blipFill>
            <a:blip r:embed="rId4"/>
            <a:stretch>
              <a:fillRect/>
            </a:stretch>
          </p:blipFill>
          <p:spPr>
            <a:xfrm rot="21306264">
              <a:off x="2404543" y="2273631"/>
              <a:ext cx="3147978" cy="2179605"/>
            </a:xfrm>
            <a:prstGeom prst="rect">
              <a:avLst/>
            </a:prstGeom>
          </p:spPr>
        </p:pic>
        <p:sp>
          <p:nvSpPr>
            <p:cNvPr id="7" name="Arrow: Right 6">
              <a:extLst>
                <a:ext uri="{FF2B5EF4-FFF2-40B4-BE49-F238E27FC236}">
                  <a16:creationId xmlns:a16="http://schemas.microsoft.com/office/drawing/2014/main" id="{74698611-25E3-3BBE-CBCC-741AA9FE0009}"/>
                </a:ext>
              </a:extLst>
            </p:cNvPr>
            <p:cNvSpPr/>
            <p:nvPr/>
          </p:nvSpPr>
          <p:spPr>
            <a:xfrm>
              <a:off x="5869171" y="2818606"/>
              <a:ext cx="1584251" cy="8718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14" name="Slide Number Placeholder 13">
            <a:extLst>
              <a:ext uri="{FF2B5EF4-FFF2-40B4-BE49-F238E27FC236}">
                <a16:creationId xmlns:a16="http://schemas.microsoft.com/office/drawing/2014/main" id="{9C6CC348-71CF-DA92-2905-B0286619AD41}"/>
              </a:ext>
            </a:extLst>
          </p:cNvPr>
          <p:cNvSpPr>
            <a:spLocks noGrp="1"/>
          </p:cNvSpPr>
          <p:nvPr>
            <p:ph type="sldNum" sz="quarter" idx="12"/>
          </p:nvPr>
        </p:nvSpPr>
        <p:spPr/>
        <p:txBody>
          <a:bodyPr/>
          <a:lstStyle/>
          <a:p>
            <a:fld id="{EE37D961-4667-421C-914A-80EB01B4E571}" type="slidenum">
              <a:rPr lang="de-DE" smtClean="0"/>
              <a:t>5</a:t>
            </a:fld>
            <a:endParaRPr lang="de-DE"/>
          </a:p>
        </p:txBody>
      </p:sp>
    </p:spTree>
    <p:extLst>
      <p:ext uri="{BB962C8B-B14F-4D97-AF65-F5344CB8AC3E}">
        <p14:creationId xmlns:p14="http://schemas.microsoft.com/office/powerpoint/2010/main" val="3348863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DD82D-8D64-8D06-303A-E25717165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A30A66-B91E-9C20-4405-9340C39FDBF6}"/>
              </a:ext>
            </a:extLst>
          </p:cNvPr>
          <p:cNvSpPr>
            <a:spLocks noGrp="1"/>
          </p:cNvSpPr>
          <p:nvPr>
            <p:ph type="title"/>
          </p:nvPr>
        </p:nvSpPr>
        <p:spPr/>
        <p:txBody>
          <a:bodyPr/>
          <a:lstStyle/>
          <a:p>
            <a:r>
              <a:rPr lang="en-GB" cap="none" noProof="0" dirty="0"/>
              <a:t>Software Migration</a:t>
            </a:r>
          </a:p>
        </p:txBody>
      </p:sp>
      <p:sp>
        <p:nvSpPr>
          <p:cNvPr id="3" name="Content Placeholder 2">
            <a:extLst>
              <a:ext uri="{FF2B5EF4-FFF2-40B4-BE49-F238E27FC236}">
                <a16:creationId xmlns:a16="http://schemas.microsoft.com/office/drawing/2014/main" id="{1EA0DB99-93E8-A189-B114-427C46658C29}"/>
              </a:ext>
            </a:extLst>
          </p:cNvPr>
          <p:cNvSpPr>
            <a:spLocks noGrp="1"/>
          </p:cNvSpPr>
          <p:nvPr>
            <p:ph idx="1"/>
          </p:nvPr>
        </p:nvSpPr>
        <p:spPr/>
        <p:txBody>
          <a:bodyPr>
            <a:normAutofit/>
          </a:bodyPr>
          <a:lstStyle/>
          <a:p>
            <a:r>
              <a:rPr lang="en-GB" sz="2400" b="1" noProof="0" dirty="0"/>
              <a:t>Definition (Wagner, 2014):</a:t>
            </a:r>
          </a:p>
          <a:p>
            <a:pPr lvl="1"/>
            <a:r>
              <a:rPr lang="en-GB" sz="2400" noProof="0" dirty="0"/>
              <a:t>Splitting and transferring software to a new platform or technology</a:t>
            </a:r>
          </a:p>
          <a:p>
            <a:endParaRPr lang="en-GB" sz="2400" b="1" noProof="0" dirty="0"/>
          </a:p>
          <a:p>
            <a:r>
              <a:rPr lang="en-GB" sz="2400" b="1" noProof="0" dirty="0"/>
              <a:t>Approaches:</a:t>
            </a:r>
          </a:p>
          <a:p>
            <a:pPr lvl="1"/>
            <a:r>
              <a:rPr lang="en-GB" sz="2400" b="1" noProof="0" dirty="0"/>
              <a:t>Big Bang Migration: </a:t>
            </a:r>
            <a:r>
              <a:rPr lang="en-GB" sz="2400" noProof="0" dirty="0"/>
              <a:t>The new system is developed separately and if done the old system will be replaced</a:t>
            </a:r>
            <a:endParaRPr lang="en-GB" sz="2000" noProof="0" dirty="0"/>
          </a:p>
          <a:p>
            <a:pPr lvl="2"/>
            <a:endParaRPr lang="en-GB" sz="2400" noProof="0" dirty="0"/>
          </a:p>
        </p:txBody>
      </p:sp>
      <p:grpSp>
        <p:nvGrpSpPr>
          <p:cNvPr id="4" name="Group 3">
            <a:extLst>
              <a:ext uri="{FF2B5EF4-FFF2-40B4-BE49-F238E27FC236}">
                <a16:creationId xmlns:a16="http://schemas.microsoft.com/office/drawing/2014/main" id="{96C54517-EE17-6C96-BA4A-A9150EE5F219}"/>
              </a:ext>
            </a:extLst>
          </p:cNvPr>
          <p:cNvGrpSpPr/>
          <p:nvPr/>
        </p:nvGrpSpPr>
        <p:grpSpPr>
          <a:xfrm>
            <a:off x="5530515" y="187382"/>
            <a:ext cx="5718731" cy="1659146"/>
            <a:chOff x="2404543" y="2040984"/>
            <a:chExt cx="8568256" cy="2427114"/>
          </a:xfrm>
        </p:grpSpPr>
        <p:pic>
          <p:nvPicPr>
            <p:cNvPr id="5" name="Picture 4">
              <a:extLst>
                <a:ext uri="{FF2B5EF4-FFF2-40B4-BE49-F238E27FC236}">
                  <a16:creationId xmlns:a16="http://schemas.microsoft.com/office/drawing/2014/main" id="{EC00E11D-62C0-5ED2-1D28-D16CACA68FB0}"/>
                </a:ext>
              </a:extLst>
            </p:cNvPr>
            <p:cNvPicPr>
              <a:picLocks noChangeAspect="1"/>
            </p:cNvPicPr>
            <p:nvPr/>
          </p:nvPicPr>
          <p:blipFill>
            <a:blip r:embed="rId3"/>
            <a:srcRect l="9987" t="13502" r="12354"/>
            <a:stretch>
              <a:fillRect/>
            </a:stretch>
          </p:blipFill>
          <p:spPr>
            <a:xfrm rot="260131">
              <a:off x="7825562" y="2040984"/>
              <a:ext cx="3147237" cy="2427114"/>
            </a:xfrm>
            <a:prstGeom prst="rect">
              <a:avLst/>
            </a:prstGeom>
          </p:spPr>
        </p:pic>
        <p:pic>
          <p:nvPicPr>
            <p:cNvPr id="6" name="Picture 5">
              <a:extLst>
                <a:ext uri="{FF2B5EF4-FFF2-40B4-BE49-F238E27FC236}">
                  <a16:creationId xmlns:a16="http://schemas.microsoft.com/office/drawing/2014/main" id="{85E9590A-875B-E0FD-197A-DF0D43B1F0D8}"/>
                </a:ext>
              </a:extLst>
            </p:cNvPr>
            <p:cNvPicPr>
              <a:picLocks noChangeAspect="1"/>
            </p:cNvPicPr>
            <p:nvPr/>
          </p:nvPicPr>
          <p:blipFill>
            <a:blip r:embed="rId4"/>
            <a:stretch>
              <a:fillRect/>
            </a:stretch>
          </p:blipFill>
          <p:spPr>
            <a:xfrm rot="21306264">
              <a:off x="2404543" y="2273631"/>
              <a:ext cx="3147978" cy="2179605"/>
            </a:xfrm>
            <a:prstGeom prst="rect">
              <a:avLst/>
            </a:prstGeom>
          </p:spPr>
        </p:pic>
        <p:sp>
          <p:nvSpPr>
            <p:cNvPr id="7" name="Arrow: Right 6">
              <a:extLst>
                <a:ext uri="{FF2B5EF4-FFF2-40B4-BE49-F238E27FC236}">
                  <a16:creationId xmlns:a16="http://schemas.microsoft.com/office/drawing/2014/main" id="{5F8109AC-97C4-7982-D24D-B99716C5CBEE}"/>
                </a:ext>
              </a:extLst>
            </p:cNvPr>
            <p:cNvSpPr/>
            <p:nvPr/>
          </p:nvSpPr>
          <p:spPr>
            <a:xfrm>
              <a:off x="5869171" y="2818606"/>
              <a:ext cx="1584251" cy="8718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pic>
        <p:nvPicPr>
          <p:cNvPr id="9" name="Picture 8">
            <a:extLst>
              <a:ext uri="{FF2B5EF4-FFF2-40B4-BE49-F238E27FC236}">
                <a16:creationId xmlns:a16="http://schemas.microsoft.com/office/drawing/2014/main" id="{B0F57B1D-965C-1F54-3BB4-7F523DB3310E}"/>
              </a:ext>
            </a:extLst>
          </p:cNvPr>
          <p:cNvPicPr>
            <a:picLocks noChangeAspect="1"/>
          </p:cNvPicPr>
          <p:nvPr/>
        </p:nvPicPr>
        <p:blipFill>
          <a:blip r:embed="rId4"/>
          <a:stretch>
            <a:fillRect/>
          </a:stretch>
        </p:blipFill>
        <p:spPr>
          <a:xfrm>
            <a:off x="9514855" y="4648569"/>
            <a:ext cx="1794099" cy="1242203"/>
          </a:xfrm>
          <a:prstGeom prst="rect">
            <a:avLst/>
          </a:prstGeom>
        </p:spPr>
      </p:pic>
      <p:sp>
        <p:nvSpPr>
          <p:cNvPr id="11" name="Explosion: 8 Points 10">
            <a:extLst>
              <a:ext uri="{FF2B5EF4-FFF2-40B4-BE49-F238E27FC236}">
                <a16:creationId xmlns:a16="http://schemas.microsoft.com/office/drawing/2014/main" id="{76CC838B-5B49-4A8F-2AA7-2673C9E24EC5}"/>
              </a:ext>
            </a:extLst>
          </p:cNvPr>
          <p:cNvSpPr/>
          <p:nvPr/>
        </p:nvSpPr>
        <p:spPr>
          <a:xfrm>
            <a:off x="8900300" y="3846823"/>
            <a:ext cx="3136605" cy="2790551"/>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0" name="Picture 9">
            <a:extLst>
              <a:ext uri="{FF2B5EF4-FFF2-40B4-BE49-F238E27FC236}">
                <a16:creationId xmlns:a16="http://schemas.microsoft.com/office/drawing/2014/main" id="{92EF0A78-DD11-710E-8A85-2369C187C60D}"/>
              </a:ext>
            </a:extLst>
          </p:cNvPr>
          <p:cNvPicPr>
            <a:picLocks noChangeAspect="1"/>
          </p:cNvPicPr>
          <p:nvPr/>
        </p:nvPicPr>
        <p:blipFill>
          <a:blip r:embed="rId5">
            <a:extLst>
              <a:ext uri="{28A0092B-C50C-407E-A947-70E740481C1C}">
                <a14:useLocalDpi xmlns:a14="http://schemas.microsoft.com/office/drawing/2010/main" val="0"/>
              </a:ext>
            </a:extLst>
          </a:blip>
          <a:srcRect l="6170" r="6170"/>
          <a:stretch/>
        </p:blipFill>
        <p:spPr>
          <a:xfrm>
            <a:off x="9619637" y="4618038"/>
            <a:ext cx="1611350" cy="1272734"/>
          </a:xfrm>
          <a:prstGeom prst="rect">
            <a:avLst/>
          </a:prstGeom>
        </p:spPr>
      </p:pic>
      <p:sp>
        <p:nvSpPr>
          <p:cNvPr id="12" name="Slide Number Placeholder 11">
            <a:extLst>
              <a:ext uri="{FF2B5EF4-FFF2-40B4-BE49-F238E27FC236}">
                <a16:creationId xmlns:a16="http://schemas.microsoft.com/office/drawing/2014/main" id="{C40FC165-CCEE-A3DA-D53A-5823359E69DE}"/>
              </a:ext>
            </a:extLst>
          </p:cNvPr>
          <p:cNvSpPr>
            <a:spLocks noGrp="1"/>
          </p:cNvSpPr>
          <p:nvPr>
            <p:ph type="sldNum" sz="quarter" idx="12"/>
          </p:nvPr>
        </p:nvSpPr>
        <p:spPr/>
        <p:txBody>
          <a:bodyPr/>
          <a:lstStyle/>
          <a:p>
            <a:fld id="{EE37D961-4667-421C-914A-80EB01B4E571}" type="slidenum">
              <a:rPr lang="de-DE" smtClean="0"/>
              <a:t>6</a:t>
            </a:fld>
            <a:endParaRPr lang="de-DE"/>
          </a:p>
        </p:txBody>
      </p:sp>
    </p:spTree>
    <p:extLst>
      <p:ext uri="{BB962C8B-B14F-4D97-AF65-F5344CB8AC3E}">
        <p14:creationId xmlns:p14="http://schemas.microsoft.com/office/powerpoint/2010/main" val="3327376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out)">
                                      <p:cBhvr>
                                        <p:cTn id="7" dur="250"/>
                                        <p:tgtEl>
                                          <p:spTgt spid="11"/>
                                        </p:tgtEl>
                                      </p:cBhvr>
                                    </p:animEffect>
                                  </p:childTnLst>
                                </p:cTn>
                              </p:par>
                              <p:par>
                                <p:cTn id="8" presetID="6" presetClass="entr" presetSubtype="3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ircle(out)">
                                      <p:cBhvr>
                                        <p:cTn id="10"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802AB-C397-C70A-EFC0-D3AEF4B77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9712E-8B64-A26A-D313-BC3CB21F2FFD}"/>
              </a:ext>
            </a:extLst>
          </p:cNvPr>
          <p:cNvSpPr>
            <a:spLocks noGrp="1"/>
          </p:cNvSpPr>
          <p:nvPr>
            <p:ph type="title"/>
          </p:nvPr>
        </p:nvSpPr>
        <p:spPr/>
        <p:txBody>
          <a:bodyPr/>
          <a:lstStyle/>
          <a:p>
            <a:r>
              <a:rPr lang="en-GB" cap="none" noProof="0" dirty="0"/>
              <a:t>Software Migration</a:t>
            </a:r>
          </a:p>
        </p:txBody>
      </p:sp>
      <p:sp>
        <p:nvSpPr>
          <p:cNvPr id="3" name="Content Placeholder 2">
            <a:extLst>
              <a:ext uri="{FF2B5EF4-FFF2-40B4-BE49-F238E27FC236}">
                <a16:creationId xmlns:a16="http://schemas.microsoft.com/office/drawing/2014/main" id="{8F0C0F1F-BE87-45D3-5F63-1ED7D3B7F247}"/>
              </a:ext>
            </a:extLst>
          </p:cNvPr>
          <p:cNvSpPr>
            <a:spLocks noGrp="1"/>
          </p:cNvSpPr>
          <p:nvPr>
            <p:ph idx="1"/>
          </p:nvPr>
        </p:nvSpPr>
        <p:spPr/>
        <p:txBody>
          <a:bodyPr>
            <a:normAutofit/>
          </a:bodyPr>
          <a:lstStyle/>
          <a:p>
            <a:r>
              <a:rPr lang="en-GB" sz="2400" b="1" noProof="0" dirty="0"/>
              <a:t>Definition (Wagner, 2014):</a:t>
            </a:r>
          </a:p>
          <a:p>
            <a:pPr lvl="1"/>
            <a:r>
              <a:rPr lang="en-GB" sz="2400" noProof="0" dirty="0"/>
              <a:t>Splitting and transferring software to a new platform or technology</a:t>
            </a:r>
          </a:p>
          <a:p>
            <a:endParaRPr lang="en-GB" sz="2400" b="1" noProof="0" dirty="0"/>
          </a:p>
          <a:p>
            <a:r>
              <a:rPr lang="en-GB" sz="2400" b="1" noProof="0" dirty="0"/>
              <a:t>Approaches:</a:t>
            </a:r>
          </a:p>
          <a:p>
            <a:pPr lvl="1"/>
            <a:r>
              <a:rPr lang="en-GB" sz="2400" b="1" noProof="0" dirty="0"/>
              <a:t>Big Bang Migration: </a:t>
            </a:r>
            <a:r>
              <a:rPr lang="en-GB" sz="2400" noProof="0" dirty="0"/>
              <a:t>The new system is developed separately and if done the old system will be replaced</a:t>
            </a:r>
          </a:p>
          <a:p>
            <a:pPr lvl="2"/>
            <a:endParaRPr lang="en-GB" sz="2000" b="1" dirty="0"/>
          </a:p>
          <a:p>
            <a:pPr lvl="2"/>
            <a:r>
              <a:rPr lang="en-GB" sz="2000" b="1" dirty="0"/>
              <a:t>Risks:</a:t>
            </a:r>
          </a:p>
          <a:p>
            <a:pPr lvl="3"/>
            <a:r>
              <a:rPr lang="en-GB" sz="2000" dirty="0"/>
              <a:t>Huge cost and time effort</a:t>
            </a:r>
          </a:p>
          <a:p>
            <a:pPr lvl="3"/>
            <a:r>
              <a:rPr lang="en-GB" sz="2000" dirty="0"/>
              <a:t>Parts of the company may not be fully operational</a:t>
            </a:r>
          </a:p>
          <a:p>
            <a:pPr lvl="3"/>
            <a:r>
              <a:rPr lang="en-GB" sz="2000" dirty="0"/>
              <a:t>New Software is outdated again on completion</a:t>
            </a:r>
          </a:p>
          <a:p>
            <a:pPr lvl="3"/>
            <a:endParaRPr lang="en-GB" sz="2000" noProof="0" dirty="0"/>
          </a:p>
          <a:p>
            <a:pPr lvl="2"/>
            <a:endParaRPr lang="en-GB" sz="2400" noProof="0" dirty="0"/>
          </a:p>
        </p:txBody>
      </p:sp>
      <p:grpSp>
        <p:nvGrpSpPr>
          <p:cNvPr id="4" name="Group 3">
            <a:extLst>
              <a:ext uri="{FF2B5EF4-FFF2-40B4-BE49-F238E27FC236}">
                <a16:creationId xmlns:a16="http://schemas.microsoft.com/office/drawing/2014/main" id="{2C836103-4C97-4B4C-A05D-9BA893C4694E}"/>
              </a:ext>
            </a:extLst>
          </p:cNvPr>
          <p:cNvGrpSpPr/>
          <p:nvPr/>
        </p:nvGrpSpPr>
        <p:grpSpPr>
          <a:xfrm>
            <a:off x="5530515" y="187382"/>
            <a:ext cx="5718731" cy="1659146"/>
            <a:chOff x="2404543" y="2040984"/>
            <a:chExt cx="8568256" cy="2427114"/>
          </a:xfrm>
        </p:grpSpPr>
        <p:pic>
          <p:nvPicPr>
            <p:cNvPr id="5" name="Picture 4">
              <a:extLst>
                <a:ext uri="{FF2B5EF4-FFF2-40B4-BE49-F238E27FC236}">
                  <a16:creationId xmlns:a16="http://schemas.microsoft.com/office/drawing/2014/main" id="{22ABEB48-B3D5-A427-FA07-506980FB380A}"/>
                </a:ext>
              </a:extLst>
            </p:cNvPr>
            <p:cNvPicPr>
              <a:picLocks noChangeAspect="1"/>
            </p:cNvPicPr>
            <p:nvPr/>
          </p:nvPicPr>
          <p:blipFill>
            <a:blip r:embed="rId3"/>
            <a:srcRect l="9987" t="13502" r="12354"/>
            <a:stretch>
              <a:fillRect/>
            </a:stretch>
          </p:blipFill>
          <p:spPr>
            <a:xfrm rot="260131">
              <a:off x="7825562" y="2040984"/>
              <a:ext cx="3147237" cy="2427114"/>
            </a:xfrm>
            <a:prstGeom prst="rect">
              <a:avLst/>
            </a:prstGeom>
          </p:spPr>
        </p:pic>
        <p:pic>
          <p:nvPicPr>
            <p:cNvPr id="6" name="Picture 5">
              <a:extLst>
                <a:ext uri="{FF2B5EF4-FFF2-40B4-BE49-F238E27FC236}">
                  <a16:creationId xmlns:a16="http://schemas.microsoft.com/office/drawing/2014/main" id="{205B78E5-E59E-4CC2-F36E-206FF54E6C79}"/>
                </a:ext>
              </a:extLst>
            </p:cNvPr>
            <p:cNvPicPr>
              <a:picLocks noChangeAspect="1"/>
            </p:cNvPicPr>
            <p:nvPr/>
          </p:nvPicPr>
          <p:blipFill>
            <a:blip r:embed="rId4"/>
            <a:stretch>
              <a:fillRect/>
            </a:stretch>
          </p:blipFill>
          <p:spPr>
            <a:xfrm rot="21306264">
              <a:off x="2404543" y="2273631"/>
              <a:ext cx="3147978" cy="2179605"/>
            </a:xfrm>
            <a:prstGeom prst="rect">
              <a:avLst/>
            </a:prstGeom>
          </p:spPr>
        </p:pic>
        <p:sp>
          <p:nvSpPr>
            <p:cNvPr id="7" name="Arrow: Right 6">
              <a:extLst>
                <a:ext uri="{FF2B5EF4-FFF2-40B4-BE49-F238E27FC236}">
                  <a16:creationId xmlns:a16="http://schemas.microsoft.com/office/drawing/2014/main" id="{AB8049D3-4532-1939-E6C9-1AF488C45D9A}"/>
                </a:ext>
              </a:extLst>
            </p:cNvPr>
            <p:cNvSpPr/>
            <p:nvPr/>
          </p:nvSpPr>
          <p:spPr>
            <a:xfrm>
              <a:off x="5869171" y="2818606"/>
              <a:ext cx="1584251" cy="8718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pic>
        <p:nvPicPr>
          <p:cNvPr id="9" name="Picture 8">
            <a:extLst>
              <a:ext uri="{FF2B5EF4-FFF2-40B4-BE49-F238E27FC236}">
                <a16:creationId xmlns:a16="http://schemas.microsoft.com/office/drawing/2014/main" id="{98EA557F-8C7B-AA43-108F-C0B446CDDD7A}"/>
              </a:ext>
            </a:extLst>
          </p:cNvPr>
          <p:cNvPicPr>
            <a:picLocks noChangeAspect="1"/>
          </p:cNvPicPr>
          <p:nvPr/>
        </p:nvPicPr>
        <p:blipFill>
          <a:blip r:embed="rId4"/>
          <a:stretch>
            <a:fillRect/>
          </a:stretch>
        </p:blipFill>
        <p:spPr>
          <a:xfrm>
            <a:off x="9514855" y="4648569"/>
            <a:ext cx="1794099" cy="1242203"/>
          </a:xfrm>
          <a:prstGeom prst="rect">
            <a:avLst/>
          </a:prstGeom>
        </p:spPr>
      </p:pic>
      <p:sp>
        <p:nvSpPr>
          <p:cNvPr id="11" name="Explosion: 8 Points 10">
            <a:extLst>
              <a:ext uri="{FF2B5EF4-FFF2-40B4-BE49-F238E27FC236}">
                <a16:creationId xmlns:a16="http://schemas.microsoft.com/office/drawing/2014/main" id="{BCC8F186-27DB-F4E7-E8C3-1584C4C4BAC7}"/>
              </a:ext>
            </a:extLst>
          </p:cNvPr>
          <p:cNvSpPr/>
          <p:nvPr/>
        </p:nvSpPr>
        <p:spPr>
          <a:xfrm>
            <a:off x="8900300" y="3846823"/>
            <a:ext cx="3136605" cy="2790551"/>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3" name="Picture 12">
            <a:extLst>
              <a:ext uri="{FF2B5EF4-FFF2-40B4-BE49-F238E27FC236}">
                <a16:creationId xmlns:a16="http://schemas.microsoft.com/office/drawing/2014/main" id="{E6996C0F-B402-C4E1-0E2E-76F1FFF55896}"/>
              </a:ext>
            </a:extLst>
          </p:cNvPr>
          <p:cNvPicPr>
            <a:picLocks noChangeAspect="1"/>
          </p:cNvPicPr>
          <p:nvPr/>
        </p:nvPicPr>
        <p:blipFill>
          <a:blip r:embed="rId5">
            <a:extLst>
              <a:ext uri="{28A0092B-C50C-407E-A947-70E740481C1C}">
                <a14:useLocalDpi xmlns:a14="http://schemas.microsoft.com/office/drawing/2010/main" val="0"/>
              </a:ext>
            </a:extLst>
          </a:blip>
          <a:srcRect l="6170" r="6170"/>
          <a:stretch/>
        </p:blipFill>
        <p:spPr>
          <a:xfrm>
            <a:off x="9619637" y="4618038"/>
            <a:ext cx="1611350" cy="1272734"/>
          </a:xfrm>
          <a:prstGeom prst="rect">
            <a:avLst/>
          </a:prstGeom>
        </p:spPr>
      </p:pic>
      <p:pic>
        <p:nvPicPr>
          <p:cNvPr id="16" name="Picture 15">
            <a:extLst>
              <a:ext uri="{FF2B5EF4-FFF2-40B4-BE49-F238E27FC236}">
                <a16:creationId xmlns:a16="http://schemas.microsoft.com/office/drawing/2014/main" id="{AAAA8464-BE43-67C2-0D77-01A10AF50197}"/>
              </a:ext>
            </a:extLst>
          </p:cNvPr>
          <p:cNvPicPr>
            <a:picLocks noChangeAspect="1"/>
          </p:cNvPicPr>
          <p:nvPr/>
        </p:nvPicPr>
        <p:blipFill>
          <a:blip r:embed="rId6">
            <a:extLst>
              <a:ext uri="{28A0092B-C50C-407E-A947-70E740481C1C}">
                <a14:useLocalDpi xmlns:a14="http://schemas.microsoft.com/office/drawing/2010/main" val="0"/>
              </a:ext>
            </a:extLst>
          </a:blip>
          <a:srcRect l="7066" r="5284"/>
          <a:stretch>
            <a:fillRect/>
          </a:stretch>
        </p:blipFill>
        <p:spPr>
          <a:xfrm>
            <a:off x="9619637" y="4622670"/>
            <a:ext cx="1611350" cy="1272734"/>
          </a:xfrm>
          <a:prstGeom prst="rect">
            <a:avLst/>
          </a:prstGeom>
        </p:spPr>
      </p:pic>
      <p:sp>
        <p:nvSpPr>
          <p:cNvPr id="17" name="Slide Number Placeholder 16">
            <a:extLst>
              <a:ext uri="{FF2B5EF4-FFF2-40B4-BE49-F238E27FC236}">
                <a16:creationId xmlns:a16="http://schemas.microsoft.com/office/drawing/2014/main" id="{2D4C808B-560A-CE18-FB8A-EA363F20C8DF}"/>
              </a:ext>
            </a:extLst>
          </p:cNvPr>
          <p:cNvSpPr>
            <a:spLocks noGrp="1"/>
          </p:cNvSpPr>
          <p:nvPr>
            <p:ph type="sldNum" sz="quarter" idx="12"/>
          </p:nvPr>
        </p:nvSpPr>
        <p:spPr/>
        <p:txBody>
          <a:bodyPr/>
          <a:lstStyle/>
          <a:p>
            <a:fld id="{EE37D961-4667-421C-914A-80EB01B4E571}" type="slidenum">
              <a:rPr lang="de-DE" smtClean="0"/>
              <a:t>7</a:t>
            </a:fld>
            <a:endParaRPr lang="de-DE"/>
          </a:p>
        </p:txBody>
      </p:sp>
    </p:spTree>
    <p:extLst>
      <p:ext uri="{BB962C8B-B14F-4D97-AF65-F5344CB8AC3E}">
        <p14:creationId xmlns:p14="http://schemas.microsoft.com/office/powerpoint/2010/main" val="404759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B9945-FDF1-41C1-4495-CD19CADB1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49AF5-D39B-29B7-DA48-82541369A90B}"/>
              </a:ext>
            </a:extLst>
          </p:cNvPr>
          <p:cNvSpPr>
            <a:spLocks noGrp="1"/>
          </p:cNvSpPr>
          <p:nvPr>
            <p:ph type="title"/>
          </p:nvPr>
        </p:nvSpPr>
        <p:spPr/>
        <p:txBody>
          <a:bodyPr/>
          <a:lstStyle/>
          <a:p>
            <a:r>
              <a:rPr lang="en-GB" cap="none" noProof="0" dirty="0"/>
              <a:t>Software Migration</a:t>
            </a:r>
          </a:p>
        </p:txBody>
      </p:sp>
      <p:sp>
        <p:nvSpPr>
          <p:cNvPr id="3" name="Content Placeholder 2">
            <a:extLst>
              <a:ext uri="{FF2B5EF4-FFF2-40B4-BE49-F238E27FC236}">
                <a16:creationId xmlns:a16="http://schemas.microsoft.com/office/drawing/2014/main" id="{40F573AA-4D43-9A6A-280E-DE461850CEDC}"/>
              </a:ext>
            </a:extLst>
          </p:cNvPr>
          <p:cNvSpPr>
            <a:spLocks noGrp="1"/>
          </p:cNvSpPr>
          <p:nvPr>
            <p:ph idx="1"/>
          </p:nvPr>
        </p:nvSpPr>
        <p:spPr/>
        <p:txBody>
          <a:bodyPr>
            <a:normAutofit/>
          </a:bodyPr>
          <a:lstStyle/>
          <a:p>
            <a:r>
              <a:rPr lang="en-GB" sz="2400" b="1" noProof="0" dirty="0"/>
              <a:t>Definition (Wagner, 2014):</a:t>
            </a:r>
          </a:p>
          <a:p>
            <a:pPr lvl="1"/>
            <a:r>
              <a:rPr lang="en-GB" sz="2400" noProof="0" dirty="0"/>
              <a:t>Splitting and transferring software to a new platform or technology</a:t>
            </a:r>
          </a:p>
          <a:p>
            <a:endParaRPr lang="en-GB" sz="2400" b="1" noProof="0" dirty="0"/>
          </a:p>
          <a:p>
            <a:r>
              <a:rPr lang="en-GB" sz="2400" b="1" noProof="0" dirty="0"/>
              <a:t>Approaches:</a:t>
            </a:r>
          </a:p>
          <a:p>
            <a:pPr lvl="3"/>
            <a:r>
              <a:rPr lang="en-GB" sz="2400" b="1" noProof="0" dirty="0"/>
              <a:t>Strangler Pattern:</a:t>
            </a:r>
            <a:endParaRPr lang="en-GB" sz="2800" noProof="0" dirty="0"/>
          </a:p>
        </p:txBody>
      </p:sp>
      <p:grpSp>
        <p:nvGrpSpPr>
          <p:cNvPr id="4" name="Group 3">
            <a:extLst>
              <a:ext uri="{FF2B5EF4-FFF2-40B4-BE49-F238E27FC236}">
                <a16:creationId xmlns:a16="http://schemas.microsoft.com/office/drawing/2014/main" id="{8B1DE0BB-53FF-AD21-E1D3-CA0CBAC2D9DA}"/>
              </a:ext>
            </a:extLst>
          </p:cNvPr>
          <p:cNvGrpSpPr/>
          <p:nvPr/>
        </p:nvGrpSpPr>
        <p:grpSpPr>
          <a:xfrm>
            <a:off x="5530515" y="187382"/>
            <a:ext cx="5718731" cy="1659146"/>
            <a:chOff x="2404543" y="2040984"/>
            <a:chExt cx="8568256" cy="2427114"/>
          </a:xfrm>
        </p:grpSpPr>
        <p:pic>
          <p:nvPicPr>
            <p:cNvPr id="5" name="Picture 4">
              <a:extLst>
                <a:ext uri="{FF2B5EF4-FFF2-40B4-BE49-F238E27FC236}">
                  <a16:creationId xmlns:a16="http://schemas.microsoft.com/office/drawing/2014/main" id="{511B2D34-93EE-5987-5216-E77B216C25B0}"/>
                </a:ext>
              </a:extLst>
            </p:cNvPr>
            <p:cNvPicPr>
              <a:picLocks noChangeAspect="1"/>
            </p:cNvPicPr>
            <p:nvPr/>
          </p:nvPicPr>
          <p:blipFill>
            <a:blip r:embed="rId3"/>
            <a:srcRect l="9987" t="13502" r="12354"/>
            <a:stretch>
              <a:fillRect/>
            </a:stretch>
          </p:blipFill>
          <p:spPr>
            <a:xfrm rot="260131">
              <a:off x="7825562" y="2040984"/>
              <a:ext cx="3147237" cy="2427114"/>
            </a:xfrm>
            <a:prstGeom prst="rect">
              <a:avLst/>
            </a:prstGeom>
          </p:spPr>
        </p:pic>
        <p:pic>
          <p:nvPicPr>
            <p:cNvPr id="6" name="Picture 5">
              <a:extLst>
                <a:ext uri="{FF2B5EF4-FFF2-40B4-BE49-F238E27FC236}">
                  <a16:creationId xmlns:a16="http://schemas.microsoft.com/office/drawing/2014/main" id="{4E750118-25DB-D9FC-8247-7DDFDC15E50E}"/>
                </a:ext>
              </a:extLst>
            </p:cNvPr>
            <p:cNvPicPr>
              <a:picLocks noChangeAspect="1"/>
            </p:cNvPicPr>
            <p:nvPr/>
          </p:nvPicPr>
          <p:blipFill>
            <a:blip r:embed="rId4"/>
            <a:stretch>
              <a:fillRect/>
            </a:stretch>
          </p:blipFill>
          <p:spPr>
            <a:xfrm rot="21306264">
              <a:off x="2404543" y="2273631"/>
              <a:ext cx="3147978" cy="2179605"/>
            </a:xfrm>
            <a:prstGeom prst="rect">
              <a:avLst/>
            </a:prstGeom>
          </p:spPr>
        </p:pic>
        <p:sp>
          <p:nvSpPr>
            <p:cNvPr id="7" name="Arrow: Right 6">
              <a:extLst>
                <a:ext uri="{FF2B5EF4-FFF2-40B4-BE49-F238E27FC236}">
                  <a16:creationId xmlns:a16="http://schemas.microsoft.com/office/drawing/2014/main" id="{FFDA5CB1-D170-3788-6841-819AF62F9BCA}"/>
                </a:ext>
              </a:extLst>
            </p:cNvPr>
            <p:cNvSpPr/>
            <p:nvPr/>
          </p:nvSpPr>
          <p:spPr>
            <a:xfrm>
              <a:off x="5869171" y="2818606"/>
              <a:ext cx="1584251" cy="8718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pic>
        <p:nvPicPr>
          <p:cNvPr id="10" name="Picture 9">
            <a:extLst>
              <a:ext uri="{FF2B5EF4-FFF2-40B4-BE49-F238E27FC236}">
                <a16:creationId xmlns:a16="http://schemas.microsoft.com/office/drawing/2014/main" id="{2A4A7C05-211B-F047-A3B1-B74A193984A0}"/>
              </a:ext>
            </a:extLst>
          </p:cNvPr>
          <p:cNvPicPr>
            <a:picLocks noChangeAspect="1"/>
          </p:cNvPicPr>
          <p:nvPr/>
        </p:nvPicPr>
        <p:blipFill>
          <a:blip r:embed="rId5"/>
          <a:srcRect l="16651" r="22171"/>
          <a:stretch>
            <a:fillRect/>
          </a:stretch>
        </p:blipFill>
        <p:spPr>
          <a:xfrm>
            <a:off x="4250053" y="3481792"/>
            <a:ext cx="3256531" cy="2905809"/>
          </a:xfrm>
          <a:prstGeom prst="rect">
            <a:avLst/>
          </a:prstGeom>
        </p:spPr>
      </p:pic>
      <p:sp>
        <p:nvSpPr>
          <p:cNvPr id="55" name="Slide Number Placeholder 54">
            <a:extLst>
              <a:ext uri="{FF2B5EF4-FFF2-40B4-BE49-F238E27FC236}">
                <a16:creationId xmlns:a16="http://schemas.microsoft.com/office/drawing/2014/main" id="{3A5AFB49-6D1D-4459-9DA9-82B9F0FDE793}"/>
              </a:ext>
            </a:extLst>
          </p:cNvPr>
          <p:cNvSpPr>
            <a:spLocks noGrp="1"/>
          </p:cNvSpPr>
          <p:nvPr>
            <p:ph type="sldNum" sz="quarter" idx="12"/>
          </p:nvPr>
        </p:nvSpPr>
        <p:spPr/>
        <p:txBody>
          <a:bodyPr/>
          <a:lstStyle/>
          <a:p>
            <a:fld id="{EE37D961-4667-421C-914A-80EB01B4E571}" type="slidenum">
              <a:rPr lang="de-DE" smtClean="0"/>
              <a:t>8</a:t>
            </a:fld>
            <a:endParaRPr lang="de-DE"/>
          </a:p>
        </p:txBody>
      </p:sp>
    </p:spTree>
    <p:extLst>
      <p:ext uri="{BB962C8B-B14F-4D97-AF65-F5344CB8AC3E}">
        <p14:creationId xmlns:p14="http://schemas.microsoft.com/office/powerpoint/2010/main" val="984545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C1F23-7F74-C862-C839-57DA6AF5F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97F6F-9348-C0EC-217A-BEE3FE95FF09}"/>
              </a:ext>
            </a:extLst>
          </p:cNvPr>
          <p:cNvSpPr>
            <a:spLocks noGrp="1"/>
          </p:cNvSpPr>
          <p:nvPr>
            <p:ph type="title"/>
          </p:nvPr>
        </p:nvSpPr>
        <p:spPr/>
        <p:txBody>
          <a:bodyPr/>
          <a:lstStyle/>
          <a:p>
            <a:r>
              <a:rPr lang="en-GB" cap="none" noProof="0" dirty="0"/>
              <a:t>Software Migration</a:t>
            </a:r>
          </a:p>
        </p:txBody>
      </p:sp>
      <p:sp>
        <p:nvSpPr>
          <p:cNvPr id="3" name="Content Placeholder 2">
            <a:extLst>
              <a:ext uri="{FF2B5EF4-FFF2-40B4-BE49-F238E27FC236}">
                <a16:creationId xmlns:a16="http://schemas.microsoft.com/office/drawing/2014/main" id="{92ACAC08-FE2C-675F-3339-7BC921AFD108}"/>
              </a:ext>
            </a:extLst>
          </p:cNvPr>
          <p:cNvSpPr>
            <a:spLocks noGrp="1"/>
          </p:cNvSpPr>
          <p:nvPr>
            <p:ph idx="1"/>
          </p:nvPr>
        </p:nvSpPr>
        <p:spPr/>
        <p:txBody>
          <a:bodyPr>
            <a:normAutofit/>
          </a:bodyPr>
          <a:lstStyle/>
          <a:p>
            <a:r>
              <a:rPr lang="en-GB" sz="2400" b="1" noProof="0" dirty="0"/>
              <a:t>Definition (Wagner, 2014):</a:t>
            </a:r>
          </a:p>
          <a:p>
            <a:pPr lvl="1"/>
            <a:r>
              <a:rPr lang="en-GB" sz="2400" noProof="0" dirty="0"/>
              <a:t>Splitting and transferring software to a new platform or technology</a:t>
            </a:r>
          </a:p>
          <a:p>
            <a:endParaRPr lang="en-GB" sz="2400" b="1" noProof="0" dirty="0"/>
          </a:p>
          <a:p>
            <a:r>
              <a:rPr lang="en-GB" sz="2400" b="1" noProof="0" dirty="0"/>
              <a:t>Approaches:</a:t>
            </a:r>
          </a:p>
          <a:p>
            <a:pPr lvl="3"/>
            <a:r>
              <a:rPr lang="en-GB" sz="2400" b="1" noProof="0" dirty="0"/>
              <a:t>Strangler Pattern: </a:t>
            </a:r>
            <a:r>
              <a:rPr lang="en-GB" sz="2400" noProof="0" dirty="0"/>
              <a:t>Step-by-step replacement of the old software</a:t>
            </a:r>
            <a:endParaRPr lang="en-GB" sz="2400" b="1" noProof="0" dirty="0"/>
          </a:p>
          <a:p>
            <a:pPr lvl="2"/>
            <a:endParaRPr lang="en-GB" sz="2400" noProof="0" dirty="0"/>
          </a:p>
        </p:txBody>
      </p:sp>
      <p:grpSp>
        <p:nvGrpSpPr>
          <p:cNvPr id="4" name="Group 3">
            <a:extLst>
              <a:ext uri="{FF2B5EF4-FFF2-40B4-BE49-F238E27FC236}">
                <a16:creationId xmlns:a16="http://schemas.microsoft.com/office/drawing/2014/main" id="{DA327693-F1F7-D842-23DA-A5FF8EA6729D}"/>
              </a:ext>
            </a:extLst>
          </p:cNvPr>
          <p:cNvGrpSpPr/>
          <p:nvPr/>
        </p:nvGrpSpPr>
        <p:grpSpPr>
          <a:xfrm>
            <a:off x="5530515" y="187382"/>
            <a:ext cx="5718731" cy="1659146"/>
            <a:chOff x="2404543" y="2040984"/>
            <a:chExt cx="8568256" cy="2427114"/>
          </a:xfrm>
        </p:grpSpPr>
        <p:pic>
          <p:nvPicPr>
            <p:cNvPr id="5" name="Picture 4">
              <a:extLst>
                <a:ext uri="{FF2B5EF4-FFF2-40B4-BE49-F238E27FC236}">
                  <a16:creationId xmlns:a16="http://schemas.microsoft.com/office/drawing/2014/main" id="{10FB6B8A-B244-D3B4-9940-E4D5B415B202}"/>
                </a:ext>
              </a:extLst>
            </p:cNvPr>
            <p:cNvPicPr>
              <a:picLocks noChangeAspect="1"/>
            </p:cNvPicPr>
            <p:nvPr/>
          </p:nvPicPr>
          <p:blipFill>
            <a:blip r:embed="rId3"/>
            <a:srcRect l="9987" t="13502" r="12354"/>
            <a:stretch>
              <a:fillRect/>
            </a:stretch>
          </p:blipFill>
          <p:spPr>
            <a:xfrm rot="260131">
              <a:off x="7825562" y="2040984"/>
              <a:ext cx="3147237" cy="2427114"/>
            </a:xfrm>
            <a:prstGeom prst="rect">
              <a:avLst/>
            </a:prstGeom>
          </p:spPr>
        </p:pic>
        <p:pic>
          <p:nvPicPr>
            <p:cNvPr id="6" name="Picture 5">
              <a:extLst>
                <a:ext uri="{FF2B5EF4-FFF2-40B4-BE49-F238E27FC236}">
                  <a16:creationId xmlns:a16="http://schemas.microsoft.com/office/drawing/2014/main" id="{2C36CE45-FFD2-CB48-79EE-DAE75320737A}"/>
                </a:ext>
              </a:extLst>
            </p:cNvPr>
            <p:cNvPicPr>
              <a:picLocks noChangeAspect="1"/>
            </p:cNvPicPr>
            <p:nvPr/>
          </p:nvPicPr>
          <p:blipFill>
            <a:blip r:embed="rId4"/>
            <a:stretch>
              <a:fillRect/>
            </a:stretch>
          </p:blipFill>
          <p:spPr>
            <a:xfrm rot="21306264">
              <a:off x="2404543" y="2273631"/>
              <a:ext cx="3147978" cy="2179605"/>
            </a:xfrm>
            <a:prstGeom prst="rect">
              <a:avLst/>
            </a:prstGeom>
          </p:spPr>
        </p:pic>
        <p:sp>
          <p:nvSpPr>
            <p:cNvPr id="7" name="Arrow: Right 6">
              <a:extLst>
                <a:ext uri="{FF2B5EF4-FFF2-40B4-BE49-F238E27FC236}">
                  <a16:creationId xmlns:a16="http://schemas.microsoft.com/office/drawing/2014/main" id="{7886A920-77FD-950F-816A-0C8B0ABAB2A1}"/>
                </a:ext>
              </a:extLst>
            </p:cNvPr>
            <p:cNvSpPr/>
            <p:nvPr/>
          </p:nvSpPr>
          <p:spPr>
            <a:xfrm>
              <a:off x="5869171" y="2818606"/>
              <a:ext cx="1584251" cy="8718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pic>
        <p:nvPicPr>
          <p:cNvPr id="10" name="Picture 9">
            <a:extLst>
              <a:ext uri="{FF2B5EF4-FFF2-40B4-BE49-F238E27FC236}">
                <a16:creationId xmlns:a16="http://schemas.microsoft.com/office/drawing/2014/main" id="{5111D9B0-0506-4286-19CB-92162B716EF2}"/>
              </a:ext>
            </a:extLst>
          </p:cNvPr>
          <p:cNvPicPr>
            <a:picLocks noChangeAspect="1"/>
          </p:cNvPicPr>
          <p:nvPr/>
        </p:nvPicPr>
        <p:blipFill>
          <a:blip r:embed="rId5"/>
          <a:srcRect l="16651" r="22171"/>
          <a:stretch>
            <a:fillRect/>
          </a:stretch>
        </p:blipFill>
        <p:spPr>
          <a:xfrm>
            <a:off x="10500827" y="2904165"/>
            <a:ext cx="1555949" cy="1388377"/>
          </a:xfrm>
          <a:prstGeom prst="rect">
            <a:avLst/>
          </a:prstGeom>
        </p:spPr>
      </p:pic>
      <p:grpSp>
        <p:nvGrpSpPr>
          <p:cNvPr id="31" name="Group 30">
            <a:extLst>
              <a:ext uri="{FF2B5EF4-FFF2-40B4-BE49-F238E27FC236}">
                <a16:creationId xmlns:a16="http://schemas.microsoft.com/office/drawing/2014/main" id="{6EC08137-7AA9-6322-7844-367C20D0E243}"/>
              </a:ext>
            </a:extLst>
          </p:cNvPr>
          <p:cNvGrpSpPr>
            <a:grpSpLocks noChangeAspect="1"/>
          </p:cNvGrpSpPr>
          <p:nvPr/>
        </p:nvGrpSpPr>
        <p:grpSpPr>
          <a:xfrm>
            <a:off x="7961426" y="4292542"/>
            <a:ext cx="1956391" cy="1873100"/>
            <a:chOff x="1584251" y="4282513"/>
            <a:chExt cx="1956391" cy="1873100"/>
          </a:xfrm>
        </p:grpSpPr>
        <p:sp>
          <p:nvSpPr>
            <p:cNvPr id="32" name="Rectangle 31">
              <a:extLst>
                <a:ext uri="{FF2B5EF4-FFF2-40B4-BE49-F238E27FC236}">
                  <a16:creationId xmlns:a16="http://schemas.microsoft.com/office/drawing/2014/main" id="{A66307E8-5BCC-F3EA-4443-6297A9179993}"/>
                </a:ext>
              </a:extLst>
            </p:cNvPr>
            <p:cNvSpPr/>
            <p:nvPr/>
          </p:nvSpPr>
          <p:spPr>
            <a:xfrm>
              <a:off x="1584251" y="4282513"/>
              <a:ext cx="1956391" cy="1873100"/>
            </a:xfrm>
            <a:prstGeom prst="rect">
              <a:avLst/>
            </a:prstGeom>
            <a:solidFill>
              <a:srgbClr val="0070C0"/>
            </a:solidFill>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algn="ctr"/>
              <a:r>
                <a:rPr lang="de-DE" dirty="0"/>
                <a:t>New System</a:t>
              </a:r>
            </a:p>
          </p:txBody>
        </p:sp>
        <p:pic>
          <p:nvPicPr>
            <p:cNvPr id="33" name="Picture 32">
              <a:extLst>
                <a:ext uri="{FF2B5EF4-FFF2-40B4-BE49-F238E27FC236}">
                  <a16:creationId xmlns:a16="http://schemas.microsoft.com/office/drawing/2014/main" id="{62BFB2FD-6971-8D11-EF4F-ED87AB877BA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729659" y="4787061"/>
              <a:ext cx="1665573" cy="1153214"/>
            </a:xfrm>
            <a:prstGeom prst="rect">
              <a:avLst/>
            </a:prstGeom>
          </p:spPr>
        </p:pic>
      </p:grpSp>
      <p:grpSp>
        <p:nvGrpSpPr>
          <p:cNvPr id="35" name="Group 34">
            <a:extLst>
              <a:ext uri="{FF2B5EF4-FFF2-40B4-BE49-F238E27FC236}">
                <a16:creationId xmlns:a16="http://schemas.microsoft.com/office/drawing/2014/main" id="{770B9C5B-52F5-60EF-269E-FC02AA144AFC}"/>
              </a:ext>
            </a:extLst>
          </p:cNvPr>
          <p:cNvGrpSpPr/>
          <p:nvPr/>
        </p:nvGrpSpPr>
        <p:grpSpPr>
          <a:xfrm>
            <a:off x="3742688" y="4282513"/>
            <a:ext cx="1856438" cy="1873100"/>
            <a:chOff x="3795824" y="4282513"/>
            <a:chExt cx="1856438" cy="1873100"/>
          </a:xfrm>
        </p:grpSpPr>
        <p:grpSp>
          <p:nvGrpSpPr>
            <p:cNvPr id="22" name="Group 21">
              <a:extLst>
                <a:ext uri="{FF2B5EF4-FFF2-40B4-BE49-F238E27FC236}">
                  <a16:creationId xmlns:a16="http://schemas.microsoft.com/office/drawing/2014/main" id="{B12ABC98-4F7D-6E92-5B5D-F9FB18FAB144}"/>
                </a:ext>
              </a:extLst>
            </p:cNvPr>
            <p:cNvGrpSpPr>
              <a:grpSpLocks noChangeAspect="1"/>
            </p:cNvGrpSpPr>
            <p:nvPr/>
          </p:nvGrpSpPr>
          <p:grpSpPr>
            <a:xfrm>
              <a:off x="3795824" y="4972351"/>
              <a:ext cx="1235878" cy="1183262"/>
              <a:chOff x="1584251" y="4282513"/>
              <a:chExt cx="1956391" cy="1873100"/>
            </a:xfrm>
          </p:grpSpPr>
          <p:sp>
            <p:nvSpPr>
              <p:cNvPr id="23" name="Rectangle 22">
                <a:extLst>
                  <a:ext uri="{FF2B5EF4-FFF2-40B4-BE49-F238E27FC236}">
                    <a16:creationId xmlns:a16="http://schemas.microsoft.com/office/drawing/2014/main" id="{08EB9E49-FA2D-6734-F44D-64AAC0C702E3}"/>
                  </a:ext>
                </a:extLst>
              </p:cNvPr>
              <p:cNvSpPr>
                <a:spLocks noChangeAspect="1"/>
              </p:cNvSpPr>
              <p:nvPr/>
            </p:nvSpPr>
            <p:spPr>
              <a:xfrm>
                <a:off x="1584251" y="4282513"/>
                <a:ext cx="1956391" cy="18731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algn="ctr"/>
                <a:r>
                  <a:rPr lang="de-DE" sz="1600" dirty="0"/>
                  <a:t>Old System</a:t>
                </a:r>
              </a:p>
            </p:txBody>
          </p:sp>
          <p:pic>
            <p:nvPicPr>
              <p:cNvPr id="24" name="Picture 23">
                <a:extLst>
                  <a:ext uri="{FF2B5EF4-FFF2-40B4-BE49-F238E27FC236}">
                    <a16:creationId xmlns:a16="http://schemas.microsoft.com/office/drawing/2014/main" id="{33690247-D97D-C113-63D0-7BDD86E75A20}"/>
                  </a:ext>
                </a:extLst>
              </p:cNvPr>
              <p:cNvPicPr>
                <a:picLocks noChangeAspect="1"/>
              </p:cNvPicPr>
              <p:nvPr/>
            </p:nvPicPr>
            <p:blipFill>
              <a:blip r:embed="rId4"/>
              <a:stretch>
                <a:fillRect/>
              </a:stretch>
            </p:blipFill>
            <p:spPr>
              <a:xfrm>
                <a:off x="1729659" y="4773104"/>
                <a:ext cx="1665573" cy="1181128"/>
              </a:xfrm>
              <a:prstGeom prst="rect">
                <a:avLst/>
              </a:prstGeom>
            </p:spPr>
          </p:pic>
        </p:grpSp>
        <p:grpSp>
          <p:nvGrpSpPr>
            <p:cNvPr id="28" name="Group 27">
              <a:extLst>
                <a:ext uri="{FF2B5EF4-FFF2-40B4-BE49-F238E27FC236}">
                  <a16:creationId xmlns:a16="http://schemas.microsoft.com/office/drawing/2014/main" id="{6C957943-3C33-D2C2-D29B-72198179AE9F}"/>
                </a:ext>
              </a:extLst>
            </p:cNvPr>
            <p:cNvGrpSpPr>
              <a:grpSpLocks noChangeAspect="1"/>
            </p:cNvGrpSpPr>
            <p:nvPr/>
          </p:nvGrpSpPr>
          <p:grpSpPr>
            <a:xfrm>
              <a:off x="5036324" y="4975714"/>
              <a:ext cx="615938" cy="589715"/>
              <a:chOff x="1584251" y="4316286"/>
              <a:chExt cx="1956391" cy="1873100"/>
            </a:xfrm>
          </p:grpSpPr>
          <p:sp>
            <p:nvSpPr>
              <p:cNvPr id="29" name="Rectangle 28">
                <a:extLst>
                  <a:ext uri="{FF2B5EF4-FFF2-40B4-BE49-F238E27FC236}">
                    <a16:creationId xmlns:a16="http://schemas.microsoft.com/office/drawing/2014/main" id="{13D4F457-F119-7C73-EB9A-C8643D6A9BFC}"/>
                  </a:ext>
                </a:extLst>
              </p:cNvPr>
              <p:cNvSpPr/>
              <p:nvPr/>
            </p:nvSpPr>
            <p:spPr>
              <a:xfrm>
                <a:off x="1584251" y="4316286"/>
                <a:ext cx="1956391" cy="1873100"/>
              </a:xfrm>
              <a:prstGeom prst="rect">
                <a:avLst/>
              </a:prstGeom>
              <a:solidFill>
                <a:srgbClr val="0070C0"/>
              </a:solidFill>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algn="ctr"/>
                <a:r>
                  <a:rPr lang="de-DE" sz="600" dirty="0"/>
                  <a:t>New System</a:t>
                </a:r>
              </a:p>
            </p:txBody>
          </p:sp>
          <p:pic>
            <p:nvPicPr>
              <p:cNvPr id="30" name="Picture 29">
                <a:extLst>
                  <a:ext uri="{FF2B5EF4-FFF2-40B4-BE49-F238E27FC236}">
                    <a16:creationId xmlns:a16="http://schemas.microsoft.com/office/drawing/2014/main" id="{DCBC5441-0C1B-BB0D-37BC-0B7D210F21F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729659" y="4787061"/>
                <a:ext cx="1665573" cy="1153214"/>
              </a:xfrm>
              <a:prstGeom prst="rect">
                <a:avLst/>
              </a:prstGeom>
            </p:spPr>
          </p:pic>
        </p:grpSp>
        <p:sp>
          <p:nvSpPr>
            <p:cNvPr id="34" name="Rectangle 33">
              <a:extLst>
                <a:ext uri="{FF2B5EF4-FFF2-40B4-BE49-F238E27FC236}">
                  <a16:creationId xmlns:a16="http://schemas.microsoft.com/office/drawing/2014/main" id="{74239977-B9A9-B415-F0A3-80404F204B50}"/>
                </a:ext>
              </a:extLst>
            </p:cNvPr>
            <p:cNvSpPr/>
            <p:nvPr/>
          </p:nvSpPr>
          <p:spPr>
            <a:xfrm>
              <a:off x="3795824" y="4282513"/>
              <a:ext cx="1856438" cy="4905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Strangler Facade</a:t>
              </a:r>
            </a:p>
          </p:txBody>
        </p:sp>
      </p:grpSp>
      <p:grpSp>
        <p:nvGrpSpPr>
          <p:cNvPr id="52" name="Group 51">
            <a:extLst>
              <a:ext uri="{FF2B5EF4-FFF2-40B4-BE49-F238E27FC236}">
                <a16:creationId xmlns:a16="http://schemas.microsoft.com/office/drawing/2014/main" id="{2D08CBA5-EE62-D54B-D44B-D85EA5CC9E7C}"/>
              </a:ext>
            </a:extLst>
          </p:cNvPr>
          <p:cNvGrpSpPr/>
          <p:nvPr/>
        </p:nvGrpSpPr>
        <p:grpSpPr>
          <a:xfrm>
            <a:off x="5847058" y="4283609"/>
            <a:ext cx="1866436" cy="1872004"/>
            <a:chOff x="6045186" y="4284581"/>
            <a:chExt cx="1866436" cy="1872004"/>
          </a:xfrm>
        </p:grpSpPr>
        <p:grpSp>
          <p:nvGrpSpPr>
            <p:cNvPr id="21" name="Group 20">
              <a:extLst>
                <a:ext uri="{FF2B5EF4-FFF2-40B4-BE49-F238E27FC236}">
                  <a16:creationId xmlns:a16="http://schemas.microsoft.com/office/drawing/2014/main" id="{68621297-F19A-0372-2E5B-910E5F63B7AF}"/>
                </a:ext>
              </a:extLst>
            </p:cNvPr>
            <p:cNvGrpSpPr/>
            <p:nvPr/>
          </p:nvGrpSpPr>
          <p:grpSpPr>
            <a:xfrm>
              <a:off x="6045186" y="4971609"/>
              <a:ext cx="608153" cy="589715"/>
              <a:chOff x="1584251" y="4462729"/>
              <a:chExt cx="1956391" cy="1873100"/>
            </a:xfrm>
          </p:grpSpPr>
          <p:sp>
            <p:nvSpPr>
              <p:cNvPr id="12" name="Rectangle 11">
                <a:extLst>
                  <a:ext uri="{FF2B5EF4-FFF2-40B4-BE49-F238E27FC236}">
                    <a16:creationId xmlns:a16="http://schemas.microsoft.com/office/drawing/2014/main" id="{065E4ABC-F2AD-158C-ECEF-FD92996DB508}"/>
                  </a:ext>
                </a:extLst>
              </p:cNvPr>
              <p:cNvSpPr/>
              <p:nvPr/>
            </p:nvSpPr>
            <p:spPr>
              <a:xfrm>
                <a:off x="1584251" y="4462729"/>
                <a:ext cx="1956391" cy="18731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algn="ctr"/>
                <a:r>
                  <a:rPr lang="de-DE" sz="600" dirty="0"/>
                  <a:t>Old System</a:t>
                </a:r>
              </a:p>
            </p:txBody>
          </p:sp>
          <p:pic>
            <p:nvPicPr>
              <p:cNvPr id="15" name="Picture 14">
                <a:extLst>
                  <a:ext uri="{FF2B5EF4-FFF2-40B4-BE49-F238E27FC236}">
                    <a16:creationId xmlns:a16="http://schemas.microsoft.com/office/drawing/2014/main" id="{9AFD5305-86EC-DCB8-9E8F-9CEB7E087EBE}"/>
                  </a:ext>
                </a:extLst>
              </p:cNvPr>
              <p:cNvPicPr>
                <a:picLocks noChangeAspect="1"/>
              </p:cNvPicPr>
              <p:nvPr/>
            </p:nvPicPr>
            <p:blipFill>
              <a:blip r:embed="rId4"/>
              <a:stretch>
                <a:fillRect/>
              </a:stretch>
            </p:blipFill>
            <p:spPr>
              <a:xfrm>
                <a:off x="1729660" y="4948071"/>
                <a:ext cx="1665573" cy="1181128"/>
              </a:xfrm>
              <a:prstGeom prst="rect">
                <a:avLst/>
              </a:prstGeom>
            </p:spPr>
          </p:pic>
        </p:grpSp>
        <p:sp>
          <p:nvSpPr>
            <p:cNvPr id="39" name="Rectangle 38">
              <a:extLst>
                <a:ext uri="{FF2B5EF4-FFF2-40B4-BE49-F238E27FC236}">
                  <a16:creationId xmlns:a16="http://schemas.microsoft.com/office/drawing/2014/main" id="{3F83F38C-D84A-BB94-0508-46602AB79355}"/>
                </a:ext>
              </a:extLst>
            </p:cNvPr>
            <p:cNvSpPr/>
            <p:nvPr/>
          </p:nvSpPr>
          <p:spPr>
            <a:xfrm>
              <a:off x="6055184" y="4284581"/>
              <a:ext cx="1856438" cy="4905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Strangler Facade</a:t>
              </a:r>
            </a:p>
          </p:txBody>
        </p:sp>
        <p:grpSp>
          <p:nvGrpSpPr>
            <p:cNvPr id="46" name="Group 45">
              <a:extLst>
                <a:ext uri="{FF2B5EF4-FFF2-40B4-BE49-F238E27FC236}">
                  <a16:creationId xmlns:a16="http://schemas.microsoft.com/office/drawing/2014/main" id="{67EB7B4B-A5EC-61B9-09F3-A602C8BDBBE0}"/>
                </a:ext>
              </a:extLst>
            </p:cNvPr>
            <p:cNvGrpSpPr>
              <a:grpSpLocks noChangeAspect="1"/>
            </p:cNvGrpSpPr>
            <p:nvPr/>
          </p:nvGrpSpPr>
          <p:grpSpPr>
            <a:xfrm>
              <a:off x="6668239" y="4966137"/>
              <a:ext cx="1243383" cy="1190448"/>
              <a:chOff x="1584251" y="4371787"/>
              <a:chExt cx="1956391" cy="1873100"/>
            </a:xfrm>
          </p:grpSpPr>
          <p:sp>
            <p:nvSpPr>
              <p:cNvPr id="47" name="Rectangle 46">
                <a:extLst>
                  <a:ext uri="{FF2B5EF4-FFF2-40B4-BE49-F238E27FC236}">
                    <a16:creationId xmlns:a16="http://schemas.microsoft.com/office/drawing/2014/main" id="{F9F83D1F-41F5-B83D-4327-278C33E1FB33}"/>
                  </a:ext>
                </a:extLst>
              </p:cNvPr>
              <p:cNvSpPr/>
              <p:nvPr/>
            </p:nvSpPr>
            <p:spPr>
              <a:xfrm>
                <a:off x="1584251" y="4371787"/>
                <a:ext cx="1956391" cy="1873100"/>
              </a:xfrm>
              <a:prstGeom prst="rect">
                <a:avLst/>
              </a:prstGeom>
              <a:solidFill>
                <a:srgbClr val="0070C0"/>
              </a:solidFill>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algn="ctr"/>
                <a:r>
                  <a:rPr lang="de-DE" sz="1400" dirty="0"/>
                  <a:t>New System</a:t>
                </a:r>
              </a:p>
            </p:txBody>
          </p:sp>
          <p:pic>
            <p:nvPicPr>
              <p:cNvPr id="48" name="Picture 47">
                <a:extLst>
                  <a:ext uri="{FF2B5EF4-FFF2-40B4-BE49-F238E27FC236}">
                    <a16:creationId xmlns:a16="http://schemas.microsoft.com/office/drawing/2014/main" id="{8F7D8838-E412-3252-BA42-E344FF7A5A4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729659" y="4787061"/>
                <a:ext cx="1665573" cy="1153214"/>
              </a:xfrm>
              <a:prstGeom prst="rect">
                <a:avLst/>
              </a:prstGeom>
            </p:spPr>
          </p:pic>
        </p:grpSp>
      </p:grpSp>
      <p:grpSp>
        <p:nvGrpSpPr>
          <p:cNvPr id="49" name="Group 48">
            <a:extLst>
              <a:ext uri="{FF2B5EF4-FFF2-40B4-BE49-F238E27FC236}">
                <a16:creationId xmlns:a16="http://schemas.microsoft.com/office/drawing/2014/main" id="{3DCE49B9-3966-D46C-E705-FA0346D8C437}"/>
              </a:ext>
            </a:extLst>
          </p:cNvPr>
          <p:cNvGrpSpPr/>
          <p:nvPr/>
        </p:nvGrpSpPr>
        <p:grpSpPr>
          <a:xfrm>
            <a:off x="1538365" y="4282513"/>
            <a:ext cx="1956391" cy="1873100"/>
            <a:chOff x="1584251" y="4282513"/>
            <a:chExt cx="1956391" cy="1873100"/>
          </a:xfrm>
        </p:grpSpPr>
        <p:sp>
          <p:nvSpPr>
            <p:cNvPr id="50" name="Rectangle 49">
              <a:extLst>
                <a:ext uri="{FF2B5EF4-FFF2-40B4-BE49-F238E27FC236}">
                  <a16:creationId xmlns:a16="http://schemas.microsoft.com/office/drawing/2014/main" id="{181CCADE-C10B-1A99-F4C5-A9D85B6AA86F}"/>
                </a:ext>
              </a:extLst>
            </p:cNvPr>
            <p:cNvSpPr/>
            <p:nvPr/>
          </p:nvSpPr>
          <p:spPr>
            <a:xfrm>
              <a:off x="1584251" y="4282513"/>
              <a:ext cx="1956391" cy="18731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algn="ctr"/>
              <a:r>
                <a:rPr lang="de-DE" dirty="0"/>
                <a:t>Old System</a:t>
              </a:r>
            </a:p>
          </p:txBody>
        </p:sp>
        <p:pic>
          <p:nvPicPr>
            <p:cNvPr id="51" name="Picture 50">
              <a:extLst>
                <a:ext uri="{FF2B5EF4-FFF2-40B4-BE49-F238E27FC236}">
                  <a16:creationId xmlns:a16="http://schemas.microsoft.com/office/drawing/2014/main" id="{1D1504AA-D339-A7A7-6DDF-2AB217A9CB22}"/>
                </a:ext>
              </a:extLst>
            </p:cNvPr>
            <p:cNvPicPr>
              <a:picLocks noChangeAspect="1"/>
            </p:cNvPicPr>
            <p:nvPr/>
          </p:nvPicPr>
          <p:blipFill>
            <a:blip r:embed="rId4"/>
            <a:stretch>
              <a:fillRect/>
            </a:stretch>
          </p:blipFill>
          <p:spPr>
            <a:xfrm>
              <a:off x="1729659" y="4773104"/>
              <a:ext cx="1665573" cy="1181128"/>
            </a:xfrm>
            <a:prstGeom prst="rect">
              <a:avLst/>
            </a:prstGeom>
          </p:spPr>
        </p:pic>
      </p:grpSp>
      <p:sp>
        <p:nvSpPr>
          <p:cNvPr id="13" name="Slide Number Placeholder 12">
            <a:extLst>
              <a:ext uri="{FF2B5EF4-FFF2-40B4-BE49-F238E27FC236}">
                <a16:creationId xmlns:a16="http://schemas.microsoft.com/office/drawing/2014/main" id="{B5FBA08F-642E-A95C-D89C-3D6ADF214E42}"/>
              </a:ext>
            </a:extLst>
          </p:cNvPr>
          <p:cNvSpPr>
            <a:spLocks noGrp="1"/>
          </p:cNvSpPr>
          <p:nvPr>
            <p:ph type="sldNum" sz="quarter" idx="12"/>
          </p:nvPr>
        </p:nvSpPr>
        <p:spPr/>
        <p:txBody>
          <a:bodyPr/>
          <a:lstStyle/>
          <a:p>
            <a:fld id="{EE37D961-4667-421C-914A-80EB01B4E571}" type="slidenum">
              <a:rPr lang="de-DE" smtClean="0"/>
              <a:t>9</a:t>
            </a:fld>
            <a:endParaRPr lang="de-DE"/>
          </a:p>
        </p:txBody>
      </p:sp>
    </p:spTree>
    <p:extLst>
      <p:ext uri="{BB962C8B-B14F-4D97-AF65-F5344CB8AC3E}">
        <p14:creationId xmlns:p14="http://schemas.microsoft.com/office/powerpoint/2010/main" val="2941317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anim calcmode="lin" valueType="num">
                                      <p:cBhvr>
                                        <p:cTn id="8" dur="500" fill="hold"/>
                                        <p:tgtEl>
                                          <p:spTgt spid="49"/>
                                        </p:tgtEl>
                                        <p:attrNameLst>
                                          <p:attrName>ppt_x</p:attrName>
                                        </p:attrNameLst>
                                      </p:cBhvr>
                                      <p:tavLst>
                                        <p:tav tm="0">
                                          <p:val>
                                            <p:strVal val="#ppt_x"/>
                                          </p:val>
                                        </p:tav>
                                        <p:tav tm="100000">
                                          <p:val>
                                            <p:strVal val="#ppt_x"/>
                                          </p:val>
                                        </p:tav>
                                      </p:tavLst>
                                    </p:anim>
                                    <p:anim calcmode="lin" valueType="num">
                                      <p:cBhvr>
                                        <p:cTn id="9" dur="500" fill="hold"/>
                                        <p:tgtEl>
                                          <p:spTgt spid="4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500"/>
                                        <p:tgtEl>
                                          <p:spTgt spid="35"/>
                                        </p:tgtEl>
                                      </p:cBhvr>
                                    </p:animEffect>
                                    <p:anim calcmode="lin" valueType="num">
                                      <p:cBhvr>
                                        <p:cTn id="14" dur="500" fill="hold"/>
                                        <p:tgtEl>
                                          <p:spTgt spid="35"/>
                                        </p:tgtEl>
                                        <p:attrNameLst>
                                          <p:attrName>ppt_x</p:attrName>
                                        </p:attrNameLst>
                                      </p:cBhvr>
                                      <p:tavLst>
                                        <p:tav tm="0">
                                          <p:val>
                                            <p:strVal val="#ppt_x"/>
                                          </p:val>
                                        </p:tav>
                                        <p:tav tm="100000">
                                          <p:val>
                                            <p:strVal val="#ppt_x"/>
                                          </p:val>
                                        </p:tav>
                                      </p:tavLst>
                                    </p:anim>
                                    <p:anim calcmode="lin" valueType="num">
                                      <p:cBhvr>
                                        <p:cTn id="15" dur="500" fill="hold"/>
                                        <p:tgtEl>
                                          <p:spTgt spid="3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fade">
                                      <p:cBhvr>
                                        <p:cTn id="19" dur="500"/>
                                        <p:tgtEl>
                                          <p:spTgt spid="52"/>
                                        </p:tgtEl>
                                      </p:cBhvr>
                                    </p:animEffect>
                                    <p:anim calcmode="lin" valueType="num">
                                      <p:cBhvr>
                                        <p:cTn id="20" dur="500" fill="hold"/>
                                        <p:tgtEl>
                                          <p:spTgt spid="52"/>
                                        </p:tgtEl>
                                        <p:attrNameLst>
                                          <p:attrName>ppt_x</p:attrName>
                                        </p:attrNameLst>
                                      </p:cBhvr>
                                      <p:tavLst>
                                        <p:tav tm="0">
                                          <p:val>
                                            <p:strVal val="#ppt_x"/>
                                          </p:val>
                                        </p:tav>
                                        <p:tav tm="100000">
                                          <p:val>
                                            <p:strVal val="#ppt_x"/>
                                          </p:val>
                                        </p:tav>
                                      </p:tavLst>
                                    </p:anim>
                                    <p:anim calcmode="lin" valueType="num">
                                      <p:cBhvr>
                                        <p:cTn id="21" dur="500" fill="hold"/>
                                        <p:tgtEl>
                                          <p:spTgt spid="52"/>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anim calcmode="lin" valueType="num">
                                      <p:cBhvr>
                                        <p:cTn id="26" dur="500" fill="hold"/>
                                        <p:tgtEl>
                                          <p:spTgt spid="31"/>
                                        </p:tgtEl>
                                        <p:attrNameLst>
                                          <p:attrName>ppt_x</p:attrName>
                                        </p:attrNameLst>
                                      </p:cBhvr>
                                      <p:tavLst>
                                        <p:tav tm="0">
                                          <p:val>
                                            <p:strVal val="#ppt_x"/>
                                          </p:val>
                                        </p:tav>
                                        <p:tav tm="100000">
                                          <p:val>
                                            <p:strVal val="#ppt_x"/>
                                          </p:val>
                                        </p:tav>
                                      </p:tavLst>
                                    </p:anim>
                                    <p:anim calcmode="lin" valueType="num">
                                      <p:cBhvr>
                                        <p:cTn id="27"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3238F-23CC-904E-8171-3EB0A1FADAC8}"/>
              </a:ext>
            </a:extLst>
          </p:cNvPr>
          <p:cNvSpPr>
            <a:spLocks noGrp="1"/>
          </p:cNvSpPr>
          <p:nvPr>
            <p:ph type="title"/>
          </p:nvPr>
        </p:nvSpPr>
        <p:spPr/>
        <p:txBody>
          <a:bodyPr/>
          <a:lstStyle/>
          <a:p>
            <a:r>
              <a:rPr lang="en-GB" cap="none" noProof="0" dirty="0"/>
              <a:t>References</a:t>
            </a:r>
          </a:p>
        </p:txBody>
      </p:sp>
      <p:sp>
        <p:nvSpPr>
          <p:cNvPr id="3" name="Content Placeholder 2">
            <a:extLst>
              <a:ext uri="{FF2B5EF4-FFF2-40B4-BE49-F238E27FC236}">
                <a16:creationId xmlns:a16="http://schemas.microsoft.com/office/drawing/2014/main" id="{CBE0125B-742B-CCF9-261B-DBD5C4C17887}"/>
              </a:ext>
            </a:extLst>
          </p:cNvPr>
          <p:cNvSpPr>
            <a:spLocks noGrp="1"/>
          </p:cNvSpPr>
          <p:nvPr>
            <p:ph idx="1"/>
          </p:nvPr>
        </p:nvSpPr>
        <p:spPr/>
        <p:txBody>
          <a:bodyPr>
            <a:normAutofit/>
          </a:bodyPr>
          <a:lstStyle/>
          <a:p>
            <a:r>
              <a:rPr lang="de-DE" sz="2400" dirty="0"/>
              <a:t>Alda, S. (n.d.). Migration von Software – eine allgemeine Einführung. </a:t>
            </a:r>
            <a:r>
              <a:rPr lang="de-DE" sz="2400" i="1" dirty="0"/>
              <a:t>Lecture of Object-Oriented Component Architectures (OOKA) Renamed to Service-Oriented Component Architectures (SEKA)</a:t>
            </a:r>
            <a:r>
              <a:rPr lang="de-DE" sz="2400" dirty="0"/>
              <a:t>. Lecture of Object-Oriented Component Architectures (OOKA).</a:t>
            </a:r>
          </a:p>
          <a:p>
            <a:r>
              <a:rPr lang="de-DE" sz="2400" dirty="0"/>
              <a:t>Wagner, C. (2014). </a:t>
            </a:r>
            <a:r>
              <a:rPr lang="de-DE" sz="2400" i="1" dirty="0"/>
              <a:t>Model-Driven Software Migration: A Methodology: Reengineering, Recovery and Modernization of Legacy Systems</a:t>
            </a:r>
            <a:r>
              <a:rPr lang="de-DE" sz="2400" dirty="0"/>
              <a:t>. Springer Fachmedien Wiesbaden. </a:t>
            </a:r>
            <a:r>
              <a:rPr lang="de-DE" sz="2400" dirty="0">
                <a:hlinkClick r:id="rId3"/>
              </a:rPr>
              <a:t>https://doi.org/10.1007/978-3-658-05270-6</a:t>
            </a:r>
            <a:endParaRPr lang="en-GB" sz="2400" dirty="0"/>
          </a:p>
          <a:p>
            <a:r>
              <a:rPr lang="en-GB" sz="2400" dirty="0"/>
              <a:t>Google Gemini AI for creating images. </a:t>
            </a:r>
            <a:r>
              <a:rPr lang="en-GB" sz="2400" dirty="0">
                <a:hlinkClick r:id="rId4"/>
              </a:rPr>
              <a:t>https://gemini.google.com/</a:t>
            </a:r>
            <a:endParaRPr lang="de-DE" sz="2400" dirty="0"/>
          </a:p>
        </p:txBody>
      </p:sp>
      <p:sp>
        <p:nvSpPr>
          <p:cNvPr id="4" name="Slide Number Placeholder 3">
            <a:extLst>
              <a:ext uri="{FF2B5EF4-FFF2-40B4-BE49-F238E27FC236}">
                <a16:creationId xmlns:a16="http://schemas.microsoft.com/office/drawing/2014/main" id="{48F97477-64E6-1710-8DED-7D5128BE74B3}"/>
              </a:ext>
            </a:extLst>
          </p:cNvPr>
          <p:cNvSpPr>
            <a:spLocks noGrp="1"/>
          </p:cNvSpPr>
          <p:nvPr>
            <p:ph type="sldNum" sz="quarter" idx="12"/>
          </p:nvPr>
        </p:nvSpPr>
        <p:spPr/>
        <p:txBody>
          <a:bodyPr/>
          <a:lstStyle/>
          <a:p>
            <a:fld id="{EE37D961-4667-421C-914A-80EB01B4E571}" type="slidenum">
              <a:rPr lang="de-DE" smtClean="0"/>
              <a:t>10</a:t>
            </a:fld>
            <a:endParaRPr lang="de-DE"/>
          </a:p>
        </p:txBody>
      </p:sp>
    </p:spTree>
    <p:extLst>
      <p:ext uri="{BB962C8B-B14F-4D97-AF65-F5344CB8AC3E}">
        <p14:creationId xmlns:p14="http://schemas.microsoft.com/office/powerpoint/2010/main" val="2004004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F876D71-8929-5D8C-47AA-BEF7206B3D7A}"/>
              </a:ext>
            </a:extLst>
          </p:cNvPr>
          <p:cNvSpPr>
            <a:spLocks noGrp="1"/>
          </p:cNvSpPr>
          <p:nvPr>
            <p:ph sz="quarter" idx="14"/>
          </p:nvPr>
        </p:nvSpPr>
        <p:spPr>
          <a:xfrm>
            <a:off x="533400" y="1228591"/>
            <a:ext cx="11125200" cy="2688265"/>
          </a:xfrm>
        </p:spPr>
        <p:txBody>
          <a:bodyPr>
            <a:normAutofit/>
          </a:bodyPr>
          <a:lstStyle/>
          <a:p>
            <a:pPr algn="ctr"/>
            <a:r>
              <a:rPr lang="en-GB" sz="5400" noProof="0" dirty="0"/>
              <a:t>Thank you for your attention !!</a:t>
            </a:r>
          </a:p>
          <a:p>
            <a:pPr algn="ctr"/>
            <a:endParaRPr lang="en-GB" sz="4400" noProof="0" dirty="0"/>
          </a:p>
          <a:p>
            <a:pPr algn="ctr"/>
            <a:r>
              <a:rPr lang="en-GB" sz="3600" noProof="0" dirty="0"/>
              <a:t>I am now open for questions.</a:t>
            </a:r>
          </a:p>
        </p:txBody>
      </p:sp>
      <p:pic>
        <p:nvPicPr>
          <p:cNvPr id="9" name="Picture 8">
            <a:extLst>
              <a:ext uri="{FF2B5EF4-FFF2-40B4-BE49-F238E27FC236}">
                <a16:creationId xmlns:a16="http://schemas.microsoft.com/office/drawing/2014/main" id="{4FE36125-D7AA-673E-874D-AFA041E6C14C}"/>
              </a:ext>
            </a:extLst>
          </p:cNvPr>
          <p:cNvPicPr>
            <a:picLocks noChangeAspect="1"/>
          </p:cNvPicPr>
          <p:nvPr/>
        </p:nvPicPr>
        <p:blipFill>
          <a:blip r:embed="rId3"/>
          <a:stretch>
            <a:fillRect/>
          </a:stretch>
        </p:blipFill>
        <p:spPr>
          <a:xfrm>
            <a:off x="8430105" y="5738441"/>
            <a:ext cx="3859102" cy="506012"/>
          </a:xfrm>
          <a:prstGeom prst="rect">
            <a:avLst/>
          </a:prstGeom>
        </p:spPr>
      </p:pic>
    </p:spTree>
    <p:extLst>
      <p:ext uri="{BB962C8B-B14F-4D97-AF65-F5344CB8AC3E}">
        <p14:creationId xmlns:p14="http://schemas.microsoft.com/office/powerpoint/2010/main" val="3205605679"/>
      </p:ext>
    </p:extLst>
  </p:cSld>
  <p:clrMapOvr>
    <a:masterClrMapping/>
  </p:clrMapOvr>
</p:sld>
</file>

<file path=ppt/theme/theme1.xml><?xml version="1.0" encoding="utf-8"?>
<a:theme xmlns:a="http://schemas.openxmlformats.org/drawingml/2006/main" name="Modulo">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 id="{37AC43F2-9181-4AE3-B669-CCC580C183C1}" vid="{7A2AE0A7-E8DE-4D1D-AEB1-3FD192448292}"/>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Modulo</Template>
  <TotalTime>0</TotalTime>
  <Words>1023</Words>
  <Application>Microsoft Office PowerPoint</Application>
  <PresentationFormat>Widescreen</PresentationFormat>
  <Paragraphs>115</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Aptos</vt:lpstr>
      <vt:lpstr>Arial</vt:lpstr>
      <vt:lpstr>Modulo</vt:lpstr>
      <vt:lpstr>Software Migration</vt:lpstr>
      <vt:lpstr>Software Migration</vt:lpstr>
      <vt:lpstr>Software Migration</vt:lpstr>
      <vt:lpstr>Outline</vt:lpstr>
      <vt:lpstr>Software Migration</vt:lpstr>
      <vt:lpstr>Software Migration</vt:lpstr>
      <vt:lpstr>Software Migration</vt:lpstr>
      <vt:lpstr>Software Migration</vt:lpstr>
      <vt:lpstr>Software Migration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Ley, Alexander</dc:creator>
  <cp:lastModifiedBy>Ley, Alexander</cp:lastModifiedBy>
  <cp:revision>12</cp:revision>
  <dcterms:created xsi:type="dcterms:W3CDTF">2026-09-24T14:17:40Z</dcterms:created>
  <dcterms:modified xsi:type="dcterms:W3CDTF">2026-09-25T04:08:08Z</dcterms:modified>
</cp:coreProperties>
</file>