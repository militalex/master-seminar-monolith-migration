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748" r:id="rId2"/>
  </p:sldMasterIdLst>
  <p:notesMasterIdLst>
    <p:notesMasterId r:id="rId24"/>
  </p:notesMasterIdLst>
  <p:handoutMasterIdLst>
    <p:handoutMasterId r:id="rId25"/>
  </p:handoutMasterIdLst>
  <p:sldIdLst>
    <p:sldId id="400" r:id="rId3"/>
    <p:sldId id="492" r:id="rId4"/>
    <p:sldId id="490" r:id="rId5"/>
    <p:sldId id="484" r:id="rId6"/>
    <p:sldId id="493" r:id="rId7"/>
    <p:sldId id="485" r:id="rId8"/>
    <p:sldId id="476" r:id="rId9"/>
    <p:sldId id="477" r:id="rId10"/>
    <p:sldId id="475" r:id="rId11"/>
    <p:sldId id="479" r:id="rId12"/>
    <p:sldId id="487" r:id="rId13"/>
    <p:sldId id="480" r:id="rId14"/>
    <p:sldId id="486" r:id="rId15"/>
    <p:sldId id="483" r:id="rId16"/>
    <p:sldId id="478" r:id="rId17"/>
    <p:sldId id="470" r:id="rId18"/>
    <p:sldId id="471" r:id="rId19"/>
    <p:sldId id="472" r:id="rId20"/>
    <p:sldId id="473" r:id="rId21"/>
    <p:sldId id="488" r:id="rId22"/>
    <p:sldId id="491" r:id="rId23"/>
  </p:sldIdLst>
  <p:sldSz cx="9906000" cy="6858000" type="A4"/>
  <p:notesSz cx="6797675" cy="9928225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Frutiger 45 Ligh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5751">
          <p15:clr>
            <a:srgbClr val="A4A3A4"/>
          </p15:clr>
        </p15:guide>
        <p15:guide id="3" pos="308" userDrawn="1">
          <p15:clr>
            <a:srgbClr val="A4A3A4"/>
          </p15:clr>
        </p15:guide>
        <p15:guide id="4" orient="horz" pos="1434" userDrawn="1">
          <p15:clr>
            <a:srgbClr val="A4A3A4"/>
          </p15:clr>
        </p15:guide>
        <p15:guide id="5" orient="horz" pos="1253" userDrawn="1">
          <p15:clr>
            <a:srgbClr val="A4A3A4"/>
          </p15:clr>
        </p15:guide>
        <p15:guide id="6" orient="horz" pos="40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44" userDrawn="1">
          <p15:clr>
            <a:srgbClr val="A4A3A4"/>
          </p15:clr>
        </p15:guide>
        <p15:guide id="2" pos="285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lacke, Michael Andreas" initials="FMA" lastIdx="7" clrIdx="0"/>
  <p:cmAuthor id="1" name="Melanie Kloess" initials="MK" lastIdx="1" clrIdx="1">
    <p:extLst>
      <p:ext uri="{19B8F6BF-5375-455C-9EA6-DF929625EA0E}">
        <p15:presenceInfo xmlns:p15="http://schemas.microsoft.com/office/powerpoint/2012/main" userId="S-1-5-21-3509497714-3372949893-659068693-11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E88"/>
    <a:srgbClr val="DF7F7F"/>
    <a:srgbClr val="D1EDFF"/>
    <a:srgbClr val="47B9FF"/>
    <a:srgbClr val="F6F6F6"/>
    <a:srgbClr val="EAEAEA"/>
    <a:srgbClr val="4CA329"/>
    <a:srgbClr val="A4C400"/>
    <a:srgbClr val="DA7726"/>
    <a:srgbClr val="A1C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61037" autoAdjust="0"/>
  </p:normalViewPr>
  <p:slideViewPr>
    <p:cSldViewPr>
      <p:cViewPr varScale="1">
        <p:scale>
          <a:sx n="61" d="100"/>
          <a:sy n="61" d="100"/>
        </p:scale>
        <p:origin x="2417" y="45"/>
      </p:cViewPr>
      <p:guideLst>
        <p:guide orient="horz" pos="754"/>
        <p:guide pos="5751"/>
        <p:guide pos="308"/>
        <p:guide orient="horz" pos="1434"/>
        <p:guide orient="horz" pos="1253"/>
        <p:guide orient="horz" pos="4065"/>
      </p:guideLst>
    </p:cSldViewPr>
  </p:slideViewPr>
  <p:outlineViewPr>
    <p:cViewPr>
      <p:scale>
        <a:sx n="33" d="100"/>
        <a:sy n="33" d="100"/>
      </p:scale>
      <p:origin x="0" y="-2016"/>
    </p:cViewPr>
  </p:outlineViewPr>
  <p:notesTextViewPr>
    <p:cViewPr>
      <p:scale>
        <a:sx n="150" d="100"/>
        <a:sy n="150" d="100"/>
      </p:scale>
      <p:origin x="-6" y="-18"/>
    </p:cViewPr>
  </p:notesTextViewPr>
  <p:sorterViewPr>
    <p:cViewPr>
      <p:scale>
        <a:sx n="110" d="100"/>
        <a:sy n="11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954" y="108"/>
      </p:cViewPr>
      <p:guideLst>
        <p:guide orient="horz" pos="2344"/>
        <p:guide pos="285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400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1" tIns="0" rIns="19251" bIns="0" numCol="1" anchor="t" anchorCtr="0" compatLnSpc="1">
            <a:prstTxWarp prst="textNoShape">
              <a:avLst/>
            </a:prstTxWarp>
          </a:bodyPr>
          <a:lstStyle>
            <a:lvl1pPr defTabSz="770343">
              <a:defRPr sz="1000" i="1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1"/>
            <a:ext cx="2946400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1" tIns="0" rIns="19251" bIns="0" numCol="1" anchor="t" anchorCtr="0" compatLnSpc="1">
            <a:prstTxWarp prst="textNoShape">
              <a:avLst/>
            </a:prstTxWarp>
          </a:bodyPr>
          <a:lstStyle>
            <a:lvl1pPr algn="r" defTabSz="770343">
              <a:defRPr sz="1000" i="1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846"/>
            <a:ext cx="2946400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1" tIns="0" rIns="19251" bIns="0" numCol="1" anchor="b" anchorCtr="0" compatLnSpc="1">
            <a:prstTxWarp prst="textNoShape">
              <a:avLst/>
            </a:prstTxWarp>
          </a:bodyPr>
          <a:lstStyle>
            <a:lvl1pPr defTabSz="770343">
              <a:defRPr sz="1000" i="1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846"/>
            <a:ext cx="2946400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1" tIns="0" rIns="19251" bIns="0" numCol="1" anchor="b" anchorCtr="0" compatLnSpc="1">
            <a:prstTxWarp prst="textNoShape">
              <a:avLst/>
            </a:prstTxWarp>
          </a:bodyPr>
          <a:lstStyle>
            <a:lvl1pPr algn="r" defTabSz="769876">
              <a:defRPr sz="1000" i="1"/>
            </a:lvl1pPr>
          </a:lstStyle>
          <a:p>
            <a:fld id="{172FF127-0D62-4973-AAE9-A37A7305630B}" type="slidenum">
              <a:rPr lang="de-DE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150286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6400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1" tIns="0" rIns="19251" bIns="0" numCol="1" anchor="t" anchorCtr="0" compatLnSpc="1">
            <a:prstTxWarp prst="textNoShape">
              <a:avLst/>
            </a:prstTxWarp>
          </a:bodyPr>
          <a:lstStyle>
            <a:lvl1pPr defTabSz="770343">
              <a:defRPr sz="1000" i="1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1"/>
            <a:ext cx="2946400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1" tIns="0" rIns="19251" bIns="0" numCol="1" anchor="t" anchorCtr="0" compatLnSpc="1">
            <a:prstTxWarp prst="textNoShape">
              <a:avLst/>
            </a:prstTxWarp>
          </a:bodyPr>
          <a:lstStyle>
            <a:lvl1pPr algn="r" defTabSz="770343">
              <a:defRPr sz="1000" i="1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0725" y="750888"/>
            <a:ext cx="5356225" cy="3709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5630"/>
            <a:ext cx="4984750" cy="4469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42" tIns="46523" rIns="93042" bIns="465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846"/>
            <a:ext cx="2946400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1" tIns="0" rIns="19251" bIns="0" numCol="1" anchor="b" anchorCtr="0" compatLnSpc="1">
            <a:prstTxWarp prst="textNoShape">
              <a:avLst/>
            </a:prstTxWarp>
          </a:bodyPr>
          <a:lstStyle>
            <a:lvl1pPr defTabSz="770343">
              <a:defRPr sz="1000" i="1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846"/>
            <a:ext cx="2946400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51" tIns="0" rIns="19251" bIns="0" numCol="1" anchor="b" anchorCtr="0" compatLnSpc="1">
            <a:prstTxWarp prst="textNoShape">
              <a:avLst/>
            </a:prstTxWarp>
          </a:bodyPr>
          <a:lstStyle>
            <a:lvl1pPr algn="r" defTabSz="769876">
              <a:defRPr sz="1000" i="1"/>
            </a:lvl1pPr>
          </a:lstStyle>
          <a:p>
            <a:fld id="{5076CD0E-A5BC-4722-8A90-D15F409153DB}" type="slidenum">
              <a:rPr lang="de-DE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59062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utiger 45 Light" pitchFamily="34" charset="0"/>
        <a:ea typeface="+mn-ea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utiger 45 Light" pitchFamily="34" charset="0"/>
        <a:ea typeface="+mn-ea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utiger 45 Light" pitchFamily="34" charset="0"/>
        <a:ea typeface="+mn-ea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utiger 45 Light" pitchFamily="34" charset="0"/>
        <a:ea typeface="+mn-ea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utiger 45 Light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ezb.uni-regensburg.de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zdb-katalog.de/" TargetMode="Externa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9876">
              <a:defRPr sz="3200">
                <a:solidFill>
                  <a:schemeClr val="tx1"/>
                </a:solidFill>
                <a:latin typeface="Frutiger 45 Light" pitchFamily="34" charset="0"/>
              </a:defRPr>
            </a:lvl1pPr>
            <a:lvl2pPr marL="715905" indent="-274616" defTabSz="769876">
              <a:defRPr sz="3200">
                <a:solidFill>
                  <a:schemeClr val="tx1"/>
                </a:solidFill>
                <a:latin typeface="Frutiger 45 Light" pitchFamily="34" charset="0"/>
              </a:defRPr>
            </a:lvl2pPr>
            <a:lvl3pPr marL="1101636" indent="-219057" defTabSz="769876">
              <a:defRPr sz="3200">
                <a:solidFill>
                  <a:schemeClr val="tx1"/>
                </a:solidFill>
                <a:latin typeface="Frutiger 45 Light" pitchFamily="34" charset="0"/>
              </a:defRPr>
            </a:lvl3pPr>
            <a:lvl4pPr marL="1542925" indent="-219057" defTabSz="769876">
              <a:defRPr sz="3200">
                <a:solidFill>
                  <a:schemeClr val="tx1"/>
                </a:solidFill>
                <a:latin typeface="Frutiger 45 Light" pitchFamily="34" charset="0"/>
              </a:defRPr>
            </a:lvl4pPr>
            <a:lvl5pPr marL="1984213" indent="-219057" defTabSz="769876">
              <a:defRPr sz="3200">
                <a:solidFill>
                  <a:schemeClr val="tx1"/>
                </a:solidFill>
                <a:latin typeface="Frutiger 45 Light" pitchFamily="34" charset="0"/>
              </a:defRPr>
            </a:lvl5pPr>
            <a:lvl6pPr marL="2441376" indent="-219057" defTabSz="769876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itchFamily="34" charset="0"/>
              </a:defRPr>
            </a:lvl6pPr>
            <a:lvl7pPr marL="2898539" indent="-219057" defTabSz="769876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itchFamily="34" charset="0"/>
              </a:defRPr>
            </a:lvl7pPr>
            <a:lvl8pPr marL="3355702" indent="-219057" defTabSz="769876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itchFamily="34" charset="0"/>
              </a:defRPr>
            </a:lvl8pPr>
            <a:lvl9pPr marL="3812865" indent="-219057" defTabSz="769876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itchFamily="34" charset="0"/>
              </a:defRPr>
            </a:lvl9pPr>
          </a:lstStyle>
          <a:p>
            <a:fld id="{D796B915-53F3-4CAB-A241-61CE6147DA53}" type="slidenum">
              <a:rPr lang="de-DE" sz="1000"/>
              <a:pPr/>
              <a:t>1</a:t>
            </a:fld>
            <a:endParaRPr lang="de-DE" sz="1000" dirty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735178">
              <a:defRPr/>
            </a:pPr>
            <a:r>
              <a:rPr lang="de-DE" dirty="0"/>
              <a:t>Bitte</a:t>
            </a:r>
            <a:r>
              <a:rPr lang="de-DE" baseline="0" dirty="0"/>
              <a:t> geben Sie die Folien nicht nach außen. Sie sind für Schulungszwecke für Angehörige der Hochschule Bonn-Rhein-Sieg erstellt worden und enthalten Materialien, die nur für den internen Gebrauch an der HBRS lizenziert sind.</a:t>
            </a:r>
            <a:endParaRPr lang="de-DE" dirty="0"/>
          </a:p>
          <a:p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612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Mapping Study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Snythese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Klassifizierung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Gruppierung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verfügbarer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Studien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→ wo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besteht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Forschungsbedarf</a:t>
            </a:r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Systematische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Reviews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: Qualitative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z.B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. Ansatz auf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Nutzen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Risiken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Auswirkungen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&amp;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andere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Aspekte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untersuchen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) &amp; Quantitative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z.B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Methodenvergleich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) Reviews,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Vollständigkeit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anzustreben</a:t>
            </a:r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Meta-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Analysen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Ursprünglich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Medizin</a:t>
            </a:r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Trotz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Versuch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der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Objektivität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: Menschen →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Interpretationsspielraum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, BIAS; 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Nicht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jedes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Thema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eignet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sich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für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empirische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Studien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Qualität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abhäging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von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Quälität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der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Primärstudien</a:t>
            </a:r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Themen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im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SE: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z.B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. Best Practices /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Methoden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/ Trends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analysieren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; 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de-DE" sz="1200" b="1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Nicht sinnvoll: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aktuelle, hochqualitative SLR existiert;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Nicht machbar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: zu große Anzahl zu analysierende Studien für verfügbare Zeit/Ressourcen; zu wenige qualitative Studien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Vgl. </a:t>
            </a:r>
            <a:r>
              <a:rPr lang="de-DE" sz="11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Kitchenham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, B. et al. (2009) : </a:t>
            </a:r>
            <a:r>
              <a:rPr lang="en-US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Systematic literature reviews in software engineering – A systematic literature review. In Information and Software Technology, Volume 51, Issue 1, 2009, Pages 7-15, ISSN 0950-5849, https://doi.org/10.1016/j.infsof.2008.09.009.</a:t>
            </a:r>
            <a:br>
              <a:rPr lang="en-US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</a:br>
            <a:endParaRPr lang="en-US" sz="11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en-US" sz="1100" dirty="0" err="1"/>
              <a:t>Kitchenham</a:t>
            </a:r>
            <a:r>
              <a:rPr lang="en-US" sz="1100" dirty="0"/>
              <a:t>, B.A., </a:t>
            </a:r>
            <a:r>
              <a:rPr lang="en-US" sz="1100" dirty="0" err="1"/>
              <a:t>Budgen</a:t>
            </a:r>
            <a:r>
              <a:rPr lang="en-US" sz="1100" dirty="0"/>
              <a:t>, D., &amp; Brereton, P. (2015). Evidence-Based Software Engineering and Systematic Reviews (1st ed.). Chapman and Hall/CRC. https://doi.org/10.1201/b19467 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0161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Vorbereitung: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Wie dokumentieren?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Zeitrahmen definieren?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Welche Werkzeuge?</a:t>
            </a:r>
          </a:p>
          <a:p>
            <a:endParaRPr lang="de-DE" dirty="0"/>
          </a:p>
          <a:p>
            <a:r>
              <a:rPr lang="de-DE" b="1" dirty="0"/>
              <a:t>Denken Sie an die Zeit- und Mengenplanung!</a:t>
            </a:r>
          </a:p>
          <a:p>
            <a:endParaRPr lang="de-DE" dirty="0"/>
          </a:p>
          <a:p>
            <a:r>
              <a:rPr lang="de-DE" dirty="0"/>
              <a:t>Protokoll: Dokumentation, wie der Review durchgeführt wird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Hintergrund: Verwandte Reviews, Warum ist die Frage interessant?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Forschungsfrage (RQ)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Suchstrategie:  automatisierte / manuelle Suche, </a:t>
            </a:r>
            <a:r>
              <a:rPr lang="de-DE" dirty="0" err="1"/>
              <a:t>Snowballing</a:t>
            </a:r>
            <a:r>
              <a:rPr lang="de-DE" dirty="0"/>
              <a:t>, Koryphäen … Suchbegriffe etc.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Auswahlkriterien: Iterativ – Erstauswahl z.B. basierend auf Titel, Abstract, Stichwörter – später Auswahl anhand „Volllektüre“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Qualitätskriterien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Datengewinnung: welche Daten/Informationen werden extrahiert, wie gespeichert?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Datenverarbeitung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Grenzen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Organisatorische Informationen: relevant, wenn SLR z.B. als Paper veröffentlich wird.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Review Management: Welche Entscheidungen wurden sonst noch so getroffen?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Vgl. </a:t>
            </a:r>
            <a:r>
              <a:rPr lang="en-US" sz="1200" dirty="0" err="1"/>
              <a:t>Kitchenham</a:t>
            </a:r>
            <a:r>
              <a:rPr lang="en-US" sz="1200" dirty="0"/>
              <a:t>, B.A., </a:t>
            </a:r>
            <a:r>
              <a:rPr lang="en-US" sz="1200" dirty="0" err="1"/>
              <a:t>Budgen</a:t>
            </a:r>
            <a:r>
              <a:rPr lang="en-US" sz="1200" dirty="0"/>
              <a:t>, D., &amp; Brereton, P. (2015). Evidence-Based Software Engineering and Systematic Reviews (1st ed.). Chapman and Hall/CRC. https://doi.org/10.1201/b19467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Vgl. Carrera-Rivera, A. et al.: </a:t>
            </a:r>
            <a:r>
              <a:rPr lang="en-US" dirty="0"/>
              <a:t>How-to conduct a systematic literature review: A quick guide for computer science research. In: </a:t>
            </a:r>
            <a:r>
              <a:rPr lang="en-US" dirty="0" err="1"/>
              <a:t>MethodsX</a:t>
            </a:r>
            <a:r>
              <a:rPr lang="en-US" dirty="0"/>
              <a:t>, Volume 9, 2022, 101895, ISSN 2215-0161, https://doi.org/10.1016/j.mex.2022.101895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6610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Basierend auf Ihrer Forschungsfrage: Welche Informationen benötigen Sie, um diese die Forschungsfrage (RQ) zu beantworten? Wie müssen die Daten verarbeitet werden?</a:t>
            </a:r>
          </a:p>
          <a:p>
            <a:endParaRPr lang="de-DE" dirty="0"/>
          </a:p>
          <a:p>
            <a:r>
              <a:rPr lang="de-DE" dirty="0"/>
              <a:t>* Grundlagen: Etabliertes Wissen -&gt; Lehrbücher</a:t>
            </a:r>
          </a:p>
          <a:p>
            <a:r>
              <a:rPr lang="de-DE" dirty="0"/>
              <a:t>* Aktueller Stand der Technik -&gt; Patente </a:t>
            </a:r>
          </a:p>
          <a:p>
            <a:r>
              <a:rPr lang="de-DE" dirty="0"/>
              <a:t>* Aktueller Stand der Wissenschaft -&gt; Wissenschaftliche Journale (Artikel / Journal), Konferenzbeiträge (Conference Notes / Proceedings)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/>
              <a:t>Peer Review: Qualitätsmaßnahme bei wissenschaftlichen Journals – Beiträge werden vor Veröffentlichung von Kollegen aus der Fachcommunity geprüft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/>
              <a:t>Preprint: Artikel werden publiziert, bevor die offizielle Begutachtung (Peer Review) statt gefunden hat.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/>
              <a:t>Open Access: Beiträge werden so veröffentlicht, dass jeder darauf zugreifen kann, ohne dass Journal bezahlt wurde. Sagt nichts über die Qualität aus, sondern nur über die Zugänglichkeit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/>
              <a:t>Review Artikel: Thematische Übersichtsartikel (sehr nützlich zum Einarbeiten und um einen Überblick über ein Thema zu erhalten – Achtung: Publikationsdatum)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/>
              <a:t>! Graue Literatur: Werke, die nicht über den Buchhandel erhältlich sind, z.B. auf Firmenwebseiten veröffentlichte Whitepaper, in Hochschulrepositorien veröffentlichte Abschlussarbeiten, Handreichungen von Behörden, Privatdrucke oder Blogeinträge.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de-DE" dirty="0"/>
              <a:t>* Statistiken oder Datensätze? auch mitpubliziert als zusätzliches Material bei </a:t>
            </a:r>
            <a:r>
              <a:rPr lang="de-DE" dirty="0" err="1"/>
              <a:t>Papern</a:t>
            </a:r>
            <a:r>
              <a:rPr lang="de-DE" dirty="0"/>
              <a:t>, ansonsten spezielle Datenbanken wie z.B. Statista oder Forschungsdatenrepositorien wie </a:t>
            </a:r>
            <a:r>
              <a:rPr lang="de-DE" dirty="0" err="1"/>
              <a:t>Zenodo</a:t>
            </a:r>
            <a:r>
              <a:rPr lang="de-DE" dirty="0"/>
              <a:t> (https://zenodo.org/)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de-DE" dirty="0"/>
              <a:t>* Normen/Standards: direkte Recherche in </a:t>
            </a:r>
            <a:r>
              <a:rPr lang="de-DE" dirty="0" err="1"/>
              <a:t>Nautos</a:t>
            </a:r>
            <a:r>
              <a:rPr lang="de-DE" dirty="0"/>
              <a:t> (https://nautos.de/V2X/search), IEEE Standards (https://ieeexplore.ieee.org/browse/standards/collection/ieee)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de-DE" dirty="0"/>
          </a:p>
          <a:p>
            <a:pPr marL="0" lvl="0" indent="0">
              <a:buFont typeface="Arial" panose="020B0604020202020204" pitchFamily="34" charset="0"/>
              <a:buNone/>
            </a:pPr>
            <a:endParaRPr lang="de-DE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de-DE" dirty="0"/>
              <a:t>Wichtig: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de-DE" dirty="0"/>
              <a:t>Magazine vs. Journals: Redaktioneller Inhalt (</a:t>
            </a:r>
            <a:r>
              <a:rPr lang="de-DE" dirty="0" err="1"/>
              <a:t>c‘t</a:t>
            </a:r>
            <a:r>
              <a:rPr lang="de-DE" dirty="0"/>
              <a:t>, </a:t>
            </a:r>
            <a:r>
              <a:rPr lang="de-DE" dirty="0" err="1"/>
              <a:t>iX</a:t>
            </a:r>
            <a:r>
              <a:rPr lang="de-DE" dirty="0"/>
              <a:t>) vs. Peer Review (</a:t>
            </a:r>
            <a:r>
              <a:rPr lang="de-DE" dirty="0" err="1"/>
              <a:t>Lecture</a:t>
            </a:r>
            <a:r>
              <a:rPr lang="de-DE" dirty="0"/>
              <a:t> Notes in Computer Science)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3078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Mögliche </a:t>
            </a:r>
            <a:r>
              <a:rPr lang="de-DE" dirty="0" err="1"/>
              <a:t>Suchorte</a:t>
            </a:r>
            <a:r>
              <a:rPr lang="de-DE" dirty="0"/>
              <a:t>: </a:t>
            </a:r>
          </a:p>
          <a:p>
            <a:r>
              <a:rPr lang="de-DE" sz="1200" dirty="0"/>
              <a:t>* Fachdatenbanken</a:t>
            </a:r>
          </a:p>
          <a:p>
            <a:r>
              <a:rPr lang="de-DE" sz="1200" dirty="0"/>
              <a:t>* Zitationsdatenbanken</a:t>
            </a:r>
          </a:p>
          <a:p>
            <a:r>
              <a:rPr lang="de-DE" sz="1200" dirty="0"/>
              <a:t>* Verlagsplattformen</a:t>
            </a:r>
          </a:p>
          <a:p>
            <a:r>
              <a:rPr lang="de-DE" sz="1200" dirty="0"/>
              <a:t>* (</a:t>
            </a:r>
            <a:r>
              <a:rPr lang="de-DE" sz="1200" dirty="0" err="1"/>
              <a:t>wis</a:t>
            </a:r>
            <a:r>
              <a:rPr lang="de-DE" sz="1200" dirty="0"/>
              <a:t>.) Suchmaschinen</a:t>
            </a:r>
          </a:p>
          <a:p>
            <a:r>
              <a:rPr lang="de-DE" sz="1200" dirty="0"/>
              <a:t>* Generative und spezialisierte KI Tools</a:t>
            </a:r>
          </a:p>
          <a:p>
            <a:r>
              <a:rPr lang="de-DE" sz="1200" dirty="0"/>
              <a:t>* Preprint-Repositorien</a:t>
            </a:r>
          </a:p>
          <a:p>
            <a:r>
              <a:rPr lang="de-DE" sz="1200" dirty="0"/>
              <a:t>* Hochschul-Repositorien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*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2210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Was Suchmaschinen finden ist abhängig vom Inhalt: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Inhalte aus dem Deep Web (Anbieter-Silos, bei denen die Anbieter kein Interesse haben, dass Ihre Daten (voll) ausgewertet werden) können nicht indiziert werden.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Inhalte, sowie das Ranking der Suchergebnisse sind mehr oder weniger </a:t>
            </a:r>
            <a:r>
              <a:rPr lang="de-DE" dirty="0" err="1"/>
              <a:t>Blackboxen</a:t>
            </a:r>
            <a:r>
              <a:rPr lang="de-DE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Die Suchergebnisse sind i.d.R. individualisiert, Dritte erhalten andere Ergebnisse als Sie. Damit ist eine Reproduzierbarkeit, die so wichtig ist im wissenschaftlichen Diskurs, nicht oder nur sehr schwer möglich.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Auf welchen Trainingsdaten basieren Sprachmodelle? Wie zuverlässig sind die Informationen (Halluzinationen!)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Zitierbarkeit : CRAAP-Test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1" dirty="0"/>
              <a:t>C</a:t>
            </a:r>
            <a:r>
              <a:rPr lang="de-DE" dirty="0"/>
              <a:t>urrency (Wie aktuell ist die Quelle? Wann wurde sie das letzte Mal überarbeitet? Ist sie aktuell genug für Ihr Thema?)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1" dirty="0" err="1"/>
              <a:t>R</a:t>
            </a:r>
            <a:r>
              <a:rPr lang="de-DE" dirty="0" err="1"/>
              <a:t>elevance</a:t>
            </a:r>
            <a:r>
              <a:rPr lang="de-DE" dirty="0"/>
              <a:t> (Wie relevant ist der Inhalt? Intendierte Zielgruppe? 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1" dirty="0"/>
              <a:t>A</a:t>
            </a:r>
            <a:r>
              <a:rPr lang="de-DE" dirty="0"/>
              <a:t>uthority (Wer ist die Autorin/der Autor des Textes? Welchen fachlichen/wissenschaftlichen Hintergrund haben sie?)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1" dirty="0" err="1"/>
              <a:t>A</a:t>
            </a:r>
            <a:r>
              <a:rPr lang="de-DE" dirty="0" err="1"/>
              <a:t>ccuracy</a:t>
            </a:r>
            <a:r>
              <a:rPr lang="de-DE" dirty="0"/>
              <a:t> (Auf welche Informationen wird in der Quelle Bezug genommen? Gibt es Belege gekennzeichnet? Wie ist die Genauigkeit z.B. der Methodik, Überprüfbarkeit, Neutralität, Konsistenz?)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1" dirty="0">
                <a:effectLst/>
              </a:rPr>
              <a:t>P</a:t>
            </a:r>
            <a:r>
              <a:rPr lang="de-DE" dirty="0">
                <a:effectLst/>
              </a:rPr>
              <a:t>urpose, </a:t>
            </a:r>
            <a:r>
              <a:rPr lang="de-DE" b="1" dirty="0">
                <a:effectLst/>
              </a:rPr>
              <a:t>P</a:t>
            </a:r>
            <a:r>
              <a:rPr lang="de-DE" dirty="0">
                <a:effectLst/>
              </a:rPr>
              <a:t>oint </a:t>
            </a:r>
            <a:r>
              <a:rPr lang="de-DE" dirty="0" err="1">
                <a:effectLst/>
              </a:rPr>
              <a:t>of</a:t>
            </a:r>
            <a:r>
              <a:rPr lang="de-DE" dirty="0">
                <a:effectLst/>
              </a:rPr>
              <a:t> View (Steht für die Autorin bzw. den Autor das wissenschaftliche Ergebnis im Vordergrund? Oder geht es darum, persönliche Einstellungen zu präsentieren? Vielleicht werden auch Werbezwecke verfolgt?)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100" dirty="0">
                <a:effectLst/>
              </a:rPr>
              <a:t>Vgl. </a:t>
            </a:r>
            <a:r>
              <a:rPr lang="de-DE" sz="11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Grundtke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-Gräfin von Westarp, L. (2023). CRAAP not </a:t>
            </a:r>
            <a:r>
              <a:rPr lang="de-DE" sz="11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crap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: Kriterien zur Beurteilung wissenschaftlicher Informationsquellen. </a:t>
            </a:r>
            <a:r>
              <a:rPr lang="de-DE" sz="1100" b="0" i="1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API Magazin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, </a:t>
            </a:r>
            <a:r>
              <a:rPr lang="de-DE" sz="1100" b="0" i="1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4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(2). https://doi.org/10.15460/apimagazin.2023.4.2.158 </a:t>
            </a:r>
            <a:b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</a:b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Vgl. Blakeslee, S. (2010). </a:t>
            </a:r>
            <a:r>
              <a:rPr lang="de-DE" sz="11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Evaluating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Information – </a:t>
            </a:r>
            <a:r>
              <a:rPr lang="de-DE" sz="11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Applying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de-DE" sz="11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the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CRAAP Test. </a:t>
            </a:r>
            <a:r>
              <a:rPr lang="de-DE" sz="11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Meriam</a:t>
            </a:r>
            <a:r>
              <a:rPr lang="de-DE" sz="11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Library, California State University, Chico. https://library.csuchico.edu/sites/default/files/craap-test.pdf </a:t>
            </a:r>
            <a:endParaRPr lang="de-DE" sz="1100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Kennen Sie das Thema genug, um dies einschätzen zu können?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Herausforderungen bei KI-Tools</a:t>
            </a:r>
            <a:r>
              <a:rPr lang="de-DE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Halluzinationen → auch hier: wissen Sie genug über das Thema, um fachliche Ungenauigkeiten oder reine Erfindungen erkennen zu können? </a:t>
            </a:r>
          </a:p>
          <a:p>
            <a:pPr marL="171450" marR="0" lvl="0" indent="-17145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 err="1"/>
              <a:t>Biase</a:t>
            </a:r>
            <a:r>
              <a:rPr lang="de-DE" dirty="0"/>
              <a:t> in Trainingsdaten → zusätzlich überlegen, gibt es </a:t>
            </a:r>
            <a:r>
              <a:rPr lang="de-DE" dirty="0" err="1"/>
              <a:t>Beitreiberinteressen</a:t>
            </a:r>
            <a:r>
              <a:rPr lang="de-DE" dirty="0"/>
              <a:t>? </a:t>
            </a:r>
            <a:r>
              <a:rPr lang="de-DE" dirty="0" err="1"/>
              <a:t>False</a:t>
            </a:r>
            <a:r>
              <a:rPr lang="de-DE" dirty="0"/>
              <a:t> sense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confidence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Missalignment</a:t>
            </a:r>
            <a:r>
              <a:rPr lang="de-DE" dirty="0"/>
              <a:t> zwischen Ziel der KI und Ziel des Users → verstehen Sie die Tools als Praktikanten, welche Sie </a:t>
            </a:r>
            <a:r>
              <a:rPr lang="de-DE" b="1" u="sng" dirty="0"/>
              <a:t>gut überwachen</a:t>
            </a:r>
            <a:r>
              <a:rPr lang="de-DE" dirty="0"/>
              <a:t> müssen. Der Output muss </a:t>
            </a:r>
            <a:r>
              <a:rPr lang="de-DE" b="1" u="sng" dirty="0"/>
              <a:t>überprüft</a:t>
            </a:r>
            <a:r>
              <a:rPr lang="de-DE" dirty="0"/>
              <a:t> werden!</a:t>
            </a:r>
          </a:p>
          <a:p>
            <a:pPr marL="171450" marR="0" lvl="0" indent="-17145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Trainingsdaten im spezifischen Feld ausreichend, in guter Qualität und Aktualität vorhanden? → Wie </a:t>
            </a:r>
            <a:r>
              <a:rPr lang="de-DE" b="1" dirty="0"/>
              <a:t>transparent</a:t>
            </a:r>
            <a:r>
              <a:rPr lang="de-DE" dirty="0"/>
              <a:t> ist das Tool? </a:t>
            </a:r>
          </a:p>
          <a:p>
            <a:pPr marL="171450" marR="0" lvl="0" indent="-17145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Und noch mal: </a:t>
            </a:r>
            <a:r>
              <a:rPr lang="de-DE" b="1" dirty="0"/>
              <a:t>Reproduzierbarkeit</a:t>
            </a:r>
            <a:r>
              <a:rPr lang="de-DE" dirty="0"/>
              <a:t>!!! → Top-k </a:t>
            </a:r>
            <a:r>
              <a:rPr lang="de-DE" dirty="0" err="1"/>
              <a:t>sampling</a:t>
            </a:r>
            <a:r>
              <a:rPr lang="de-DE" dirty="0"/>
              <a:t>: Zufällige Auswahl aus den k wahrscheinlichen nächsten Tokens </a:t>
            </a:r>
          </a:p>
          <a:p>
            <a:pPr marL="171450" marR="0" lvl="0" indent="-17145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Vollständigkeit insbesondere bei kostenlosen Versionen mit Beschränkungen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de-DE" dirty="0"/>
            </a:br>
            <a:r>
              <a:rPr lang="de-DE" dirty="0"/>
              <a:t>→ Nützliche Einsatzgebiete z.B. </a:t>
            </a:r>
            <a:r>
              <a:rPr lang="de-DE" dirty="0" err="1"/>
              <a:t>Ideengenieriung</a:t>
            </a:r>
            <a:r>
              <a:rPr lang="de-DE" dirty="0"/>
              <a:t> bzw. erster Ansatz des Query-Buildings </a:t>
            </a:r>
            <a:br>
              <a:rPr lang="de-DE" dirty="0"/>
            </a:br>
            <a:r>
              <a:rPr lang="de-DE" dirty="0"/>
              <a:t>     vgl. Wang, S. et al. : Can ChatGPT Write a </a:t>
            </a:r>
            <a:r>
              <a:rPr lang="de-DE" dirty="0" err="1"/>
              <a:t>Good</a:t>
            </a:r>
            <a:r>
              <a:rPr lang="de-DE" dirty="0"/>
              <a:t> Boolean Query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Systematic</a:t>
            </a:r>
            <a:r>
              <a:rPr lang="de-DE" dirty="0"/>
              <a:t> Review </a:t>
            </a:r>
            <a:r>
              <a:rPr lang="de-DE" dirty="0" err="1"/>
              <a:t>Literature</a:t>
            </a:r>
            <a:r>
              <a:rPr lang="de-DE" dirty="0"/>
              <a:t> Search? In Proceedings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46th International ACM SIGIR Conference on Research and Development in </a:t>
            </a:r>
            <a:r>
              <a:rPr lang="de-DE" dirty="0" err="1"/>
              <a:t>Informatione</a:t>
            </a:r>
            <a:r>
              <a:rPr lang="de-DE" dirty="0"/>
              <a:t> Retrieval, 2023, https://dl.acm.org/doi/10.1145/3539618.3591703 </a:t>
            </a:r>
            <a:br>
              <a:rPr lang="de-DE" dirty="0"/>
            </a:br>
            <a:r>
              <a:rPr lang="de-DE" dirty="0"/>
              <a:t>     auch: Wang, S. et al.: </a:t>
            </a:r>
            <a:r>
              <a:rPr lang="de-DE" dirty="0" err="1"/>
              <a:t>Reassessing</a:t>
            </a:r>
            <a:r>
              <a:rPr lang="de-DE" dirty="0"/>
              <a:t> Large Language Model Boolean Query Generation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Systematic</a:t>
            </a:r>
            <a:r>
              <a:rPr lang="de-DE" dirty="0"/>
              <a:t> Reviews. In Proceedings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48th International ACM SIGIR Conference on Research and Development in Information Retrieval (SIGIR ‚25), 2025. </a:t>
            </a:r>
            <a:r>
              <a:rPr lang="de-DE" dirty="0" err="1"/>
              <a:t>Association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Computing Machinery, 3296–3305. https://doi.org/10.1145/3726302.3730329</a:t>
            </a:r>
            <a:br>
              <a:rPr lang="de-DE" dirty="0"/>
            </a:br>
            <a:br>
              <a:rPr lang="de-DE" dirty="0"/>
            </a:br>
            <a:r>
              <a:rPr lang="de-DE" dirty="0"/>
              <a:t>→ Dokumentieren Sie die Verwendung!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8256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https://bib-discover.bib.h-brs.de</a:t>
            </a:r>
          </a:p>
          <a:p>
            <a:r>
              <a:rPr lang="de-DE" dirty="0"/>
              <a:t>Index enthält Angebote, die von uns lizenziert sind und darüber hinaus. </a:t>
            </a:r>
          </a:p>
          <a:p>
            <a:r>
              <a:rPr lang="de-DE" dirty="0"/>
              <a:t>Achtung!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Unterschiedliche Qualität der Metadaten, da abhängig davon, was Verlage uns für die Erstellung unseres Index zur Verfügung stellen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/>
              <a:t>unterschiedliche Aktualität, manche Anbieter liefern Daten automatisch, anderen erfordern händisches Einspielen der Daten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Nicht alle von der H-BRS lizenzierten Inhalte enthalten, es fehlen z.B. die einzelnen Normen bei </a:t>
            </a:r>
            <a:r>
              <a:rPr lang="de-DE" dirty="0" err="1"/>
              <a:t>Nautos</a:t>
            </a:r>
            <a:r>
              <a:rPr lang="de-DE" dirty="0"/>
              <a:t> → direkte Suche in der Datenbank notwendig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3227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Vorteil von Fachdatenbanken: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Qualitätskontrolle -&gt; insbesondere bei den Datenbanken der Fachgesellschaften.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Suche innerhalb von Journals (Metadaten- &amp; Volltextsuche)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Extra-Features (Recherchewerkzeuge)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4254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IEEE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Xplore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195+ journals, 1,800+ conferences, 9,000+ technical standards, Approximately 2,400 books, 485+ educational courses;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Elektrical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Engineering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breiteres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Themenspektrum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, Hardware,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technische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Standards,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Plattform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einer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Fachgesellschaft</a:t>
            </a:r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ACM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DL: 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Computer Science, </a:t>
            </a:r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The ACM Guide to Computing Literature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bibliographic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database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) , Plattform einer Fachgesellschaft</a:t>
            </a:r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Springer: Verlagsplattform. 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de-DE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EBSCOhost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: Business Source Ultimate (Wirtschaftsaspekte) – Engineering Source, Inhalte der American Psychological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Association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Sociology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; Datenbankanbieter, fachlich kuratierte Inhalte 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Datenbankpacketen</a:t>
            </a:r>
            <a:endParaRPr lang="de-DE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Frutiger 45 Light" pitchFamily="34" charset="0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Web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 Science: Zitationsdatenbank. Multidisziplinarische Datenbank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6519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https://dl.acm.org/</a:t>
            </a:r>
          </a:p>
          <a:p>
            <a:endParaRPr lang="de-DE" dirty="0"/>
          </a:p>
          <a:p>
            <a:r>
              <a:rPr lang="de-DE" dirty="0" err="1"/>
              <a:t>Association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Computing Machinery </a:t>
            </a:r>
          </a:p>
          <a:p>
            <a:r>
              <a:rPr lang="de-DE" dirty="0"/>
              <a:t>ACM </a:t>
            </a:r>
            <a:r>
              <a:rPr lang="de-DE" dirty="0" err="1"/>
              <a:t>Full</a:t>
            </a:r>
            <a:r>
              <a:rPr lang="de-DE" dirty="0"/>
              <a:t>-Text Collection (Volltexte) &amp;</a:t>
            </a:r>
            <a:r>
              <a:rPr lang="de-DE" baseline="0" dirty="0"/>
              <a:t> The ACM Guide </a:t>
            </a:r>
            <a:r>
              <a:rPr lang="de-DE" baseline="0" dirty="0" err="1"/>
              <a:t>to</a:t>
            </a:r>
            <a:r>
              <a:rPr lang="de-DE" baseline="0" dirty="0"/>
              <a:t> Computing </a:t>
            </a:r>
            <a:r>
              <a:rPr lang="de-DE" baseline="0" dirty="0" err="1"/>
              <a:t>Literature</a:t>
            </a:r>
            <a:r>
              <a:rPr lang="de-DE" baseline="0" dirty="0"/>
              <a:t> (Bibliografische Datenbank, d.h. Literaturnachweise)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Filter (z.B. Publications um Typ einzugrenzen) – </a:t>
            </a:r>
            <a:r>
              <a:rPr lang="de-DE" baseline="0" dirty="0" err="1"/>
              <a:t>Reset</a:t>
            </a:r>
            <a:endParaRPr lang="de-DE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 err="1"/>
              <a:t>Advanced</a:t>
            </a:r>
            <a:r>
              <a:rPr lang="de-DE" baseline="0" dirty="0"/>
              <a:t> Search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baseline="0" dirty="0"/>
              <a:t>OR / AND (</a:t>
            </a:r>
            <a:r>
              <a:rPr lang="de-DE" baseline="0" dirty="0" err="1"/>
              <a:t>default</a:t>
            </a:r>
            <a:r>
              <a:rPr lang="de-DE" baseline="0" dirty="0"/>
              <a:t>) / NOT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baseline="0" dirty="0"/>
              <a:t>Phrasen “ “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baseline="0" dirty="0"/>
              <a:t>Wildcards: * : beliebige Anzahl Zeichen,  ? : 1 Zeichen (nicht am Wortanfang)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baseline="0" dirty="0"/>
              <a:t>Filter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baseline="0" dirty="0"/>
              <a:t>Export des </a:t>
            </a:r>
            <a:r>
              <a:rPr lang="de-DE" baseline="0" dirty="0" err="1"/>
              <a:t>Queries</a:t>
            </a:r>
            <a:r>
              <a:rPr lang="de-DE" baseline="0" dirty="0"/>
              <a:t> möglich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de-DE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References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 err="1"/>
              <a:t>Cited</a:t>
            </a:r>
            <a:r>
              <a:rPr lang="de-DE" baseline="0" dirty="0"/>
              <a:t> </a:t>
            </a:r>
            <a:r>
              <a:rPr lang="de-DE" baseline="0" dirty="0" err="1"/>
              <a:t>By</a:t>
            </a:r>
            <a:r>
              <a:rPr lang="de-DE" baseline="0" dirty="0"/>
              <a:t> / </a:t>
            </a:r>
            <a:r>
              <a:rPr lang="de-DE" baseline="0" dirty="0" err="1"/>
              <a:t>Bibliometrics</a:t>
            </a:r>
            <a:endParaRPr lang="de-DE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Index Terms (</a:t>
            </a:r>
            <a:r>
              <a:rPr lang="de-DE" baseline="0" dirty="0" err="1"/>
              <a:t>Author</a:t>
            </a:r>
            <a:r>
              <a:rPr lang="de-DE" baseline="0" dirty="0"/>
              <a:t> Keyword [frei] </a:t>
            </a:r>
            <a:r>
              <a:rPr lang="de-DE" baseline="0" dirty="0" err="1"/>
              <a:t>vs</a:t>
            </a:r>
            <a:r>
              <a:rPr lang="de-DE" baseline="0" dirty="0"/>
              <a:t> CSS [kontrollierte Taxonomie])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Autorenprofile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Special Interest Groups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Kostenloser Account: Suchen speichern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baseline="0" dirty="0"/>
              <a:t>Query-Syntax : über erweiterte Suche änderbar  / exportierbar (Reproduzierbarkeit!)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baseline="0" dirty="0"/>
          </a:p>
          <a:p>
            <a:r>
              <a:rPr lang="en-US" b="1" dirty="0"/>
              <a:t>Basic features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Reading all ACM journals, proceedings and magazines</a:t>
            </a:r>
          </a:p>
          <a:p>
            <a:pPr lvl="1"/>
            <a:r>
              <a:rPr lang="en-US" dirty="0"/>
              <a:t>Search</a:t>
            </a:r>
          </a:p>
          <a:p>
            <a:pPr lvl="1"/>
            <a:r>
              <a:rPr lang="en-US" dirty="0"/>
              <a:t>Exporting citations</a:t>
            </a:r>
          </a:p>
          <a:p>
            <a:pPr lvl="1"/>
            <a:r>
              <a:rPr lang="en-US" dirty="0"/>
              <a:t>Email alerts for new journal and magazine content</a:t>
            </a:r>
          </a:p>
          <a:p>
            <a:r>
              <a:rPr lang="en-US" b="1" dirty="0"/>
              <a:t>Premium features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Access to the ACM Guide to Computing Literature</a:t>
            </a:r>
          </a:p>
          <a:p>
            <a:pPr lvl="1"/>
            <a:r>
              <a:rPr lang="en-US" dirty="0"/>
              <a:t>AI-generated article summaries</a:t>
            </a:r>
          </a:p>
          <a:p>
            <a:pPr lvl="1"/>
            <a:r>
              <a:rPr lang="en-US" dirty="0"/>
              <a:t>Podcast-style summaries of conference sessions</a:t>
            </a:r>
          </a:p>
          <a:p>
            <a:pPr lvl="1"/>
            <a:r>
              <a:rPr lang="en-US" dirty="0"/>
              <a:t>Advanced search</a:t>
            </a:r>
          </a:p>
          <a:p>
            <a:pPr lvl="1"/>
            <a:r>
              <a:rPr lang="en-US" dirty="0"/>
              <a:t>Rich article metadata, including download metrics, index terms and citations received</a:t>
            </a:r>
          </a:p>
          <a:p>
            <a:pPr lvl="1"/>
            <a:r>
              <a:rPr lang="en-US" dirty="0"/>
              <a:t>Bulk citation exports and PDF downloads</a:t>
            </a:r>
          </a:p>
          <a:p>
            <a:pPr lvl="1"/>
            <a:r>
              <a:rPr lang="en-US" dirty="0"/>
              <a:t>Saved searches</a:t>
            </a:r>
          </a:p>
          <a:p>
            <a:pPr lvl="1"/>
            <a:r>
              <a:rPr lang="en-US" dirty="0"/>
              <a:t>Save content to shareable binders</a:t>
            </a:r>
          </a:p>
          <a:p>
            <a:pPr lvl="1"/>
            <a:r>
              <a:rPr lang="en-US" dirty="0"/>
              <a:t>Personalized new content alerts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baseline="0" dirty="0"/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0230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de-DE" dirty="0">
                <a:solidFill>
                  <a:schemeClr val="tx1"/>
                </a:solidFill>
              </a:rPr>
              <a:t>Recherchieren Sie in </a:t>
            </a:r>
            <a:r>
              <a:rPr lang="de-DE" sz="1600" dirty="0">
                <a:solidFill>
                  <a:schemeClr val="accent3"/>
                </a:solidFill>
              </a:rPr>
              <a:t>ACM</a:t>
            </a:r>
            <a:r>
              <a:rPr lang="de-DE" dirty="0">
                <a:solidFill>
                  <a:schemeClr val="tx1"/>
                </a:solidFill>
              </a:rPr>
              <a:t> nach </a:t>
            </a:r>
            <a:r>
              <a:rPr lang="de-DE" b="1" dirty="0">
                <a:solidFill>
                  <a:schemeClr val="tx1"/>
                </a:solidFill>
              </a:rPr>
              <a:t>Brain-Computer Interface</a:t>
            </a:r>
            <a:r>
              <a:rPr lang="de-DE" dirty="0">
                <a:solidFill>
                  <a:schemeClr val="tx1"/>
                </a:solidFill>
              </a:rPr>
              <a:t>.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Wie verändert sich das Resultat wenn Sie den Begriff </a:t>
            </a:r>
            <a:r>
              <a:rPr lang="de-DE" sz="1200" dirty="0">
                <a:solidFill>
                  <a:schemeClr val="accent3"/>
                </a:solidFill>
              </a:rPr>
              <a:t>in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de-DE" sz="1200" dirty="0">
                <a:solidFill>
                  <a:schemeClr val="accent3"/>
                </a:solidFill>
              </a:rPr>
              <a:t>Anführungszeichen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setzen?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Suchen Sie </a:t>
            </a:r>
            <a:r>
              <a:rPr lang="de-DE" sz="1200" dirty="0">
                <a:solidFill>
                  <a:schemeClr val="accent3"/>
                </a:solidFill>
              </a:rPr>
              <a:t>zusätzlich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nach der Abkürzung </a:t>
            </a:r>
            <a:r>
              <a:rPr lang="de-DE" sz="1200" b="1" dirty="0">
                <a:solidFill>
                  <a:schemeClr val="tx1"/>
                </a:solidFill>
              </a:rPr>
              <a:t>BCI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. (ODER)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Durchsuchen Sie den </a:t>
            </a:r>
            <a:r>
              <a:rPr lang="de-DE" sz="1200" dirty="0">
                <a:solidFill>
                  <a:schemeClr val="accent3"/>
                </a:solidFill>
              </a:rPr>
              <a:t>ACM Guide </a:t>
            </a:r>
            <a:r>
              <a:rPr lang="de-DE" sz="1200" dirty="0" err="1">
                <a:solidFill>
                  <a:schemeClr val="accent3"/>
                </a:solidFill>
              </a:rPr>
              <a:t>to</a:t>
            </a:r>
            <a:r>
              <a:rPr lang="de-DE" sz="1200" dirty="0">
                <a:solidFill>
                  <a:schemeClr val="accent3"/>
                </a:solidFill>
              </a:rPr>
              <a:t> Computing </a:t>
            </a:r>
            <a:r>
              <a:rPr lang="de-DE" sz="1200" dirty="0" err="1">
                <a:solidFill>
                  <a:schemeClr val="accent3"/>
                </a:solidFill>
              </a:rPr>
              <a:t>Literature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Beschränken Sie das Ergebnis auf </a:t>
            </a:r>
            <a:r>
              <a:rPr lang="de-DE" sz="1200" dirty="0">
                <a:solidFill>
                  <a:schemeClr val="accent3"/>
                </a:solidFill>
              </a:rPr>
              <a:t>Forschungsartikel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Finden Sie einen </a:t>
            </a:r>
            <a:r>
              <a:rPr lang="de-DE" sz="1200" dirty="0">
                <a:solidFill>
                  <a:schemeClr val="accent3"/>
                </a:solidFill>
              </a:rPr>
              <a:t>vielzitierten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Artikel aus den </a:t>
            </a:r>
            <a:r>
              <a:rPr lang="de-DE" sz="1200" dirty="0">
                <a:solidFill>
                  <a:schemeClr val="accent3"/>
                </a:solidFill>
              </a:rPr>
              <a:t>letzten 2 Jahren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Finden Sie, welche anderen Artikel </a:t>
            </a:r>
            <a:r>
              <a:rPr lang="de-DE" sz="1200" dirty="0">
                <a:solidFill>
                  <a:schemeClr val="accent3"/>
                </a:solidFill>
              </a:rPr>
              <a:t>auf ihn verweisen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Nützliche Features: Autoren-Profil (Koryphäen ansehen: </a:t>
            </a:r>
            <a:r>
              <a:rPr lang="de-DE" sz="1200" dirty="0" err="1">
                <a:solidFill>
                  <a:schemeClr val="bg2">
                    <a:lumMod val="75000"/>
                  </a:schemeClr>
                </a:solidFill>
              </a:rPr>
              <a:t>Subject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Areas &amp; Keywords für Ihre eigenen Suchstrings auswerten; in welchen Journals wurde publiziert?; Zitationen?)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8409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baseline="0" dirty="0"/>
              <a:t>https://ieeexplore.ieee.org/</a:t>
            </a:r>
          </a:p>
          <a:p>
            <a:pPr marL="0" indent="0">
              <a:buFontTx/>
              <a:buNone/>
            </a:pPr>
            <a:r>
              <a:rPr lang="en-US" dirty="0"/>
              <a:t>Institute of Electrical and Electronics Engineers (</a:t>
            </a:r>
            <a:r>
              <a:rPr lang="en-US" dirty="0" err="1"/>
              <a:t>sehr</a:t>
            </a:r>
            <a:r>
              <a:rPr lang="en-US" baseline="0" dirty="0"/>
              <a:t> </a:t>
            </a:r>
            <a:r>
              <a:rPr lang="en-US" baseline="0" dirty="0" err="1"/>
              <a:t>großer</a:t>
            </a:r>
            <a:r>
              <a:rPr lang="en-US" baseline="0" dirty="0"/>
              <a:t> </a:t>
            </a:r>
            <a:r>
              <a:rPr lang="en-US" dirty="0" err="1"/>
              <a:t>technischer</a:t>
            </a:r>
            <a:r>
              <a:rPr lang="en-US" dirty="0"/>
              <a:t> </a:t>
            </a:r>
            <a:r>
              <a:rPr lang="en-US" dirty="0" err="1"/>
              <a:t>Berufsverband</a:t>
            </a:r>
            <a:r>
              <a:rPr lang="en-US" dirty="0"/>
              <a:t>; </a:t>
            </a:r>
            <a:r>
              <a:rPr lang="en-US" dirty="0" err="1"/>
              <a:t>Entwickelt</a:t>
            </a:r>
            <a:r>
              <a:rPr lang="en-US" dirty="0"/>
              <a:t> Standards</a:t>
            </a:r>
            <a:r>
              <a:rPr lang="en-US" baseline="0" dirty="0"/>
              <a:t>)</a:t>
            </a:r>
            <a:endParaRPr lang="de-DE" baseline="0" dirty="0"/>
          </a:p>
          <a:p>
            <a:pPr marL="171450" indent="-171450">
              <a:buFontTx/>
              <a:buChar char="-"/>
            </a:pPr>
            <a:r>
              <a:rPr lang="de-DE" baseline="0" dirty="0"/>
              <a:t>Filter</a:t>
            </a:r>
          </a:p>
          <a:p>
            <a:pPr marL="171450" indent="-171450">
              <a:buFontTx/>
              <a:buChar char="-"/>
            </a:pPr>
            <a:r>
              <a:rPr lang="de-DE" baseline="0" dirty="0" err="1"/>
              <a:t>Advanced</a:t>
            </a:r>
            <a:r>
              <a:rPr lang="de-DE" baseline="0" dirty="0"/>
              <a:t> Search (</a:t>
            </a:r>
            <a:r>
              <a:rPr lang="de-DE" baseline="0" dirty="0" err="1"/>
              <a:t>Metadata</a:t>
            </a:r>
            <a:r>
              <a:rPr lang="de-DE" baseline="0" dirty="0"/>
              <a:t> / Volltext)</a:t>
            </a:r>
          </a:p>
          <a:p>
            <a:pPr marL="628650" lvl="1" indent="-171450">
              <a:buFontTx/>
              <a:buChar char="-"/>
            </a:pPr>
            <a:r>
              <a:rPr lang="de-DE" baseline="0" dirty="0"/>
              <a:t>Formular</a:t>
            </a:r>
          </a:p>
          <a:p>
            <a:pPr marL="628650" lvl="1" indent="-171450">
              <a:buFontTx/>
              <a:buChar char="-"/>
            </a:pPr>
            <a:r>
              <a:rPr lang="de-DE" dirty="0"/>
              <a:t>Kommandozeile</a:t>
            </a:r>
            <a:r>
              <a:rPr lang="de-DE" baseline="0" dirty="0"/>
              <a:t>  (AND, OR, NOT, NEAR, ONEAR/# )https://ieeexplore.ieee.org/Xplorehelp/#/searching-ieee-xplore/command-search#summary-of-search-operators; 40 </a:t>
            </a:r>
            <a:r>
              <a:rPr lang="de-DE" baseline="0" dirty="0" err="1"/>
              <a:t>keywords</a:t>
            </a:r>
            <a:endParaRPr lang="de-DE" baseline="0" dirty="0"/>
          </a:p>
          <a:p>
            <a:pPr marL="628650" lvl="1" indent="-171450">
              <a:buFontTx/>
              <a:buChar char="-"/>
            </a:pPr>
            <a:r>
              <a:rPr lang="de-DE" baseline="0" dirty="0" err="1"/>
              <a:t>Phrasing</a:t>
            </a:r>
            <a:r>
              <a:rPr lang="de-DE" baseline="0" dirty="0"/>
              <a:t> : ““ → exakte Suche, d.h. mit * arbeiten für z.B. Plural</a:t>
            </a:r>
          </a:p>
          <a:p>
            <a:pPr marL="628650" lvl="1" indent="-171450">
              <a:buFontTx/>
              <a:buChar char="-"/>
            </a:pPr>
            <a:r>
              <a:rPr lang="de-DE" baseline="0" dirty="0"/>
              <a:t>Platzhalter (Wildcard) * und ? , 3 Satzzeichen benötigt außer bei Autor; maximal 5 </a:t>
            </a:r>
            <a:r>
              <a:rPr lang="de-DE" baseline="0" dirty="0" err="1"/>
              <a:t>Trunkierungen</a:t>
            </a:r>
            <a:endParaRPr lang="de-DE" baseline="0" dirty="0"/>
          </a:p>
          <a:p>
            <a:pPr marL="628650" lvl="1" indent="-171450">
              <a:buFontTx/>
              <a:buChar char="-"/>
            </a:pPr>
            <a:r>
              <a:rPr lang="de-DE" baseline="0" dirty="0"/>
              <a:t>Satzzeichen und gängige </a:t>
            </a:r>
            <a:r>
              <a:rPr lang="de-DE" baseline="0" dirty="0" err="1"/>
              <a:t>Stopwörter</a:t>
            </a:r>
            <a:r>
              <a:rPr lang="de-DE" baseline="0" dirty="0"/>
              <a:t> (</a:t>
            </a:r>
            <a:r>
              <a:rPr lang="de-DE" baseline="0" dirty="0" err="1"/>
              <a:t>the</a:t>
            </a:r>
            <a:r>
              <a:rPr lang="de-DE" baseline="0" dirty="0"/>
              <a:t>, a, </a:t>
            </a:r>
            <a:r>
              <a:rPr lang="de-DE" baseline="0" dirty="0" err="1"/>
              <a:t>of</a:t>
            </a:r>
            <a:r>
              <a:rPr lang="de-DE" baseline="0" dirty="0"/>
              <a:t>…)  werden ignoriert; </a:t>
            </a:r>
            <a:r>
              <a:rPr lang="de-DE" baseline="0" dirty="0" err="1"/>
              <a:t>Stemming</a:t>
            </a:r>
            <a:r>
              <a:rPr lang="de-DE" baseline="0" dirty="0"/>
              <a:t> → es ist ausreichend, einfache Formen anzugeben (Singular) : </a:t>
            </a:r>
            <a:r>
              <a:rPr lang="de-DE" baseline="0" dirty="0" err="1"/>
              <a:t>computer</a:t>
            </a:r>
            <a:r>
              <a:rPr lang="de-DE" baseline="0" dirty="0"/>
              <a:t> findet auch </a:t>
            </a:r>
            <a:r>
              <a:rPr lang="de-DE" baseline="0" dirty="0" err="1"/>
              <a:t>computers</a:t>
            </a:r>
            <a:r>
              <a:rPr lang="de-DE" baseline="0" dirty="0"/>
              <a:t>; AE ↔ BE; I</a:t>
            </a:r>
          </a:p>
          <a:p>
            <a:pPr marL="171450" lvl="0" indent="-171450">
              <a:buFontTx/>
              <a:buChar char="-"/>
            </a:pPr>
            <a:r>
              <a:rPr lang="en-US" b="1" dirty="0"/>
              <a:t>Index Terms</a:t>
            </a:r>
            <a:r>
              <a:rPr lang="en-US" dirty="0"/>
              <a:t> Combined field which allows users to search the Author Keywords, IEEE Terms, INSPEC Terms, and Mesh Terms</a:t>
            </a:r>
          </a:p>
          <a:p>
            <a:pPr marL="628650" lvl="1" indent="-171450">
              <a:buFontTx/>
              <a:buChar char="-"/>
            </a:pPr>
            <a:r>
              <a:rPr lang="de-DE" b="1" dirty="0"/>
              <a:t>IEEE Terms </a:t>
            </a:r>
            <a:r>
              <a:rPr lang="en-US" dirty="0"/>
              <a:t>Keywords assigned to IEEE journal articles and conference papers from a controlled vocabulary created by the IEEE.</a:t>
            </a:r>
          </a:p>
          <a:p>
            <a:pPr marL="628650" lvl="1" indent="-171450">
              <a:buFontTx/>
              <a:buChar char="-"/>
            </a:pPr>
            <a:r>
              <a:rPr lang="de-DE" b="1" dirty="0"/>
              <a:t>INSPEC </a:t>
            </a:r>
            <a:r>
              <a:rPr lang="de-DE" b="1" dirty="0" err="1"/>
              <a:t>Controlled</a:t>
            </a:r>
            <a:r>
              <a:rPr lang="de-DE" b="1" dirty="0"/>
              <a:t> Terms </a:t>
            </a:r>
            <a:r>
              <a:rPr lang="en-US" dirty="0"/>
              <a:t>Keywords assigned to articles from a controlled vocabulary of over 10,000 scientific terms created by INSPEC.</a:t>
            </a:r>
          </a:p>
          <a:p>
            <a:pPr marL="0" lvl="0" indent="0">
              <a:buFontTx/>
              <a:buNone/>
            </a:pPr>
            <a:r>
              <a:rPr lang="en-US" dirty="0"/>
              <a:t>		</a:t>
            </a:r>
          </a:p>
          <a:p>
            <a:pPr marL="0" lvl="0" indent="0">
              <a:buFontTx/>
              <a:buNone/>
            </a:pPr>
            <a:r>
              <a:rPr lang="en-US" dirty="0"/>
              <a:t>Touchscreen</a:t>
            </a:r>
            <a:r>
              <a:rPr lang="en-US" baseline="0" dirty="0"/>
              <a:t> OR “touch screen*” – (haptic / kinesthetic )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4655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de-DE" dirty="0">
                <a:solidFill>
                  <a:schemeClr val="tx1"/>
                </a:solidFill>
              </a:rPr>
              <a:t>Recherchieren Sie in </a:t>
            </a:r>
            <a:r>
              <a:rPr lang="de-DE" sz="1400" b="1" dirty="0">
                <a:solidFill>
                  <a:schemeClr val="accent3"/>
                </a:solidFill>
              </a:rPr>
              <a:t>IEEE </a:t>
            </a:r>
            <a:r>
              <a:rPr lang="de-DE" sz="1400" b="1" dirty="0" err="1">
                <a:solidFill>
                  <a:schemeClr val="accent3"/>
                </a:solidFill>
              </a:rPr>
              <a:t>Xplore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dirty="0">
                <a:solidFill>
                  <a:schemeClr val="tx1"/>
                </a:solidFill>
              </a:rPr>
              <a:t>nach </a:t>
            </a:r>
            <a:r>
              <a:rPr lang="de-DE" b="1" dirty="0">
                <a:solidFill>
                  <a:schemeClr val="tx1"/>
                </a:solidFill>
              </a:rPr>
              <a:t>“Brain-Computer Interface“</a:t>
            </a:r>
            <a:r>
              <a:rPr lang="de-DE" dirty="0">
                <a:solidFill>
                  <a:schemeClr val="tx1"/>
                </a:solidFill>
              </a:rPr>
              <a:t>.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Passen Sie den Suchstring mittels </a:t>
            </a:r>
            <a:r>
              <a:rPr lang="de-DE" sz="1200" dirty="0">
                <a:solidFill>
                  <a:schemeClr val="accent3"/>
                </a:solidFill>
              </a:rPr>
              <a:t>Trunkierung *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so an, dass auch …</a:t>
            </a:r>
            <a:r>
              <a:rPr lang="de-DE" sz="1200" dirty="0">
                <a:solidFill>
                  <a:schemeClr val="accent3"/>
                </a:solidFill>
              </a:rPr>
              <a:t>Interfaces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und …</a:t>
            </a:r>
            <a:r>
              <a:rPr lang="de-DE" sz="1200" dirty="0" err="1">
                <a:solidFill>
                  <a:schemeClr val="accent3"/>
                </a:solidFill>
              </a:rPr>
              <a:t>Interfacing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gefunden wird.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Finden Sie mit der </a:t>
            </a:r>
            <a:r>
              <a:rPr lang="de-DE" sz="1200" dirty="0">
                <a:solidFill>
                  <a:schemeClr val="accent3"/>
                </a:solidFill>
              </a:rPr>
              <a:t>Erweiterten Suche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alle Artikel die </a:t>
            </a:r>
            <a:r>
              <a:rPr lang="de-DE" sz="1200" b="1" dirty="0">
                <a:solidFill>
                  <a:schemeClr val="tx1"/>
                </a:solidFill>
              </a:rPr>
              <a:t>BCI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oder „</a:t>
            </a:r>
            <a:r>
              <a:rPr lang="de-DE" sz="1200" b="1" dirty="0">
                <a:solidFill>
                  <a:schemeClr val="tx1"/>
                </a:solidFill>
              </a:rPr>
              <a:t>Brain-Computer Interface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“ </a:t>
            </a:r>
            <a:r>
              <a:rPr lang="de-DE" sz="1200" dirty="0">
                <a:solidFill>
                  <a:schemeClr val="accent3"/>
                </a:solidFill>
              </a:rPr>
              <a:t>im Titel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enthalten.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Kopieren Sie den Suchstring. Ändern Sie ihn in der </a:t>
            </a:r>
            <a:r>
              <a:rPr lang="de-DE" sz="1200" dirty="0">
                <a:solidFill>
                  <a:schemeClr val="accent3"/>
                </a:solidFill>
              </a:rPr>
              <a:t>Kommando-zeilensuche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so ab, dass nur Artikel gefunden werden, die „Review“ im Abstract enthalten.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accent3"/>
                </a:solidFill>
              </a:rPr>
              <a:t>Sortieren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 Sie die Resultate nach absteigendem </a:t>
            </a:r>
            <a:r>
              <a:rPr lang="de-DE" sz="1200" dirty="0">
                <a:solidFill>
                  <a:schemeClr val="accent3"/>
                </a:solidFill>
              </a:rPr>
              <a:t>Erscheinungsdatum.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Öffnen Sie einen Artikel, der bereits zitiert wurde und finden Sie die </a:t>
            </a:r>
            <a:r>
              <a:rPr lang="de-DE" sz="1200" dirty="0">
                <a:solidFill>
                  <a:schemeClr val="accent3"/>
                </a:solidFill>
              </a:rPr>
              <a:t>Liste der Zitationen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3598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Web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Science </a:t>
            </a:r>
          </a:p>
          <a:p>
            <a:endParaRPr lang="en-US" i="1" dirty="0"/>
          </a:p>
          <a:p>
            <a:r>
              <a:rPr lang="en-US" i="1" dirty="0"/>
              <a:t>Science Citation Index Expanded </a:t>
            </a:r>
            <a:r>
              <a:rPr lang="en-US" dirty="0"/>
              <a:t>is a multidisciplinary index to the journal literature of the sciences. It fully covers over 8,300 major journals across 150 scientific disciplines and includes all cited references captured from indexed articles.</a:t>
            </a:r>
          </a:p>
          <a:p>
            <a:r>
              <a:rPr lang="en-US" dirty="0"/>
              <a:t>Publication years: 1999 to present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Basic Search </a:t>
            </a:r>
          </a:p>
          <a:p>
            <a:r>
              <a:rPr lang="de-DE" baseline="0" dirty="0"/>
              <a:t>-   Topic: </a:t>
            </a:r>
            <a:r>
              <a:rPr lang="en-US" dirty="0">
                <a:effectLst/>
              </a:rPr>
              <a:t>Searches title, abstract, author keywords, and Keywords Plus.</a:t>
            </a:r>
            <a:endParaRPr lang="de-DE" baseline="0" dirty="0"/>
          </a:p>
          <a:p>
            <a:pPr marL="171450" indent="-171450">
              <a:buFontTx/>
              <a:buChar char="-"/>
            </a:pPr>
            <a:r>
              <a:rPr lang="de-DE" baseline="0" dirty="0"/>
              <a:t>Suche bearbeiten? -&gt; auf Search klicken</a:t>
            </a:r>
          </a:p>
          <a:p>
            <a:pPr marL="171450" indent="-171450">
              <a:buFontTx/>
              <a:buChar char="-"/>
            </a:pPr>
            <a:r>
              <a:rPr lang="de-DE" baseline="0" dirty="0"/>
              <a:t>AND, OR, NOT, NEAR, SAME</a:t>
            </a:r>
          </a:p>
          <a:p>
            <a:pPr marL="171450" indent="-171450">
              <a:buFontTx/>
              <a:buChar char="-"/>
            </a:pPr>
            <a:r>
              <a:rPr lang="de-DE" baseline="0" dirty="0"/>
              <a:t>* $(0/1) ?(1) (min. 3 Zeichen notwendig, rechts- und links-</a:t>
            </a:r>
            <a:r>
              <a:rPr lang="de-DE" baseline="0" dirty="0" err="1"/>
              <a:t>Trunkierung</a:t>
            </a:r>
            <a:r>
              <a:rPr lang="de-DE" baseline="0" dirty="0"/>
              <a:t>) </a:t>
            </a:r>
          </a:p>
          <a:p>
            <a:pPr marL="171450" indent="-171450">
              <a:buFontTx/>
              <a:buChar char="-"/>
            </a:pPr>
            <a:r>
              <a:rPr lang="de-DE" baseline="0" dirty="0" err="1"/>
              <a:t>Stemming</a:t>
            </a:r>
            <a:r>
              <a:rPr lang="de-DE" baseline="0" dirty="0"/>
              <a:t> (Entfernung von Suffixen wie –</a:t>
            </a:r>
            <a:r>
              <a:rPr lang="de-DE" baseline="0" dirty="0" err="1"/>
              <a:t>ing</a:t>
            </a:r>
            <a:r>
              <a:rPr lang="de-DE" baseline="0" dirty="0"/>
              <a:t> oder -</a:t>
            </a:r>
            <a:r>
              <a:rPr lang="de-DE" baseline="0" dirty="0" err="1"/>
              <a:t>ed</a:t>
            </a:r>
            <a:r>
              <a:rPr lang="de-DE" baseline="0" dirty="0"/>
              <a:t>) &amp; </a:t>
            </a:r>
            <a:r>
              <a:rPr lang="de-DE" baseline="0" dirty="0" err="1"/>
              <a:t>Lemmatization</a:t>
            </a:r>
            <a:r>
              <a:rPr lang="de-DE" baseline="0" dirty="0"/>
              <a:t> (Schreibvarianten &amp; verwandte Wortformen): nicht in Phrasen oder bei Wildcards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0" indent="0">
              <a:buFontTx/>
              <a:buNone/>
            </a:pPr>
            <a:r>
              <a:rPr lang="de-DE" dirty="0"/>
              <a:t>Tipp: Nutzen Sie Analyse </a:t>
            </a:r>
            <a:r>
              <a:rPr lang="de-DE" dirty="0" err="1"/>
              <a:t>Results</a:t>
            </a:r>
            <a:r>
              <a:rPr lang="de-DE" dirty="0"/>
              <a:t>, um einen Überblick der Kategorien oder (im Drop-Down Menü ändern) Forschungsgebiete der für Ihrer Suchstrings gefundenen Paper zu erhalten.</a:t>
            </a:r>
          </a:p>
          <a:p>
            <a:pPr marL="171450" indent="-171450">
              <a:buFontTx/>
              <a:buChar char="-"/>
            </a:pPr>
            <a:endParaRPr lang="de-DE" dirty="0"/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b="1" i="0" dirty="0" err="1">
                <a:solidFill>
                  <a:srgbClr val="111111"/>
                </a:solidFill>
                <a:effectLst/>
                <a:latin typeface="Lato" panose="020F0502020204030203" pitchFamily="34" charset="0"/>
              </a:rPr>
              <a:t>Enriched</a:t>
            </a:r>
            <a:r>
              <a:rPr lang="de-DE" b="1" i="0" dirty="0">
                <a:solidFill>
                  <a:srgbClr val="111111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de-DE" b="1" i="0" dirty="0" err="1">
                <a:solidFill>
                  <a:srgbClr val="111111"/>
                </a:solidFill>
                <a:effectLst/>
                <a:latin typeface="Lato" panose="020F0502020204030203" pitchFamily="34" charset="0"/>
              </a:rPr>
              <a:t>Cited</a:t>
            </a:r>
            <a:r>
              <a:rPr lang="de-DE" b="1" i="0" dirty="0">
                <a:solidFill>
                  <a:srgbClr val="111111"/>
                </a:solidFill>
                <a:effectLst/>
                <a:latin typeface="Lato" panose="020F0502020204030203" pitchFamily="34" charset="0"/>
              </a:rPr>
              <a:t> References</a:t>
            </a:r>
          </a:p>
          <a:p>
            <a:pPr marL="0" indent="0">
              <a:buFontTx/>
              <a:buNone/>
            </a:pPr>
            <a:r>
              <a:rPr lang="de-DE" dirty="0"/>
              <a:t>liefern zusätzliche Infos über die Referenzen (wie häufig wurde eine Referenz im Artikel zitiert; welche anderen Referenzen werden im Umfeld zitiert; in welchem Bereich eines Artikels wurde die Referenz erwähnt). Referenzen werden „</a:t>
            </a:r>
            <a:r>
              <a:rPr lang="de-DE" dirty="0" err="1"/>
              <a:t>Function</a:t>
            </a:r>
            <a:r>
              <a:rPr lang="de-DE" dirty="0"/>
              <a:t> Classes“ zugeordnet: Hintergrund, Basis/Use, Support, </a:t>
            </a:r>
            <a:r>
              <a:rPr lang="de-DE" dirty="0" err="1"/>
              <a:t>Differ</a:t>
            </a:r>
            <a:r>
              <a:rPr lang="de-DE" dirty="0"/>
              <a:t>, </a:t>
            </a:r>
            <a:r>
              <a:rPr lang="de-DE" dirty="0" err="1"/>
              <a:t>Discuss</a:t>
            </a:r>
            <a:r>
              <a:rPr lang="de-DE" dirty="0"/>
              <a:t> :</a:t>
            </a:r>
            <a:br>
              <a:rPr lang="de-DE" dirty="0"/>
            </a:br>
            <a:r>
              <a:rPr lang="de-DE" dirty="0"/>
              <a:t>Mehr Details siehe: https://webofscience.zendesk.com/hc/en-us/articles/27713957430033-Enriched-Cited-References-Citation-Function-Class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2831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Nützlich, um über den Tellerrand</a:t>
            </a:r>
            <a:r>
              <a:rPr lang="de-DE" baseline="0" dirty="0"/>
              <a:t> der Informationssilos hinaus zu suchen, allerdings mit Bedacht einsetzen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Validität der Quelle (!)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Reproduzierbarkeit des Suchergebnisses (wichtig für Systematische Literaturreviews)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aseline="0" dirty="0"/>
              <a:t>Auffinden von Grauer Literatur (z.B. </a:t>
            </a:r>
            <a:r>
              <a:rPr lang="de-DE" baseline="0" dirty="0" err="1"/>
              <a:t>technical</a:t>
            </a:r>
            <a:r>
              <a:rPr lang="de-DE" baseline="0" dirty="0"/>
              <a:t> </a:t>
            </a:r>
            <a:r>
              <a:rPr lang="de-DE" baseline="0" dirty="0" err="1"/>
              <a:t>reports</a:t>
            </a:r>
            <a:r>
              <a:rPr lang="de-DE" baseline="0" dirty="0"/>
              <a:t>, </a:t>
            </a:r>
            <a:r>
              <a:rPr lang="de-DE" baseline="0" dirty="0" err="1"/>
              <a:t>white</a:t>
            </a:r>
            <a:r>
              <a:rPr lang="de-DE" baseline="0" dirty="0"/>
              <a:t> </a:t>
            </a:r>
            <a:r>
              <a:rPr lang="de-DE" baseline="0" dirty="0" err="1"/>
              <a:t>paper</a:t>
            </a:r>
            <a:r>
              <a:rPr lang="de-DE" baseline="0" dirty="0"/>
              <a:t>) – Vorsicht: ob nach wissenschaftlichem Standard ist meistens unbekannt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 err="1"/>
              <a:t>Semantic</a:t>
            </a:r>
            <a:r>
              <a:rPr lang="de-DE" dirty="0"/>
              <a:t> Scholar : AI-basierte</a:t>
            </a:r>
            <a:r>
              <a:rPr lang="de-DE" baseline="0" dirty="0"/>
              <a:t> semantische </a:t>
            </a:r>
            <a:r>
              <a:rPr lang="de-DE" baseline="0" dirty="0" err="1"/>
              <a:t>Suchmaschin</a:t>
            </a:r>
            <a:r>
              <a:rPr lang="de-DE" baseline="0" dirty="0"/>
              <a:t>. Schwerpunkt der ausgewerteten Literatur im Bereich Informatik, insbesondere Rund um </a:t>
            </a:r>
            <a:r>
              <a:rPr lang="de-DE" baseline="0" dirty="0" err="1"/>
              <a:t>Artificial</a:t>
            </a:r>
            <a:r>
              <a:rPr lang="de-DE" baseline="0" dirty="0"/>
              <a:t> </a:t>
            </a:r>
            <a:r>
              <a:rPr lang="de-DE" baseline="0" dirty="0" err="1"/>
              <a:t>Intelligence</a:t>
            </a:r>
            <a:endParaRPr lang="de-DE" baseline="0" dirty="0"/>
          </a:p>
          <a:p>
            <a:pPr marL="0" indent="0">
              <a:buFont typeface="Arial" panose="020B0604020202020204" pitchFamily="34" charset="0"/>
              <a:buNone/>
            </a:pPr>
            <a:endParaRPr lang="de-DE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baseline="0" dirty="0"/>
              <a:t>Achtung KI-Tools – können unterstützen, benötigen aber Prüfung:</a:t>
            </a:r>
          </a:p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- Black Box</a:t>
            </a:r>
          </a:p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- Ergebnis kritisch auf Bias und andere Probleme prüfen!</a:t>
            </a:r>
          </a:p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- Achtung bzgl.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Qualtität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 der Trainingsdaten / des durchsuchten Korpus</a:t>
            </a:r>
          </a:p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Frutiger 45 Light" pitchFamily="34" charset="0"/>
                <a:ea typeface="+mn-ea"/>
                <a:cs typeface="+mn-cs"/>
              </a:rPr>
              <a:t>- Daten- und Urheberschutz , Geheimhaltungsklauseln beim Hochladen von Dokumenten beachten!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Nützliche Informationen anderer Hochschulen: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Uni Tübingen:  https://uni-tuebingen.de/einrichtungen/universitaetsbibliothek/lernen-arbeiten/schulungen-beratungen-fuehrungen/literaturrecherche-mit-ki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Uni Augsburg: https://www.uni-augsburg.de/de/organisation/bibliothek/kurse-beratung/ki-in-der-literaturrecherche/ 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6542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3213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3336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LEA: Magazin &gt; Bibliothek &gt; Wissenschaftliches Arbeiten &gt; Literaturverwaltung : https://lea.hochschule-bonn-rhein-sieg.de/goto.php/crs/1603954</a:t>
            </a:r>
          </a:p>
          <a:p>
            <a:endParaRPr lang="de-DE" dirty="0"/>
          </a:p>
          <a:p>
            <a:r>
              <a:rPr lang="de-DE" dirty="0"/>
              <a:t>FAQ Umstieg Citavi → </a:t>
            </a:r>
            <a:r>
              <a:rPr lang="de-DE" dirty="0" err="1"/>
              <a:t>Zotero</a:t>
            </a:r>
            <a:r>
              <a:rPr lang="de-DE" dirty="0"/>
              <a:t>: https://www.h-brs.de/de/bib/faq-umstieg-von-citavi-zu-zotero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8522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Bibliothek im LEA-Magazin https://lea.hochschule-bonn-rhein-sieg.de/goto.php/cat/80 </a:t>
            </a:r>
          </a:p>
          <a:p>
            <a:r>
              <a:rPr lang="de-DE" dirty="0"/>
              <a:t>oder auf der Webseite:  https://www.h-brs.de/de/bibliothek</a:t>
            </a:r>
          </a:p>
          <a:p>
            <a:r>
              <a:rPr lang="de-DE" dirty="0"/>
              <a:t>Schulungen und Tutorials:  https://www.h-brs.de/de/bib/schulungen-und-tutorials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85278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hlinkClick r:id="rId3"/>
              </a:rPr>
              <a:t>http://ezb.uni-regensburg.de/</a:t>
            </a:r>
            <a:r>
              <a:rPr lang="de-DE" dirty="0"/>
              <a:t> →</a:t>
            </a:r>
            <a:r>
              <a:rPr lang="de-DE" baseline="0" dirty="0"/>
              <a:t> elektronische Zeitschriften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4"/>
              </a:rPr>
              <a:t>https://zdb-katalog.de</a:t>
            </a:r>
            <a:r>
              <a:rPr lang="de-DE" dirty="0"/>
              <a:t> →</a:t>
            </a:r>
            <a:r>
              <a:rPr lang="de-DE" baseline="0" dirty="0"/>
              <a:t> Print-Zeitschriften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5152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Metadatenqualität</a:t>
            </a:r>
            <a:r>
              <a:rPr lang="en-US" dirty="0"/>
              <a:t> </a:t>
            </a:r>
            <a:r>
              <a:rPr lang="en-US" dirty="0" err="1"/>
              <a:t>unterschiedlich</a:t>
            </a:r>
            <a:r>
              <a:rPr lang="en-US" dirty="0"/>
              <a:t>, da </a:t>
            </a:r>
            <a:r>
              <a:rPr lang="en-US" dirty="0" err="1"/>
              <a:t>unterschiedliche</a:t>
            </a:r>
            <a:r>
              <a:rPr lang="en-US" dirty="0"/>
              <a:t> </a:t>
            </a:r>
            <a:r>
              <a:rPr lang="en-US" dirty="0" err="1"/>
              <a:t>Datenquellen</a:t>
            </a:r>
            <a:endParaRPr lang="en-US" dirty="0"/>
          </a:p>
          <a:p>
            <a:r>
              <a:rPr lang="en-US" dirty="0" err="1"/>
              <a:t>Titel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(</a:t>
            </a:r>
            <a:r>
              <a:rPr lang="en-US" dirty="0" err="1"/>
              <a:t>exakt</a:t>
            </a:r>
            <a:r>
              <a:rPr lang="en-US" dirty="0"/>
              <a:t>) </a:t>
            </a:r>
            <a:r>
              <a:rPr lang="en-US" dirty="0" err="1"/>
              <a:t>Programmierung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Dummies -&gt; </a:t>
            </a:r>
            <a:r>
              <a:rPr lang="en-US" dirty="0" err="1"/>
              <a:t>entspricht</a:t>
            </a:r>
            <a:r>
              <a:rPr lang="en-US" dirty="0"/>
              <a:t>  </a:t>
            </a:r>
            <a:r>
              <a:rPr lang="en-US" dirty="0" err="1"/>
              <a:t>Titel</a:t>
            </a:r>
            <a:r>
              <a:rPr lang="en-US" dirty="0"/>
              <a:t> </a:t>
            </a:r>
            <a:r>
              <a:rPr lang="en-US" dirty="0" err="1"/>
              <a:t>enthält</a:t>
            </a:r>
            <a:r>
              <a:rPr lang="en-US" dirty="0"/>
              <a:t> “</a:t>
            </a:r>
            <a:r>
              <a:rPr lang="en-US" dirty="0" err="1"/>
              <a:t>Programmierung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Dummies”</a:t>
            </a:r>
          </a:p>
          <a:p>
            <a:endParaRPr lang="en-US" dirty="0"/>
          </a:p>
          <a:p>
            <a:r>
              <a:rPr lang="en-US" dirty="0"/>
              <a:t>--</a:t>
            </a:r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chemeClr val="tx1"/>
                </a:solidFill>
              </a:rPr>
              <a:t>Recherchieren Sie in </a:t>
            </a:r>
            <a:r>
              <a:rPr lang="de-DE" sz="1600" dirty="0" err="1">
                <a:solidFill>
                  <a:schemeClr val="accent3"/>
                </a:solidFill>
              </a:rPr>
              <a:t>Bib-Discover</a:t>
            </a:r>
            <a:r>
              <a:rPr lang="de-DE" sz="1600" dirty="0">
                <a:solidFill>
                  <a:schemeClr val="accent3"/>
                </a:solidFill>
              </a:rPr>
              <a:t> </a:t>
            </a:r>
            <a:r>
              <a:rPr lang="de-DE" dirty="0">
                <a:solidFill>
                  <a:schemeClr val="tx1"/>
                </a:solidFill>
              </a:rPr>
              <a:t>nach </a:t>
            </a:r>
            <a:r>
              <a:rPr lang="de-DE" b="1" dirty="0">
                <a:solidFill>
                  <a:schemeClr val="tx1"/>
                </a:solidFill>
              </a:rPr>
              <a:t>Brain-Computer Interface</a:t>
            </a:r>
            <a:r>
              <a:rPr lang="de-DE" dirty="0">
                <a:solidFill>
                  <a:schemeClr val="tx1"/>
                </a:solidFill>
              </a:rPr>
              <a:t>.</a:t>
            </a:r>
            <a:endParaRPr lang="en-US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Beschränken Sie die Suche auf </a:t>
            </a:r>
            <a:r>
              <a:rPr lang="de-DE" sz="1200" b="1" dirty="0">
                <a:solidFill>
                  <a:schemeClr val="bg2">
                    <a:lumMod val="75000"/>
                  </a:schemeClr>
                </a:solidFill>
              </a:rPr>
              <a:t>online verfügbare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Titel.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Die Titel sollen nur </a:t>
            </a:r>
            <a:r>
              <a:rPr lang="de-DE" sz="1200" b="1" dirty="0">
                <a:solidFill>
                  <a:schemeClr val="bg2">
                    <a:lumMod val="75000"/>
                  </a:schemeClr>
                </a:solidFill>
              </a:rPr>
              <a:t>zwischen 2015 und 2023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erschienen sein.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Nutzen Sie die Funktion „</a:t>
            </a:r>
            <a:r>
              <a:rPr lang="de-DE" sz="1200" b="1" dirty="0">
                <a:solidFill>
                  <a:schemeClr val="bg2">
                    <a:lumMod val="75000"/>
                  </a:schemeClr>
                </a:solidFill>
              </a:rPr>
              <a:t>Alle Filter merken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“, damit Sie die Filtereinstellungen nicht jedes Mal neu einstellen müssen.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Sie möchten sehen, welche Artikel des </a:t>
            </a:r>
            <a:r>
              <a:rPr lang="de-DE" sz="1200" b="1" dirty="0">
                <a:solidFill>
                  <a:schemeClr val="bg2">
                    <a:lumMod val="75000"/>
                  </a:schemeClr>
                </a:solidFill>
              </a:rPr>
              <a:t>Autoren </a:t>
            </a:r>
            <a:r>
              <a:rPr lang="de-DE" sz="1200" b="1" dirty="0" err="1">
                <a:solidFill>
                  <a:schemeClr val="bg2">
                    <a:lumMod val="75000"/>
                  </a:schemeClr>
                </a:solidFill>
              </a:rPr>
              <a:t>Wolpaw</a:t>
            </a:r>
            <a:r>
              <a:rPr lang="de-DE" sz="12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</a:rPr>
              <a:t>vorhanden sind.</a:t>
            </a:r>
          </a:p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6CD0E-A5BC-4722-8A90-D15F409153DB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999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474662" y="741363"/>
            <a:ext cx="9431337" cy="0"/>
          </a:xfrm>
          <a:prstGeom prst="line">
            <a:avLst/>
          </a:prstGeom>
          <a:noFill/>
          <a:ln w="12700">
            <a:solidFill>
              <a:srgbClr val="009EE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9304338" y="358775"/>
            <a:ext cx="200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9pPr>
          </a:lstStyle>
          <a:p>
            <a:pPr>
              <a:defRPr/>
            </a:pPr>
            <a:endParaRPr lang="de-DE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466991" y="2509838"/>
            <a:ext cx="5112122" cy="1143000"/>
          </a:xfrm>
        </p:spPr>
        <p:txBody>
          <a:bodyPr/>
          <a:lstStyle>
            <a:lvl1pPr algn="l">
              <a:defRPr sz="3200">
                <a:solidFill>
                  <a:srgbClr val="0097F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e-DE" noProof="0" dirty="0"/>
              <a:t>Klicken, um Headline einzufügen</a:t>
            </a:r>
          </a:p>
        </p:txBody>
      </p:sp>
      <p:pic>
        <p:nvPicPr>
          <p:cNvPr id="13" name="Picture 26" descr="Logo HBRS_Vorlage_cy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8950" y="200025"/>
            <a:ext cx="2735263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66991" y="6092825"/>
            <a:ext cx="5111750" cy="360363"/>
          </a:xfrm>
        </p:spPr>
        <p:txBody>
          <a:bodyPr/>
          <a:lstStyle>
            <a:lvl1pPr marL="0" indent="0">
              <a:buNone/>
              <a:defRPr sz="1200" baseline="0"/>
            </a:lvl1pPr>
          </a:lstStyle>
          <a:p>
            <a:pPr lvl="0"/>
            <a:r>
              <a:rPr lang="de-DE" dirty="0"/>
              <a:t>Hier klicken, um Name und Datum einzufügen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4041775"/>
            <a:ext cx="5126037" cy="971550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 dirty="0"/>
              <a:t>Klicken, um Subheadline einzufügen</a:t>
            </a:r>
          </a:p>
        </p:txBody>
      </p:sp>
    </p:spTree>
    <p:extLst>
      <p:ext uri="{BB962C8B-B14F-4D97-AF65-F5344CB8AC3E}">
        <p14:creationId xmlns:p14="http://schemas.microsoft.com/office/powerpoint/2010/main" val="144184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474662" y="741363"/>
            <a:ext cx="9431337" cy="0"/>
          </a:xfrm>
          <a:prstGeom prst="line">
            <a:avLst/>
          </a:prstGeom>
          <a:noFill/>
          <a:ln w="12700">
            <a:solidFill>
              <a:srgbClr val="009EE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9304338" y="358775"/>
            <a:ext cx="200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Frutiger 45 Light" panose="020B0500000000000000" pitchFamily="34" charset="0"/>
              </a:defRPr>
            </a:lvl9pPr>
          </a:lstStyle>
          <a:p>
            <a:pPr>
              <a:defRPr/>
            </a:pPr>
            <a:endParaRPr lang="de-DE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466991" y="2790056"/>
            <a:ext cx="8662722" cy="1143000"/>
          </a:xfrm>
        </p:spPr>
        <p:txBody>
          <a:bodyPr/>
          <a:lstStyle>
            <a:lvl1pPr algn="l">
              <a:defRPr sz="3200">
                <a:solidFill>
                  <a:srgbClr val="0097F1"/>
                </a:solidFill>
                <a:latin typeface="+mj-lt"/>
              </a:defRPr>
            </a:lvl1pPr>
          </a:lstStyle>
          <a:p>
            <a:pPr lvl="0"/>
            <a:r>
              <a:rPr lang="de-DE" noProof="0" dirty="0"/>
              <a:t>Klicken, um Headline einzufügen</a:t>
            </a:r>
          </a:p>
        </p:txBody>
      </p:sp>
      <p:pic>
        <p:nvPicPr>
          <p:cNvPr id="13" name="Picture 26" descr="Logo HBRS_Vorlage_cy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8950" y="200025"/>
            <a:ext cx="2735263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66991" y="6092825"/>
            <a:ext cx="5111750" cy="360363"/>
          </a:xfrm>
        </p:spPr>
        <p:txBody>
          <a:bodyPr/>
          <a:lstStyle>
            <a:lvl1pPr marL="0" indent="0">
              <a:buNone/>
              <a:defRPr sz="1200" baseline="0"/>
            </a:lvl1pPr>
          </a:lstStyle>
          <a:p>
            <a:pPr lvl="0"/>
            <a:r>
              <a:rPr lang="de-DE" dirty="0"/>
              <a:t>Hier klicken, um Name und Datum einzufügen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4041775"/>
            <a:ext cx="8655050" cy="971550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de-DE" dirty="0"/>
              <a:t>Klicken, um Subheadline einzufügen</a:t>
            </a:r>
          </a:p>
        </p:txBody>
      </p:sp>
      <p:sp>
        <p:nvSpPr>
          <p:cNvPr id="8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473280" y="63211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E574-1B4E-4E64-B04E-C8C7CFE8F1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424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sverzeichni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50" y="936000"/>
            <a:ext cx="8640763" cy="792164"/>
          </a:xfrm>
        </p:spPr>
        <p:txBody>
          <a:bodyPr/>
          <a:lstStyle>
            <a:lvl1pPr>
              <a:defRPr sz="3600" baseline="0">
                <a:solidFill>
                  <a:srgbClr val="0097F1"/>
                </a:solidFill>
              </a:defRPr>
            </a:lvl1pPr>
          </a:lstStyle>
          <a:p>
            <a:r>
              <a:rPr lang="de-DE" dirty="0"/>
              <a:t>Inhaltsverzeichnis, mit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8950" y="1922400"/>
            <a:ext cx="8640763" cy="4572000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473280" y="63211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E574-1B4E-4E64-B04E-C8C7CFE8F12D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Line 14"/>
          <p:cNvSpPr>
            <a:spLocks noChangeShapeType="1"/>
          </p:cNvSpPr>
          <p:nvPr userDrawn="1"/>
        </p:nvSpPr>
        <p:spPr bwMode="auto">
          <a:xfrm>
            <a:off x="474662" y="741363"/>
            <a:ext cx="9431337" cy="0"/>
          </a:xfrm>
          <a:prstGeom prst="line">
            <a:avLst/>
          </a:prstGeom>
          <a:noFill/>
          <a:ln w="12700">
            <a:solidFill>
              <a:srgbClr val="009EE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136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50" y="936000"/>
            <a:ext cx="8640763" cy="792164"/>
          </a:xfrm>
        </p:spPr>
        <p:txBody>
          <a:bodyPr/>
          <a:lstStyle>
            <a:lvl1pPr>
              <a:defRPr sz="3600" baseline="0">
                <a:solidFill>
                  <a:srgbClr val="0097F1"/>
                </a:solidFill>
              </a:defRPr>
            </a:lvl1pPr>
          </a:lstStyle>
          <a:p>
            <a:r>
              <a:rPr lang="de-DE" dirty="0"/>
              <a:t>Textfolie, Folientitel per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8950" y="1922400"/>
            <a:ext cx="8640763" cy="4572000"/>
          </a:xfrm>
        </p:spPr>
        <p:txBody>
          <a:bodyPr/>
          <a:lstStyle>
            <a:lvl1pPr>
              <a:buClr>
                <a:schemeClr val="accent1"/>
              </a:buClr>
              <a:defRPr>
                <a:latin typeface="+mj-lt"/>
              </a:defRPr>
            </a:lvl1pPr>
            <a:lvl2pPr>
              <a:buClr>
                <a:schemeClr val="accent1"/>
              </a:buClr>
              <a:defRPr>
                <a:latin typeface="+mj-lt"/>
              </a:defRPr>
            </a:lvl2pPr>
            <a:lvl3pPr>
              <a:buClr>
                <a:schemeClr val="accent1"/>
              </a:buClr>
              <a:defRPr>
                <a:latin typeface="+mj-lt"/>
              </a:defRPr>
            </a:lvl3pPr>
            <a:lvl4pPr>
              <a:buClr>
                <a:schemeClr val="accent1"/>
              </a:buClr>
              <a:defRPr>
                <a:latin typeface="+mj-lt"/>
              </a:defRPr>
            </a:lvl4pPr>
            <a:lvl5pPr>
              <a:buClr>
                <a:schemeClr val="accent1"/>
              </a:buClr>
              <a:defRPr>
                <a:latin typeface="+mj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473280" y="63211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E574-1B4E-4E64-B04E-C8C7CFE8F12D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Line 14"/>
          <p:cNvSpPr>
            <a:spLocks noChangeShapeType="1"/>
          </p:cNvSpPr>
          <p:nvPr userDrawn="1"/>
        </p:nvSpPr>
        <p:spPr bwMode="auto">
          <a:xfrm>
            <a:off x="474662" y="741363"/>
            <a:ext cx="9431337" cy="0"/>
          </a:xfrm>
          <a:prstGeom prst="line">
            <a:avLst/>
          </a:prstGeom>
          <a:noFill/>
          <a:ln w="12700">
            <a:solidFill>
              <a:srgbClr val="009EE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740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488951" y="936000"/>
            <a:ext cx="8640762" cy="79216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lang="de-DE" sz="3600" baseline="0" dirty="0">
                <a:solidFill>
                  <a:srgbClr val="0097F1"/>
                </a:solidFill>
              </a:defRPr>
            </a:lvl1pPr>
          </a:lstStyle>
          <a:p>
            <a:pPr lvl="0"/>
            <a:r>
              <a:rPr lang="de-DE" dirty="0"/>
              <a:t>Text-Folie, 2spaltig, per Klicken 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2"/>
          </p:nvPr>
        </p:nvSpPr>
        <p:spPr>
          <a:xfrm>
            <a:off x="488950" y="1922399"/>
            <a:ext cx="4248150" cy="4572000"/>
          </a:xfrm>
        </p:spPr>
        <p:txBody>
          <a:bodyPr/>
          <a:lstStyle>
            <a:lvl1pPr>
              <a:buClr>
                <a:schemeClr val="accent1"/>
              </a:buClr>
              <a:defRPr sz="2800">
                <a:latin typeface="+mj-lt"/>
              </a:defRPr>
            </a:lvl1pPr>
            <a:lvl2pPr>
              <a:buClr>
                <a:schemeClr val="accent1"/>
              </a:buClr>
              <a:defRPr sz="2400">
                <a:latin typeface="+mj-lt"/>
              </a:defRPr>
            </a:lvl2pPr>
            <a:lvl3pPr>
              <a:buClr>
                <a:schemeClr val="accent1"/>
              </a:buClr>
              <a:defRPr>
                <a:latin typeface="+mj-lt"/>
              </a:defRPr>
            </a:lvl3pPr>
            <a:lvl4pPr>
              <a:buClr>
                <a:schemeClr val="accent1"/>
              </a:buClr>
              <a:defRPr>
                <a:latin typeface="+mj-lt"/>
              </a:defRPr>
            </a:lvl4pPr>
            <a:lvl5pPr>
              <a:buClr>
                <a:schemeClr val="accent1"/>
              </a:buClr>
              <a:defRPr>
                <a:latin typeface="+mj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8"/>
          <p:cNvSpPr>
            <a:spLocks noGrp="1"/>
          </p:cNvSpPr>
          <p:nvPr>
            <p:ph type="body" sz="quarter" idx="13"/>
          </p:nvPr>
        </p:nvSpPr>
        <p:spPr>
          <a:xfrm>
            <a:off x="4881314" y="1922399"/>
            <a:ext cx="4248150" cy="4572000"/>
          </a:xfrm>
        </p:spPr>
        <p:txBody>
          <a:bodyPr/>
          <a:lstStyle>
            <a:lvl1pPr>
              <a:buClr>
                <a:schemeClr val="accent1"/>
              </a:buClr>
              <a:defRPr sz="2800">
                <a:latin typeface="+mj-lt"/>
              </a:defRPr>
            </a:lvl1pPr>
            <a:lvl2pPr>
              <a:buClr>
                <a:schemeClr val="accent1"/>
              </a:buClr>
              <a:defRPr sz="2400">
                <a:latin typeface="+mj-lt"/>
              </a:defRPr>
            </a:lvl2pPr>
            <a:lvl3pPr>
              <a:buClr>
                <a:schemeClr val="accent1"/>
              </a:buClr>
              <a:defRPr>
                <a:latin typeface="+mj-lt"/>
              </a:defRPr>
            </a:lvl3pPr>
            <a:lvl4pPr>
              <a:buClr>
                <a:schemeClr val="accent1"/>
              </a:buClr>
              <a:defRPr>
                <a:latin typeface="+mj-lt"/>
              </a:defRPr>
            </a:lvl4pPr>
            <a:lvl5pPr>
              <a:buClr>
                <a:schemeClr val="accent1"/>
              </a:buClr>
              <a:defRPr>
                <a:latin typeface="+mj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473280" y="63211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E574-1B4E-4E64-B04E-C8C7CFE8F12D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Line 14"/>
          <p:cNvSpPr>
            <a:spLocks noChangeShapeType="1"/>
          </p:cNvSpPr>
          <p:nvPr userDrawn="1"/>
        </p:nvSpPr>
        <p:spPr bwMode="auto">
          <a:xfrm>
            <a:off x="474662" y="741363"/>
            <a:ext cx="9431337" cy="0"/>
          </a:xfrm>
          <a:prstGeom prst="line">
            <a:avLst/>
          </a:prstGeom>
          <a:noFill/>
          <a:ln w="12700">
            <a:solidFill>
              <a:srgbClr val="009EE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2705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51" y="936000"/>
            <a:ext cx="8640762" cy="79216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lang="de-DE" sz="3600" baseline="0" dirty="0">
                <a:solidFill>
                  <a:srgbClr val="0097F1"/>
                </a:solidFill>
              </a:defRPr>
            </a:lvl1pPr>
          </a:lstStyle>
          <a:p>
            <a:pPr lvl="0"/>
            <a:r>
              <a:rPr lang="de-DE" dirty="0"/>
              <a:t>Bild-Textfolie, Titel per Klicken bearbeiten</a:t>
            </a:r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2"/>
          </p:nvPr>
        </p:nvSpPr>
        <p:spPr>
          <a:xfrm>
            <a:off x="488950" y="1922399"/>
            <a:ext cx="4392042" cy="4572000"/>
          </a:xfrm>
        </p:spPr>
        <p:txBody>
          <a:bodyPr/>
          <a:lstStyle>
            <a:lvl1pPr>
              <a:buClr>
                <a:schemeClr val="accent1"/>
              </a:buClr>
              <a:defRPr sz="2800">
                <a:latin typeface="+mj-lt"/>
              </a:defRPr>
            </a:lvl1pPr>
            <a:lvl2pPr>
              <a:buClr>
                <a:schemeClr val="accent1"/>
              </a:buClr>
              <a:defRPr sz="2400">
                <a:latin typeface="+mj-lt"/>
              </a:defRPr>
            </a:lvl2pPr>
            <a:lvl3pPr>
              <a:buClr>
                <a:schemeClr val="accent1"/>
              </a:buClr>
              <a:defRPr>
                <a:latin typeface="+mj-lt"/>
              </a:defRPr>
            </a:lvl3pPr>
            <a:lvl4pPr>
              <a:buClr>
                <a:schemeClr val="accent1"/>
              </a:buClr>
              <a:defRPr>
                <a:latin typeface="+mj-lt"/>
              </a:defRPr>
            </a:lvl4pPr>
            <a:lvl5pPr>
              <a:buClr>
                <a:schemeClr val="accent1"/>
              </a:buClr>
              <a:defRPr>
                <a:latin typeface="+mj-lt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3"/>
          </p:nvPr>
        </p:nvSpPr>
        <p:spPr>
          <a:xfrm>
            <a:off x="5024438" y="1922399"/>
            <a:ext cx="4105275" cy="4572000"/>
          </a:xfrm>
        </p:spPr>
        <p:txBody>
          <a:bodyPr/>
          <a:lstStyle>
            <a:lvl1pPr>
              <a:defRPr sz="2800"/>
            </a:lvl1pPr>
          </a:lstStyle>
          <a:p>
            <a:endParaRPr lang="de-DE" dirty="0"/>
          </a:p>
        </p:txBody>
      </p:sp>
      <p:sp>
        <p:nvSpPr>
          <p:cNvPr id="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7473280" y="63211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E574-1B4E-4E64-B04E-C8C7CFE8F12D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74662" y="741363"/>
            <a:ext cx="9431337" cy="0"/>
          </a:xfrm>
          <a:prstGeom prst="line">
            <a:avLst/>
          </a:prstGeom>
          <a:noFill/>
          <a:ln w="12700">
            <a:solidFill>
              <a:srgbClr val="009EE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999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/Kontak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body" idx="1" hasCustomPrompt="1"/>
          </p:nvPr>
        </p:nvSpPr>
        <p:spPr>
          <a:xfrm>
            <a:off x="1639888" y="1700213"/>
            <a:ext cx="3313112" cy="4330700"/>
          </a:xfrm>
        </p:spPr>
        <p:txBody>
          <a:bodyPr/>
          <a:lstStyle>
            <a:lvl1pPr>
              <a:defRPr/>
            </a:lvl1pPr>
          </a:lstStyle>
          <a:p>
            <a:pPr>
              <a:buFont typeface="Wingdings" pitchFamily="2" charset="2"/>
              <a:buNone/>
            </a:pPr>
            <a:r>
              <a:rPr lang="de-DE" sz="2200" b="0" dirty="0">
                <a:latin typeface="Frutiger 55 Roman" pitchFamily="2" charset="0"/>
              </a:rPr>
              <a:t>Vielen Dank für </a:t>
            </a:r>
          </a:p>
          <a:p>
            <a:pPr>
              <a:buFont typeface="Wingdings" pitchFamily="2" charset="2"/>
              <a:buNone/>
            </a:pPr>
            <a:r>
              <a:rPr lang="de-DE" sz="2200" b="0" dirty="0">
                <a:latin typeface="Frutiger 55 Roman" pitchFamily="2" charset="0"/>
              </a:rPr>
              <a:t>Ihre Aufmerksamkeit </a:t>
            </a:r>
          </a:p>
          <a:p>
            <a:pPr>
              <a:buFont typeface="Wingdings" pitchFamily="2" charset="2"/>
              <a:buNone/>
            </a:pPr>
            <a:endParaRPr lang="de-DE" sz="2000" b="0" dirty="0">
              <a:latin typeface="Frutiger 55 Roman" pitchFamily="2" charset="0"/>
            </a:endParaRPr>
          </a:p>
          <a:p>
            <a:pPr>
              <a:buFont typeface="Wingdings" pitchFamily="2" charset="2"/>
              <a:buNone/>
            </a:pPr>
            <a:endParaRPr lang="de-DE" sz="2000" b="0" dirty="0">
              <a:latin typeface="Frutiger 55 Roman" pitchFamily="2" charset="0"/>
            </a:endParaRPr>
          </a:p>
          <a:p>
            <a:pPr>
              <a:buFont typeface="Wingdings" pitchFamily="2" charset="2"/>
              <a:buNone/>
            </a:pPr>
            <a:endParaRPr lang="de-DE" sz="2000" b="0" dirty="0">
              <a:latin typeface="Frutiger 55 Roman" pitchFamily="2" charset="0"/>
            </a:endParaRPr>
          </a:p>
          <a:p>
            <a:pPr>
              <a:buFont typeface="Wingdings" pitchFamily="2" charset="2"/>
              <a:buNone/>
            </a:pPr>
            <a:r>
              <a:rPr lang="de-DE" sz="1600" b="0" dirty="0">
                <a:latin typeface="Frutiger 55 Roman" pitchFamily="2" charset="0"/>
              </a:rPr>
              <a:t>Kontakt:</a:t>
            </a:r>
          </a:p>
          <a:p>
            <a:pPr>
              <a:buFont typeface="Wingdings" pitchFamily="2" charset="2"/>
              <a:buNone/>
            </a:pPr>
            <a:r>
              <a:rPr lang="de-DE" sz="1400" b="0" dirty="0"/>
              <a:t>N.N.</a:t>
            </a:r>
          </a:p>
          <a:p>
            <a:pPr>
              <a:buFont typeface="Wingdings" pitchFamily="2" charset="2"/>
              <a:buNone/>
            </a:pPr>
            <a:r>
              <a:rPr lang="de-DE" sz="1400" b="0" dirty="0">
                <a:solidFill>
                  <a:srgbClr val="0097F1"/>
                </a:solidFill>
              </a:rPr>
              <a:t>vorname.nachname@h-brs.de</a:t>
            </a:r>
            <a:endParaRPr lang="de-DE" sz="2000" b="0" dirty="0">
              <a:solidFill>
                <a:srgbClr val="0097F1"/>
              </a:solidFill>
            </a:endParaRPr>
          </a:p>
          <a:p>
            <a:pPr>
              <a:buFont typeface="Wingdings" pitchFamily="2" charset="2"/>
              <a:buNone/>
            </a:pPr>
            <a:endParaRPr lang="de-DE" sz="2000" b="0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4556" y="755990"/>
            <a:ext cx="4782840" cy="7173416"/>
          </a:xfrm>
          <a:prstGeom prst="rect">
            <a:avLst/>
          </a:prstGeom>
        </p:spPr>
      </p:pic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474662" y="744117"/>
            <a:ext cx="9431337" cy="0"/>
          </a:xfrm>
          <a:prstGeom prst="line">
            <a:avLst/>
          </a:prstGeom>
          <a:noFill/>
          <a:ln w="12700">
            <a:solidFill>
              <a:srgbClr val="009EE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095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3327" y="6476134"/>
            <a:ext cx="815578" cy="365125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EFE3D0E5-0232-46EB-BEDC-33F9124742C8}" type="datetimeFigureOut">
              <a:rPr lang="de-DE" smtClean="0"/>
              <a:pPr/>
              <a:t>20.04.2026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574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997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4016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3967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938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638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2894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324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908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575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EFE3D0E5-0232-46EB-BEDC-33F9124742C8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159F0695-E3A0-4F2E-8F74-ECD40B449E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268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3"/>
          <p:cNvSpPr>
            <a:spLocks noChangeShapeType="1"/>
          </p:cNvSpPr>
          <p:nvPr/>
        </p:nvSpPr>
        <p:spPr bwMode="auto">
          <a:xfrm>
            <a:off x="474663" y="741363"/>
            <a:ext cx="8643937" cy="1587"/>
          </a:xfrm>
          <a:prstGeom prst="line">
            <a:avLst/>
          </a:prstGeom>
          <a:noFill/>
          <a:ln w="12700">
            <a:solidFill>
              <a:srgbClr val="009EE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1027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921214"/>
            <a:ext cx="862717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028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936000"/>
            <a:ext cx="8640763" cy="792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Klicken, um Titelformat zu bearbeiten</a:t>
            </a:r>
          </a:p>
        </p:txBody>
      </p:sp>
      <p:pic>
        <p:nvPicPr>
          <p:cNvPr id="1030" name="Picture 26" descr="Logo HBRS_Vorlage_cy"/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8950" y="200025"/>
            <a:ext cx="2735263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7" r:id="rId2"/>
    <p:sldLayoutId id="2147483745" r:id="rId3"/>
    <p:sldLayoutId id="2147483744" r:id="rId4"/>
    <p:sldLayoutId id="2147483746" r:id="rId5"/>
    <p:sldLayoutId id="2147483734" r:id="rId6"/>
    <p:sldLayoutId id="2147483737" r:id="rId7"/>
  </p:sldLayoutIdLst>
  <p:hf hdr="0" ftr="0" dt="0"/>
  <p:txStyles>
    <p:titleStyle>
      <a:lvl1pPr algn="l" defTabSz="762000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97F1"/>
          </a:solidFill>
          <a:latin typeface="+mj-lt"/>
          <a:ea typeface="+mj-ea"/>
          <a:cs typeface="+mj-cs"/>
        </a:defRPr>
      </a:lvl1pPr>
      <a:lvl2pPr algn="l" defTabSz="7620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Frutiger 45 Light" pitchFamily="34" charset="0"/>
        </a:defRPr>
      </a:lvl2pPr>
      <a:lvl3pPr algn="l" defTabSz="7620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Frutiger 45 Light" pitchFamily="34" charset="0"/>
        </a:defRPr>
      </a:lvl3pPr>
      <a:lvl4pPr algn="l" defTabSz="7620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Frutiger 45 Light" pitchFamily="34" charset="0"/>
        </a:defRPr>
      </a:lvl4pPr>
      <a:lvl5pPr algn="l" defTabSz="7620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Frutiger 45 Light" pitchFamily="34" charset="0"/>
        </a:defRPr>
      </a:lvl5pPr>
      <a:lvl6pPr marL="457200" algn="l" defTabSz="7620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Frutiger 45 Light" pitchFamily="34" charset="0"/>
        </a:defRPr>
      </a:lvl6pPr>
      <a:lvl7pPr marL="914400" algn="l" defTabSz="7620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Frutiger 45 Light" pitchFamily="34" charset="0"/>
        </a:defRPr>
      </a:lvl7pPr>
      <a:lvl8pPr marL="1371600" algn="l" defTabSz="7620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Frutiger 45 Light" pitchFamily="34" charset="0"/>
        </a:defRPr>
      </a:lvl8pPr>
      <a:lvl9pPr marL="1828800" algn="l" defTabSz="7620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Frutiger 45 Light" pitchFamily="34" charset="0"/>
        </a:defRPr>
      </a:lvl9pPr>
    </p:titleStyle>
    <p:bodyStyle>
      <a:lvl1pPr marL="342900" indent="-342900" algn="l" defTabSz="7620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800" b="1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7620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400" b="1">
          <a:solidFill>
            <a:schemeClr val="tx1"/>
          </a:solidFill>
          <a:latin typeface="+mj-lt"/>
        </a:defRPr>
      </a:lvl2pPr>
      <a:lvl3pPr marL="1143000" indent="-228600" algn="l" defTabSz="7620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j-lt"/>
        </a:defRPr>
      </a:lvl3pPr>
      <a:lvl4pPr marL="1600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2A0C6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</a:defRPr>
      </a:lvl4pPr>
      <a:lvl5pPr marL="20574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2A0C6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</a:defRPr>
      </a:lvl5pPr>
      <a:lvl6pPr marL="25146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2A0C6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</a:defRPr>
      </a:lvl6pPr>
      <a:lvl7pPr marL="29718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2A0C6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</a:defRPr>
      </a:lvl7pPr>
      <a:lvl8pPr marL="3429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2A0C6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</a:defRPr>
      </a:lvl8pPr>
      <a:lvl9pPr marL="3886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2A0C6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3"/>
          <p:cNvSpPr>
            <a:spLocks noChangeShapeType="1"/>
          </p:cNvSpPr>
          <p:nvPr userDrawn="1"/>
        </p:nvSpPr>
        <p:spPr bwMode="auto">
          <a:xfrm>
            <a:off x="2744" y="376364"/>
            <a:ext cx="2448000" cy="1"/>
          </a:xfrm>
          <a:prstGeom prst="line">
            <a:avLst/>
          </a:prstGeom>
          <a:noFill/>
          <a:ln w="12700">
            <a:gradFill>
              <a:gsLst>
                <a:gs pos="0">
                  <a:srgbClr val="00B0F0"/>
                </a:gs>
                <a:gs pos="25000">
                  <a:srgbClr val="D1EDFF"/>
                </a:gs>
                <a:gs pos="100000">
                  <a:schemeClr val="bg1"/>
                </a:gs>
              </a:gsLst>
              <a:lin ang="0" scaled="0"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dirty="0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764704"/>
            <a:ext cx="8627171" cy="572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2345160" y="-9236"/>
            <a:ext cx="7560840" cy="3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Klicken, um Titelformat zu bearbeiten</a:t>
            </a:r>
          </a:p>
        </p:txBody>
      </p:sp>
      <p:pic>
        <p:nvPicPr>
          <p:cNvPr id="10" name="Picture 26" descr="Logo HBRS_Vorlage_cy"/>
          <p:cNvPicPr>
            <a:picLocks noChangeAspect="1" noChangeArrowheads="1"/>
          </p:cNvPicPr>
          <p:nvPr userDrawn="1"/>
        </p:nvPicPr>
        <p:blipFill>
          <a:blip r:embed="rId13" cstate="screen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749" y="113139"/>
            <a:ext cx="1151682" cy="19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43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ubme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1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link.springer.com/bookseries/558" TargetMode="External"/><Relationship Id="rId13" Type="http://schemas.openxmlformats.org/officeDocument/2006/relationships/image" Target="../media/image4.png"/><Relationship Id="rId3" Type="http://schemas.openxmlformats.org/officeDocument/2006/relationships/hyperlink" Target="https://arxiv.org/" TargetMode="External"/><Relationship Id="rId7" Type="http://schemas.openxmlformats.org/officeDocument/2006/relationships/hyperlink" Target="http://link.springer.com/" TargetMode="External"/><Relationship Id="rId12" Type="http://schemas.openxmlformats.org/officeDocument/2006/relationships/hyperlink" Target="https://h-brs.digibib.net/er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ebofknowledge.com/" TargetMode="External"/><Relationship Id="rId11" Type="http://schemas.openxmlformats.org/officeDocument/2006/relationships/hyperlink" Target="http://wtiweb.wti-frankfurt.de/fh-rhein-sieg" TargetMode="External"/><Relationship Id="rId5" Type="http://schemas.openxmlformats.org/officeDocument/2006/relationships/hyperlink" Target="https://www.ncbi.nlm.nih.gov/pubmed" TargetMode="External"/><Relationship Id="rId10" Type="http://schemas.openxmlformats.org/officeDocument/2006/relationships/hyperlink" Target="http://portal.acm.org/dl.cfm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ieeexplore.ieee.org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mer-tab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mer-tab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nnectedpapers.com/" TargetMode="External"/><Relationship Id="rId13" Type="http://schemas.microsoft.com/office/2007/relationships/hdphoto" Target="../media/hdphoto1.wdp"/><Relationship Id="rId3" Type="http://schemas.openxmlformats.org/officeDocument/2006/relationships/hyperlink" Target="http://scholar.google.com/" TargetMode="External"/><Relationship Id="rId7" Type="http://schemas.openxmlformats.org/officeDocument/2006/relationships/hyperlink" Target="https://www.researchrabbit.ai/" TargetMode="External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elicit.com/" TargetMode="External"/><Relationship Id="rId11" Type="http://schemas.openxmlformats.org/officeDocument/2006/relationships/image" Target="../media/image43.png"/><Relationship Id="rId5" Type="http://schemas.openxmlformats.org/officeDocument/2006/relationships/hyperlink" Target="https://www.semanticscholar.org/" TargetMode="External"/><Relationship Id="rId10" Type="http://schemas.openxmlformats.org/officeDocument/2006/relationships/image" Target="../media/image50.png"/><Relationship Id="rId4" Type="http://schemas.openxmlformats.org/officeDocument/2006/relationships/hyperlink" Target="https://www.base-search.net/" TargetMode="External"/><Relationship Id="rId9" Type="http://schemas.openxmlformats.org/officeDocument/2006/relationships/hyperlink" Target="https://consensus.app/" TargetMode="External"/><Relationship Id="rId1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ofscience.com/wos/woscc/cited-reference-search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unpaywall.org/" TargetMode="External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h-brs.de/de/bib/fernleihe" TargetMode="External"/><Relationship Id="rId5" Type="http://schemas.openxmlformats.org/officeDocument/2006/relationships/image" Target="../media/image54.png"/><Relationship Id="rId4" Type="http://schemas.openxmlformats.org/officeDocument/2006/relationships/hyperlink" Target="https://www.h-brs.de/de/bib/bibliothek-anschaffungsvorschlag" TargetMode="External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literaturverwaltung.wordpress.com/vergleich-literaturverwaltungssoftware/" TargetMode="External"/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mendeley.com/" TargetMode="External"/><Relationship Id="rId5" Type="http://schemas.openxmlformats.org/officeDocument/2006/relationships/image" Target="../media/image58.png"/><Relationship Id="rId4" Type="http://schemas.openxmlformats.org/officeDocument/2006/relationships/hyperlink" Target="https://www.zotero.org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zdb-katalog.de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hyperlink" Target="http://ezb.uni-regensburg.de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mer-tab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560512" y="3081338"/>
            <a:ext cx="2880320" cy="395337"/>
          </a:xfrm>
        </p:spPr>
        <p:txBody>
          <a:bodyPr/>
          <a:lstStyle/>
          <a:p>
            <a:r>
              <a:rPr lang="de-DE" altLang="de-DE" sz="2400" dirty="0"/>
              <a:t>April 2026</a:t>
            </a:r>
          </a:p>
          <a:p>
            <a:endParaRPr lang="de-DE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Melanie Klöß, Dipl. Phys.</a:t>
            </a:r>
            <a:br>
              <a:rPr lang="de-DE" b="0" dirty="0"/>
            </a:br>
            <a:r>
              <a:rPr lang="de-DE" dirty="0"/>
              <a:t>Hochschul- und Kreisbibliothek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sz="quarter"/>
          </p:nvPr>
        </p:nvSpPr>
        <p:spPr>
          <a:xfrm>
            <a:off x="466990" y="2509838"/>
            <a:ext cx="9022514" cy="571500"/>
          </a:xfrm>
        </p:spPr>
        <p:txBody>
          <a:bodyPr/>
          <a:lstStyle/>
          <a:p>
            <a:r>
              <a:rPr lang="de-DE" sz="3600" b="0" dirty="0">
                <a:latin typeface="+mj-lt"/>
              </a:rPr>
              <a:t>Systematische Literaturrecherche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3283322" y="139965"/>
            <a:ext cx="6595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2"/>
                </a:solidFill>
                <a:latin typeface="+mj-lt"/>
              </a:rPr>
              <a:t>Systematische Literaturrecherche (SLR)</a:t>
            </a:r>
          </a:p>
        </p:txBody>
      </p:sp>
      <p:grpSp>
        <p:nvGrpSpPr>
          <p:cNvPr id="2" name="Gruppieren 1" hidden="1"/>
          <p:cNvGrpSpPr/>
          <p:nvPr/>
        </p:nvGrpSpPr>
        <p:grpSpPr>
          <a:xfrm>
            <a:off x="2600357" y="5370792"/>
            <a:ext cx="2105736" cy="1512169"/>
            <a:chOff x="398992" y="4914201"/>
            <a:chExt cx="2105736" cy="1512169"/>
          </a:xfrm>
        </p:grpSpPr>
        <p:sp>
          <p:nvSpPr>
            <p:cNvPr id="11" name="Rechteck 10">
              <a:hlinkClick r:id="rId3"/>
            </p:cNvPr>
            <p:cNvSpPr/>
            <p:nvPr/>
          </p:nvSpPr>
          <p:spPr bwMode="auto">
            <a:xfrm>
              <a:off x="398992" y="4914201"/>
              <a:ext cx="2105736" cy="1512169"/>
            </a:xfrm>
            <a:prstGeom prst="rect">
              <a:avLst/>
            </a:prstGeom>
            <a:solidFill>
              <a:schemeClr val="accent4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32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PubMed</a:t>
              </a:r>
              <a:endParaRPr kumimoji="0" lang="de-D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101780" y="5013178"/>
              <a:ext cx="268397" cy="349475"/>
            </a:xfrm>
            <a:prstGeom prst="rect">
              <a:avLst/>
            </a:prstGeom>
          </p:spPr>
        </p:pic>
      </p:grpSp>
      <p:grpSp>
        <p:nvGrpSpPr>
          <p:cNvPr id="31" name="PubMed" hidden="1">
            <a:extLst>
              <a:ext uri="{FF2B5EF4-FFF2-40B4-BE49-F238E27FC236}">
                <a16:creationId xmlns:a16="http://schemas.microsoft.com/office/drawing/2014/main" id="{6F5E197D-313D-4423-BF28-F23C4B1ADBA0}"/>
              </a:ext>
            </a:extLst>
          </p:cNvPr>
          <p:cNvGrpSpPr/>
          <p:nvPr/>
        </p:nvGrpSpPr>
        <p:grpSpPr>
          <a:xfrm>
            <a:off x="6645000" y="4120234"/>
            <a:ext cx="2691017" cy="2301229"/>
            <a:chOff x="6289825" y="3672260"/>
            <a:chExt cx="2691017" cy="2301229"/>
          </a:xfrm>
        </p:grpSpPr>
        <p:sp>
          <p:nvSpPr>
            <p:cNvPr id="30" name="Gleichschenkliges Dreieck 29">
              <a:extLst>
                <a:ext uri="{FF2B5EF4-FFF2-40B4-BE49-F238E27FC236}">
                  <a16:creationId xmlns:a16="http://schemas.microsoft.com/office/drawing/2014/main" id="{5550C01D-AF90-4805-A0E6-D712B0946987}"/>
                </a:ext>
              </a:extLst>
            </p:cNvPr>
            <p:cNvSpPr/>
            <p:nvPr/>
          </p:nvSpPr>
          <p:spPr bwMode="auto">
            <a:xfrm rot="7452923">
              <a:off x="6701611" y="3707183"/>
              <a:ext cx="2301229" cy="2231384"/>
            </a:xfrm>
            <a:custGeom>
              <a:avLst/>
              <a:gdLst>
                <a:gd name="connsiteX0" fmla="*/ 0 w 1575687"/>
                <a:gd name="connsiteY0" fmla="*/ 1097376 h 1097376"/>
                <a:gd name="connsiteX1" fmla="*/ 787844 w 1575687"/>
                <a:gd name="connsiteY1" fmla="*/ 0 h 1097376"/>
                <a:gd name="connsiteX2" fmla="*/ 1575687 w 1575687"/>
                <a:gd name="connsiteY2" fmla="*/ 1097376 h 1097376"/>
                <a:gd name="connsiteX3" fmla="*/ 0 w 1575687"/>
                <a:gd name="connsiteY3" fmla="*/ 1097376 h 1097376"/>
                <a:gd name="connsiteX0" fmla="*/ 0 w 1800763"/>
                <a:gd name="connsiteY0" fmla="*/ 752826 h 1097376"/>
                <a:gd name="connsiteX1" fmla="*/ 1012920 w 1800763"/>
                <a:gd name="connsiteY1" fmla="*/ 0 h 1097376"/>
                <a:gd name="connsiteX2" fmla="*/ 1800763 w 1800763"/>
                <a:gd name="connsiteY2" fmla="*/ 1097376 h 1097376"/>
                <a:gd name="connsiteX3" fmla="*/ 0 w 1800763"/>
                <a:gd name="connsiteY3" fmla="*/ 752826 h 1097376"/>
                <a:gd name="connsiteX0" fmla="*/ 0 w 1800763"/>
                <a:gd name="connsiteY0" fmla="*/ 784836 h 1129386"/>
                <a:gd name="connsiteX1" fmla="*/ 1046442 w 1800763"/>
                <a:gd name="connsiteY1" fmla="*/ 0 h 1129386"/>
                <a:gd name="connsiteX2" fmla="*/ 1800763 w 1800763"/>
                <a:gd name="connsiteY2" fmla="*/ 1129386 h 1129386"/>
                <a:gd name="connsiteX3" fmla="*/ 0 w 1800763"/>
                <a:gd name="connsiteY3" fmla="*/ 784836 h 1129386"/>
                <a:gd name="connsiteX0" fmla="*/ 0 w 1800763"/>
                <a:gd name="connsiteY0" fmla="*/ 734175 h 1078725"/>
                <a:gd name="connsiteX1" fmla="*/ 1053247 w 1800763"/>
                <a:gd name="connsiteY1" fmla="*/ 0 h 1078725"/>
                <a:gd name="connsiteX2" fmla="*/ 1800763 w 1800763"/>
                <a:gd name="connsiteY2" fmla="*/ 1078725 h 1078725"/>
                <a:gd name="connsiteX3" fmla="*/ 0 w 1800763"/>
                <a:gd name="connsiteY3" fmla="*/ 734175 h 1078725"/>
                <a:gd name="connsiteX0" fmla="*/ 0 w 1800763"/>
                <a:gd name="connsiteY0" fmla="*/ 745153 h 1089703"/>
                <a:gd name="connsiteX1" fmla="*/ 730898 w 1800763"/>
                <a:gd name="connsiteY1" fmla="*/ 0 h 1089703"/>
                <a:gd name="connsiteX2" fmla="*/ 1800763 w 1800763"/>
                <a:gd name="connsiteY2" fmla="*/ 1089703 h 1089703"/>
                <a:gd name="connsiteX3" fmla="*/ 0 w 1800763"/>
                <a:gd name="connsiteY3" fmla="*/ 745153 h 1089703"/>
                <a:gd name="connsiteX0" fmla="*/ 0 w 1810930"/>
                <a:gd name="connsiteY0" fmla="*/ 745153 h 1100058"/>
                <a:gd name="connsiteX1" fmla="*/ 730898 w 1810930"/>
                <a:gd name="connsiteY1" fmla="*/ 0 h 1100058"/>
                <a:gd name="connsiteX2" fmla="*/ 1810930 w 1810930"/>
                <a:gd name="connsiteY2" fmla="*/ 1100058 h 1100058"/>
                <a:gd name="connsiteX3" fmla="*/ 0 w 1810930"/>
                <a:gd name="connsiteY3" fmla="*/ 745153 h 1100058"/>
                <a:gd name="connsiteX0" fmla="*/ 0 w 1638089"/>
                <a:gd name="connsiteY0" fmla="*/ 258685 h 1100058"/>
                <a:gd name="connsiteX1" fmla="*/ 558057 w 1638089"/>
                <a:gd name="connsiteY1" fmla="*/ 0 h 1100058"/>
                <a:gd name="connsiteX2" fmla="*/ 1638089 w 1638089"/>
                <a:gd name="connsiteY2" fmla="*/ 1100058 h 1100058"/>
                <a:gd name="connsiteX3" fmla="*/ 0 w 1638089"/>
                <a:gd name="connsiteY3" fmla="*/ 258685 h 1100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8089" h="1100058">
                  <a:moveTo>
                    <a:pt x="0" y="258685"/>
                  </a:moveTo>
                  <a:lnTo>
                    <a:pt x="558057" y="0"/>
                  </a:lnTo>
                  <a:lnTo>
                    <a:pt x="1638089" y="1100058"/>
                  </a:lnTo>
                  <a:lnTo>
                    <a:pt x="0" y="258685"/>
                  </a:lnTo>
                  <a:close/>
                </a:path>
              </a:pathLst>
            </a:custGeom>
            <a:solidFill>
              <a:schemeClr val="accent2">
                <a:alpha val="18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endParaRPr>
            </a:p>
          </p:txBody>
        </p:sp>
        <p:sp>
          <p:nvSpPr>
            <p:cNvPr id="26" name="Rechteck 25">
              <a:hlinkClick r:id="rId3"/>
              <a:extLst>
                <a:ext uri="{FF2B5EF4-FFF2-40B4-BE49-F238E27FC236}">
                  <a16:creationId xmlns:a16="http://schemas.microsoft.com/office/drawing/2014/main" id="{23611E92-2762-4568-996B-1260D45A85A9}"/>
                </a:ext>
              </a:extLst>
            </p:cNvPr>
            <p:cNvSpPr/>
            <p:nvPr/>
          </p:nvSpPr>
          <p:spPr bwMode="auto">
            <a:xfrm>
              <a:off x="6289825" y="4207835"/>
              <a:ext cx="2691017" cy="939155"/>
            </a:xfrm>
            <a:prstGeom prst="rect">
              <a:avLst/>
            </a:prstGeom>
            <a:solidFill>
              <a:schemeClr val="accent4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3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PubMed</a:t>
              </a:r>
              <a:endParaRPr kumimoji="0" lang="de-DE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28" name="Schloss rot">
              <a:extLst>
                <a:ext uri="{FF2B5EF4-FFF2-40B4-BE49-F238E27FC236}">
                  <a16:creationId xmlns:a16="http://schemas.microsoft.com/office/drawing/2014/main" id="{E4C2036D-8B36-4DFB-A432-3805A6F27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671412" y="4300897"/>
              <a:ext cx="268185" cy="349200"/>
            </a:xfrm>
            <a:prstGeom prst="rect">
              <a:avLst/>
            </a:prstGeom>
          </p:spPr>
        </p:pic>
        <p:pic>
          <p:nvPicPr>
            <p:cNvPr id="27" name="Schloss grün">
              <a:extLst>
                <a:ext uri="{FF2B5EF4-FFF2-40B4-BE49-F238E27FC236}">
                  <a16:creationId xmlns:a16="http://schemas.microsoft.com/office/drawing/2014/main" id="{89EC2679-AA9C-4862-8957-36820FF9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15521" y="4223055"/>
              <a:ext cx="268397" cy="349475"/>
            </a:xfrm>
            <a:prstGeom prst="rect">
              <a:avLst/>
            </a:prstGeom>
          </p:spPr>
        </p:pic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DA8DFAE9-B5B6-478C-BEAB-43D851393DCE}"/>
              </a:ext>
            </a:extLst>
          </p:cNvPr>
          <p:cNvSpPr txBox="1"/>
          <p:nvPr/>
        </p:nvSpPr>
        <p:spPr>
          <a:xfrm>
            <a:off x="315479" y="1178107"/>
            <a:ext cx="8846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 err="1"/>
              <a:t>Ziel</a:t>
            </a:r>
            <a:r>
              <a:rPr lang="en-US" dirty="0"/>
              <a:t>: </a:t>
            </a:r>
            <a:r>
              <a:rPr lang="en-US" dirty="0" err="1"/>
              <a:t>Methodisch</a:t>
            </a:r>
            <a:r>
              <a:rPr lang="en-US" dirty="0"/>
              <a:t> </a:t>
            </a:r>
            <a:r>
              <a:rPr lang="en-US" dirty="0" err="1"/>
              <a:t>strenge</a:t>
            </a:r>
            <a:r>
              <a:rPr lang="en-US" dirty="0"/>
              <a:t> </a:t>
            </a:r>
            <a:r>
              <a:rPr lang="en-US" dirty="0" err="1"/>
              <a:t>Überprüfung</a:t>
            </a:r>
            <a:r>
              <a:rPr lang="en-US" dirty="0"/>
              <a:t> von </a:t>
            </a:r>
            <a:r>
              <a:rPr lang="en-US" dirty="0" err="1"/>
              <a:t>Forschungsergebnissen</a:t>
            </a:r>
            <a:endParaRPr lang="de-DE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B0B9E37-371B-4CE1-A44E-9A868AA81AD9}"/>
              </a:ext>
            </a:extLst>
          </p:cNvPr>
          <p:cNvSpPr/>
          <p:nvPr/>
        </p:nvSpPr>
        <p:spPr>
          <a:xfrm>
            <a:off x="315479" y="2774230"/>
            <a:ext cx="9276529" cy="2351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</a:rPr>
              <a:t>Existierende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Forschungsergebnisse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bündeln</a:t>
            </a:r>
            <a:r>
              <a:rPr lang="en-US" dirty="0">
                <a:latin typeface="+mj-lt"/>
              </a:rPr>
              <a:t> </a:t>
            </a: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</a:rPr>
              <a:t>Forschungslücken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identifizieren</a:t>
            </a:r>
            <a:r>
              <a:rPr lang="en-US" dirty="0">
                <a:latin typeface="+mj-lt"/>
              </a:rPr>
              <a:t> </a:t>
            </a: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Rahmen für weitere Forschungstätigkeiten schaffen: </a:t>
            </a:r>
            <a:br>
              <a:rPr lang="de-DE" dirty="0">
                <a:latin typeface="+mj-lt"/>
              </a:rPr>
            </a:br>
            <a:r>
              <a:rPr lang="de-DE" dirty="0">
                <a:latin typeface="+mj-lt"/>
              </a:rPr>
              <a:t> </a:t>
            </a:r>
            <a:r>
              <a:rPr lang="de-DE" sz="2600" dirty="0">
                <a:latin typeface="+mj-lt"/>
              </a:rPr>
              <a:t>neu Hypothesen aufstellen / bestehende Hypothesen testen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77AC8BA-6545-4332-B629-53FB39E6D1D1}"/>
              </a:ext>
            </a:extLst>
          </p:cNvPr>
          <p:cNvSpPr txBox="1"/>
          <p:nvPr/>
        </p:nvSpPr>
        <p:spPr>
          <a:xfrm>
            <a:off x="639967" y="5834488"/>
            <a:ext cx="5721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4"/>
                </a:solidFill>
              </a:rPr>
              <a:t>Zu prüfen</a:t>
            </a:r>
            <a:r>
              <a:rPr lang="de-DE" dirty="0">
                <a:solidFill>
                  <a:schemeClr val="accent4"/>
                </a:solidFill>
              </a:rPr>
              <a:t>: Sinnvoll? Machbar?</a:t>
            </a:r>
          </a:p>
        </p:txBody>
      </p:sp>
    </p:spTree>
    <p:extLst>
      <p:ext uri="{BB962C8B-B14F-4D97-AF65-F5344CB8AC3E}">
        <p14:creationId xmlns:p14="http://schemas.microsoft.com/office/powerpoint/2010/main" val="193137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29"/>
          <p:cNvSpPr txBox="1"/>
          <p:nvPr/>
        </p:nvSpPr>
        <p:spPr>
          <a:xfrm>
            <a:off x="4852919" y="139965"/>
            <a:ext cx="5025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chemeClr val="bg2"/>
                </a:solidFill>
                <a:latin typeface="+mj-lt"/>
              </a:rPr>
              <a:t>Literaturrecherche / SLR – 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Überblick</a:t>
            </a: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305E537D-5B3D-4F63-ABFE-85DD485EFB1B}"/>
              </a:ext>
            </a:extLst>
          </p:cNvPr>
          <p:cNvGrpSpPr/>
          <p:nvPr/>
        </p:nvGrpSpPr>
        <p:grpSpPr>
          <a:xfrm>
            <a:off x="667702" y="1566787"/>
            <a:ext cx="8570597" cy="2063565"/>
            <a:chOff x="691249" y="1207386"/>
            <a:chExt cx="8570597" cy="2063565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BFD4AC2F-44C2-4E33-A289-C78465989724}"/>
                </a:ext>
              </a:extLst>
            </p:cNvPr>
            <p:cNvGrpSpPr/>
            <p:nvPr/>
          </p:nvGrpSpPr>
          <p:grpSpPr>
            <a:xfrm>
              <a:off x="691249" y="1243544"/>
              <a:ext cx="2078863" cy="1704039"/>
              <a:chOff x="959859" y="1300410"/>
              <a:chExt cx="2078863" cy="1704039"/>
            </a:xfrm>
          </p:grpSpPr>
          <p:sp>
            <p:nvSpPr>
              <p:cNvPr id="5" name="Flussdiagramm: Verbinder zu einer anderen Seite 4">
                <a:extLst>
                  <a:ext uri="{FF2B5EF4-FFF2-40B4-BE49-F238E27FC236}">
                    <a16:creationId xmlns:a16="http://schemas.microsoft.com/office/drawing/2014/main" id="{62FDCEFF-F6CB-428F-8E6C-70FDD918DD8A}"/>
                  </a:ext>
                </a:extLst>
              </p:cNvPr>
              <p:cNvSpPr/>
              <p:nvPr/>
            </p:nvSpPr>
            <p:spPr bwMode="auto">
              <a:xfrm rot="16200000">
                <a:off x="1147271" y="1112998"/>
                <a:ext cx="1704039" cy="2078863"/>
              </a:xfrm>
              <a:prstGeom prst="flowChartOffpageConnector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de-DE"/>
              </a:p>
            </p:txBody>
          </p:sp>
          <p:pic>
            <p:nvPicPr>
              <p:cNvPr id="41" name="Grafik 40">
                <a:extLst>
                  <a:ext uri="{FF2B5EF4-FFF2-40B4-BE49-F238E27FC236}">
                    <a16:creationId xmlns:a16="http://schemas.microsoft.com/office/drawing/2014/main" id="{DE216024-0E11-4CA1-B13E-33E2ECBCE3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15056" y="166466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3" name="Rechteck 2">
                <a:extLst>
                  <a:ext uri="{FF2B5EF4-FFF2-40B4-BE49-F238E27FC236}">
                    <a16:creationId xmlns:a16="http://schemas.microsoft.com/office/drawing/2014/main" id="{E75E0A52-349E-4B96-A1C1-235BBAB42BD0}"/>
                  </a:ext>
                </a:extLst>
              </p:cNvPr>
              <p:cNvSpPr/>
              <p:nvPr/>
            </p:nvSpPr>
            <p:spPr>
              <a:xfrm>
                <a:off x="1151760" y="2325756"/>
                <a:ext cx="153663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2000" dirty="0">
                    <a:latin typeface="+mj-lt"/>
                  </a:rPr>
                  <a:t>Vorbereitung</a:t>
                </a:r>
                <a:endParaRPr lang="de-DE" dirty="0">
                  <a:latin typeface="+mj-lt"/>
                </a:endParaRPr>
              </a:p>
            </p:txBody>
          </p: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2E320375-9FD2-4968-ADAF-13BA65383D71}"/>
                </a:ext>
              </a:extLst>
            </p:cNvPr>
            <p:cNvGrpSpPr/>
            <p:nvPr/>
          </p:nvGrpSpPr>
          <p:grpSpPr>
            <a:xfrm>
              <a:off x="2964399" y="1243544"/>
              <a:ext cx="2078863" cy="1704039"/>
              <a:chOff x="3200150" y="1298068"/>
              <a:chExt cx="2078863" cy="1704039"/>
            </a:xfrm>
          </p:grpSpPr>
          <p:sp>
            <p:nvSpPr>
              <p:cNvPr id="52" name="Flussdiagramm: Verbinder zu einer anderen Seite 51">
                <a:extLst>
                  <a:ext uri="{FF2B5EF4-FFF2-40B4-BE49-F238E27FC236}">
                    <a16:creationId xmlns:a16="http://schemas.microsoft.com/office/drawing/2014/main" id="{120201FC-9242-4A10-8F8E-C38D8C067E3B}"/>
                  </a:ext>
                </a:extLst>
              </p:cNvPr>
              <p:cNvSpPr/>
              <p:nvPr/>
            </p:nvSpPr>
            <p:spPr bwMode="auto">
              <a:xfrm rot="16200000">
                <a:off x="3387562" y="1110656"/>
                <a:ext cx="1704039" cy="2078863"/>
              </a:xfrm>
              <a:prstGeom prst="flowChartOffpageConnector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de-DE"/>
              </a:p>
            </p:txBody>
          </p:sp>
          <p:pic>
            <p:nvPicPr>
              <p:cNvPr id="42" name="Grafik 41">
                <a:extLst>
                  <a:ext uri="{FF2B5EF4-FFF2-40B4-BE49-F238E27FC236}">
                    <a16:creationId xmlns:a16="http://schemas.microsoft.com/office/drawing/2014/main" id="{3A800BD3-523C-46D9-8481-023052D2F1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700937" y="1705126"/>
                <a:ext cx="540000" cy="540000"/>
              </a:xfrm>
              <a:prstGeom prst="rect">
                <a:avLst/>
              </a:prstGeom>
            </p:spPr>
          </p:pic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EB9C8E7B-F692-4DE2-92B2-9BE0779C2C60}"/>
                  </a:ext>
                </a:extLst>
              </p:cNvPr>
              <p:cNvSpPr/>
              <p:nvPr/>
            </p:nvSpPr>
            <p:spPr>
              <a:xfrm>
                <a:off x="3414917" y="2393417"/>
                <a:ext cx="126432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2000" dirty="0">
                    <a:latin typeface="+mj-lt"/>
                  </a:rPr>
                  <a:t>Recherche</a:t>
                </a:r>
              </a:p>
            </p:txBody>
          </p:sp>
          <p:pic>
            <p:nvPicPr>
              <p:cNvPr id="44" name="Grafik 43">
                <a:extLst>
                  <a:ext uri="{FF2B5EF4-FFF2-40B4-BE49-F238E27FC236}">
                    <a16:creationId xmlns:a16="http://schemas.microsoft.com/office/drawing/2014/main" id="{887B164C-D2C9-4930-8DAE-415DC0ABED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070167" y="1597875"/>
                <a:ext cx="463855" cy="463855"/>
              </a:xfrm>
              <a:prstGeom prst="rect">
                <a:avLst/>
              </a:prstGeom>
            </p:spPr>
          </p:pic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6CF657DD-0FD6-47CA-87B1-96821E9E4935}"/>
                </a:ext>
              </a:extLst>
            </p:cNvPr>
            <p:cNvGrpSpPr/>
            <p:nvPr/>
          </p:nvGrpSpPr>
          <p:grpSpPr>
            <a:xfrm>
              <a:off x="5312534" y="1243543"/>
              <a:ext cx="2078863" cy="1704039"/>
              <a:chOff x="5401327" y="1275460"/>
              <a:chExt cx="2078863" cy="1704039"/>
            </a:xfrm>
          </p:grpSpPr>
          <p:sp>
            <p:nvSpPr>
              <p:cNvPr id="53" name="Flussdiagramm: Verbinder zu einer anderen Seite 52">
                <a:extLst>
                  <a:ext uri="{FF2B5EF4-FFF2-40B4-BE49-F238E27FC236}">
                    <a16:creationId xmlns:a16="http://schemas.microsoft.com/office/drawing/2014/main" id="{34927930-4551-4C45-8549-AC889D413496}"/>
                  </a:ext>
                </a:extLst>
              </p:cNvPr>
              <p:cNvSpPr/>
              <p:nvPr/>
            </p:nvSpPr>
            <p:spPr bwMode="auto">
              <a:xfrm rot="16200000">
                <a:off x="5588739" y="1088048"/>
                <a:ext cx="1704039" cy="2078863"/>
              </a:xfrm>
              <a:prstGeom prst="flowChartOffpageConnector">
                <a:avLst/>
              </a:prstGeom>
              <a:solidFill>
                <a:schemeClr val="accent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de-DE"/>
              </a:p>
            </p:txBody>
          </p:sp>
          <p:pic>
            <p:nvPicPr>
              <p:cNvPr id="45" name="Grafik 44">
                <a:extLst>
                  <a:ext uri="{FF2B5EF4-FFF2-40B4-BE49-F238E27FC236}">
                    <a16:creationId xmlns:a16="http://schemas.microsoft.com/office/drawing/2014/main" id="{BBA63B15-535A-4042-9689-9CDCD46884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034815" y="1533834"/>
                <a:ext cx="601309" cy="601309"/>
              </a:xfrm>
              <a:prstGeom prst="rect">
                <a:avLst/>
              </a:prstGeom>
            </p:spPr>
          </p:pic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3D956F48-4129-4D46-9A7B-C5AB70EFB248}"/>
                  </a:ext>
                </a:extLst>
              </p:cNvPr>
              <p:cNvSpPr/>
              <p:nvPr/>
            </p:nvSpPr>
            <p:spPr>
              <a:xfrm>
                <a:off x="5563834" y="2203378"/>
                <a:ext cx="144116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de-DE" sz="2000" dirty="0">
                    <a:latin typeface="+mj-lt"/>
                  </a:rPr>
                  <a:t>Literatur-</a:t>
                </a:r>
                <a:br>
                  <a:rPr lang="de-DE" sz="2000" dirty="0">
                    <a:latin typeface="+mj-lt"/>
                  </a:rPr>
                </a:br>
                <a:r>
                  <a:rPr lang="de-DE" sz="2000" dirty="0" err="1">
                    <a:latin typeface="+mj-lt"/>
                  </a:rPr>
                  <a:t>beschaffung</a:t>
                </a:r>
                <a:endParaRPr lang="de-DE" sz="2000" dirty="0">
                  <a:latin typeface="+mj-lt"/>
                </a:endParaRPr>
              </a:p>
            </p:txBody>
          </p:sp>
        </p:grp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A618095-914B-4F2E-87BC-BFCA0710E252}"/>
                </a:ext>
              </a:extLst>
            </p:cNvPr>
            <p:cNvGrpSpPr/>
            <p:nvPr/>
          </p:nvGrpSpPr>
          <p:grpSpPr>
            <a:xfrm>
              <a:off x="7648924" y="1207386"/>
              <a:ext cx="1612922" cy="1733928"/>
              <a:chOff x="7819917" y="1268179"/>
              <a:chExt cx="1612922" cy="1733928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19009795-929A-4B3F-B48A-D676ED63C092}"/>
                  </a:ext>
                </a:extLst>
              </p:cNvPr>
              <p:cNvSpPr/>
              <p:nvPr/>
            </p:nvSpPr>
            <p:spPr bwMode="auto">
              <a:xfrm>
                <a:off x="7819917" y="1268179"/>
                <a:ext cx="1612922" cy="173392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de-DE">
                  <a:solidFill>
                    <a:schemeClr val="lt1"/>
                  </a:solidFill>
                  <a:latin typeface="+mn-lt"/>
                </a:endParaRPr>
              </a:p>
            </p:txBody>
          </p:sp>
          <p:pic>
            <p:nvPicPr>
              <p:cNvPr id="47" name="Grafik 46">
                <a:extLst>
                  <a:ext uri="{FF2B5EF4-FFF2-40B4-BE49-F238E27FC236}">
                    <a16:creationId xmlns:a16="http://schemas.microsoft.com/office/drawing/2014/main" id="{C4BE77DC-2696-4A57-938B-CCA6A9FD0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68009" y="1595143"/>
                <a:ext cx="540000" cy="540000"/>
              </a:xfrm>
              <a:prstGeom prst="rect">
                <a:avLst/>
              </a:prstGeom>
            </p:spPr>
          </p:pic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AD6F81E6-1030-49A9-89E9-1887F57B30AF}"/>
                  </a:ext>
                </a:extLst>
              </p:cNvPr>
              <p:cNvSpPr/>
              <p:nvPr/>
            </p:nvSpPr>
            <p:spPr>
              <a:xfrm>
                <a:off x="7999733" y="2325756"/>
                <a:ext cx="12467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de-DE" sz="2000" dirty="0">
                    <a:latin typeface="+mj-lt"/>
                  </a:rPr>
                  <a:t>Evaluation</a:t>
                </a:r>
              </a:p>
            </p:txBody>
          </p:sp>
        </p:grp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78162631-3E89-4023-BC52-38AF4A2AB3E6}"/>
                </a:ext>
              </a:extLst>
            </p:cNvPr>
            <p:cNvSpPr/>
            <p:nvPr/>
          </p:nvSpPr>
          <p:spPr bwMode="auto">
            <a:xfrm>
              <a:off x="1605794" y="2927691"/>
              <a:ext cx="6850380" cy="343260"/>
            </a:xfrm>
            <a:custGeom>
              <a:avLst/>
              <a:gdLst>
                <a:gd name="connsiteX0" fmla="*/ 6850380 w 6850380"/>
                <a:gd name="connsiteY0" fmla="*/ 0 h 172197"/>
                <a:gd name="connsiteX1" fmla="*/ 4320540 w 6850380"/>
                <a:gd name="connsiteY1" fmla="*/ 160020 h 172197"/>
                <a:gd name="connsiteX2" fmla="*/ 784860 w 6850380"/>
                <a:gd name="connsiteY2" fmla="*/ 144780 h 172197"/>
                <a:gd name="connsiteX3" fmla="*/ 0 w 6850380"/>
                <a:gd name="connsiteY3" fmla="*/ 15240 h 172197"/>
                <a:gd name="connsiteX4" fmla="*/ 0 w 6850380"/>
                <a:gd name="connsiteY4" fmla="*/ 15240 h 172197"/>
                <a:gd name="connsiteX0" fmla="*/ 6853806 w 6853806"/>
                <a:gd name="connsiteY0" fmla="*/ 0 h 184467"/>
                <a:gd name="connsiteX1" fmla="*/ 5314566 w 6853806"/>
                <a:gd name="connsiteY1" fmla="*/ 175260 h 184467"/>
                <a:gd name="connsiteX2" fmla="*/ 788286 w 6853806"/>
                <a:gd name="connsiteY2" fmla="*/ 144780 h 184467"/>
                <a:gd name="connsiteX3" fmla="*/ 3426 w 6853806"/>
                <a:gd name="connsiteY3" fmla="*/ 15240 h 184467"/>
                <a:gd name="connsiteX4" fmla="*/ 3426 w 6853806"/>
                <a:gd name="connsiteY4" fmla="*/ 15240 h 184467"/>
                <a:gd name="connsiteX0" fmla="*/ 6853806 w 6853806"/>
                <a:gd name="connsiteY0" fmla="*/ 0 h 184467"/>
                <a:gd name="connsiteX1" fmla="*/ 5314566 w 6853806"/>
                <a:gd name="connsiteY1" fmla="*/ 175260 h 184467"/>
                <a:gd name="connsiteX2" fmla="*/ 788286 w 6853806"/>
                <a:gd name="connsiteY2" fmla="*/ 144780 h 184467"/>
                <a:gd name="connsiteX3" fmla="*/ 3426 w 6853806"/>
                <a:gd name="connsiteY3" fmla="*/ 15240 h 184467"/>
                <a:gd name="connsiteX4" fmla="*/ 3426 w 6853806"/>
                <a:gd name="connsiteY4" fmla="*/ 15240 h 184467"/>
                <a:gd name="connsiteX0" fmla="*/ 6850380 w 6850380"/>
                <a:gd name="connsiteY0" fmla="*/ 0 h 182475"/>
                <a:gd name="connsiteX1" fmla="*/ 5311140 w 6850380"/>
                <a:gd name="connsiteY1" fmla="*/ 175260 h 182475"/>
                <a:gd name="connsiteX2" fmla="*/ 784860 w 6850380"/>
                <a:gd name="connsiteY2" fmla="*/ 144780 h 182475"/>
                <a:gd name="connsiteX3" fmla="*/ 0 w 6850380"/>
                <a:gd name="connsiteY3" fmla="*/ 15240 h 182475"/>
                <a:gd name="connsiteX4" fmla="*/ 0 w 6850380"/>
                <a:gd name="connsiteY4" fmla="*/ 15240 h 182475"/>
                <a:gd name="connsiteX0" fmla="*/ 6850380 w 6850380"/>
                <a:gd name="connsiteY0" fmla="*/ 0 h 182475"/>
                <a:gd name="connsiteX1" fmla="*/ 5311140 w 6850380"/>
                <a:gd name="connsiteY1" fmla="*/ 175260 h 182475"/>
                <a:gd name="connsiteX2" fmla="*/ 784860 w 6850380"/>
                <a:gd name="connsiteY2" fmla="*/ 144780 h 182475"/>
                <a:gd name="connsiteX3" fmla="*/ 0 w 6850380"/>
                <a:gd name="connsiteY3" fmla="*/ 15240 h 182475"/>
                <a:gd name="connsiteX4" fmla="*/ 0 w 6850380"/>
                <a:gd name="connsiteY4" fmla="*/ 15240 h 182475"/>
                <a:gd name="connsiteX0" fmla="*/ 6850380 w 6850380"/>
                <a:gd name="connsiteY0" fmla="*/ 0 h 182475"/>
                <a:gd name="connsiteX1" fmla="*/ 5311140 w 6850380"/>
                <a:gd name="connsiteY1" fmla="*/ 175260 h 182475"/>
                <a:gd name="connsiteX2" fmla="*/ 784860 w 6850380"/>
                <a:gd name="connsiteY2" fmla="*/ 144780 h 182475"/>
                <a:gd name="connsiteX3" fmla="*/ 0 w 6850380"/>
                <a:gd name="connsiteY3" fmla="*/ 15240 h 182475"/>
                <a:gd name="connsiteX4" fmla="*/ 0 w 6850380"/>
                <a:gd name="connsiteY4" fmla="*/ 15240 h 182475"/>
                <a:gd name="connsiteX0" fmla="*/ 6850380 w 6850380"/>
                <a:gd name="connsiteY0" fmla="*/ 0 h 182475"/>
                <a:gd name="connsiteX1" fmla="*/ 5311140 w 6850380"/>
                <a:gd name="connsiteY1" fmla="*/ 175260 h 182475"/>
                <a:gd name="connsiteX2" fmla="*/ 556260 w 6850380"/>
                <a:gd name="connsiteY2" fmla="*/ 144780 h 182475"/>
                <a:gd name="connsiteX3" fmla="*/ 0 w 6850380"/>
                <a:gd name="connsiteY3" fmla="*/ 15240 h 182475"/>
                <a:gd name="connsiteX4" fmla="*/ 0 w 6850380"/>
                <a:gd name="connsiteY4" fmla="*/ 15240 h 182475"/>
                <a:gd name="connsiteX0" fmla="*/ 6850380 w 6850380"/>
                <a:gd name="connsiteY0" fmla="*/ 0 h 179796"/>
                <a:gd name="connsiteX1" fmla="*/ 5311140 w 6850380"/>
                <a:gd name="connsiteY1" fmla="*/ 175260 h 179796"/>
                <a:gd name="connsiteX2" fmla="*/ 556260 w 6850380"/>
                <a:gd name="connsiteY2" fmla="*/ 144780 h 179796"/>
                <a:gd name="connsiteX3" fmla="*/ 0 w 6850380"/>
                <a:gd name="connsiteY3" fmla="*/ 15240 h 179796"/>
                <a:gd name="connsiteX4" fmla="*/ 0 w 6850380"/>
                <a:gd name="connsiteY4" fmla="*/ 15240 h 179796"/>
                <a:gd name="connsiteX0" fmla="*/ 6850380 w 6850380"/>
                <a:gd name="connsiteY0" fmla="*/ 0 h 179796"/>
                <a:gd name="connsiteX1" fmla="*/ 5311140 w 6850380"/>
                <a:gd name="connsiteY1" fmla="*/ 175260 h 179796"/>
                <a:gd name="connsiteX2" fmla="*/ 556260 w 6850380"/>
                <a:gd name="connsiteY2" fmla="*/ 144780 h 179796"/>
                <a:gd name="connsiteX3" fmla="*/ 0 w 6850380"/>
                <a:gd name="connsiteY3" fmla="*/ 15240 h 179796"/>
                <a:gd name="connsiteX4" fmla="*/ 0 w 6850380"/>
                <a:gd name="connsiteY4" fmla="*/ 15240 h 179796"/>
                <a:gd name="connsiteX0" fmla="*/ 6850380 w 6850380"/>
                <a:gd name="connsiteY0" fmla="*/ 0 h 179796"/>
                <a:gd name="connsiteX1" fmla="*/ 5311140 w 6850380"/>
                <a:gd name="connsiteY1" fmla="*/ 175260 h 179796"/>
                <a:gd name="connsiteX2" fmla="*/ 556260 w 6850380"/>
                <a:gd name="connsiteY2" fmla="*/ 144780 h 179796"/>
                <a:gd name="connsiteX3" fmla="*/ 0 w 6850380"/>
                <a:gd name="connsiteY3" fmla="*/ 15240 h 179796"/>
                <a:gd name="connsiteX4" fmla="*/ 0 w 6850380"/>
                <a:gd name="connsiteY4" fmla="*/ 15240 h 179796"/>
                <a:gd name="connsiteX0" fmla="*/ 6850380 w 6850380"/>
                <a:gd name="connsiteY0" fmla="*/ 0 h 185799"/>
                <a:gd name="connsiteX1" fmla="*/ 5311140 w 6850380"/>
                <a:gd name="connsiteY1" fmla="*/ 175260 h 185799"/>
                <a:gd name="connsiteX2" fmla="*/ 556260 w 6850380"/>
                <a:gd name="connsiteY2" fmla="*/ 144780 h 185799"/>
                <a:gd name="connsiteX3" fmla="*/ 0 w 6850380"/>
                <a:gd name="connsiteY3" fmla="*/ 15240 h 185799"/>
                <a:gd name="connsiteX4" fmla="*/ 0 w 6850380"/>
                <a:gd name="connsiteY4" fmla="*/ 15240 h 185799"/>
                <a:gd name="connsiteX0" fmla="*/ 6850380 w 6850380"/>
                <a:gd name="connsiteY0" fmla="*/ 0 h 318509"/>
                <a:gd name="connsiteX1" fmla="*/ 5311140 w 6850380"/>
                <a:gd name="connsiteY1" fmla="*/ 175260 h 318509"/>
                <a:gd name="connsiteX2" fmla="*/ 594360 w 6850380"/>
                <a:gd name="connsiteY2" fmla="*/ 312420 h 318509"/>
                <a:gd name="connsiteX3" fmla="*/ 0 w 6850380"/>
                <a:gd name="connsiteY3" fmla="*/ 15240 h 318509"/>
                <a:gd name="connsiteX4" fmla="*/ 0 w 6850380"/>
                <a:gd name="connsiteY4" fmla="*/ 15240 h 318509"/>
                <a:gd name="connsiteX0" fmla="*/ 6859183 w 6859183"/>
                <a:gd name="connsiteY0" fmla="*/ 0 h 365089"/>
                <a:gd name="connsiteX1" fmla="*/ 5426623 w 6859183"/>
                <a:gd name="connsiteY1" fmla="*/ 335280 h 365089"/>
                <a:gd name="connsiteX2" fmla="*/ 603163 w 6859183"/>
                <a:gd name="connsiteY2" fmla="*/ 312420 h 365089"/>
                <a:gd name="connsiteX3" fmla="*/ 8803 w 6859183"/>
                <a:gd name="connsiteY3" fmla="*/ 15240 h 365089"/>
                <a:gd name="connsiteX4" fmla="*/ 8803 w 6859183"/>
                <a:gd name="connsiteY4" fmla="*/ 15240 h 365089"/>
                <a:gd name="connsiteX0" fmla="*/ 6859183 w 6859183"/>
                <a:gd name="connsiteY0" fmla="*/ 0 h 365089"/>
                <a:gd name="connsiteX1" fmla="*/ 5426623 w 6859183"/>
                <a:gd name="connsiteY1" fmla="*/ 335280 h 365089"/>
                <a:gd name="connsiteX2" fmla="*/ 603163 w 6859183"/>
                <a:gd name="connsiteY2" fmla="*/ 312420 h 365089"/>
                <a:gd name="connsiteX3" fmla="*/ 8803 w 6859183"/>
                <a:gd name="connsiteY3" fmla="*/ 15240 h 365089"/>
                <a:gd name="connsiteX4" fmla="*/ 8803 w 6859183"/>
                <a:gd name="connsiteY4" fmla="*/ 15240 h 365089"/>
                <a:gd name="connsiteX0" fmla="*/ 6850380 w 6850380"/>
                <a:gd name="connsiteY0" fmla="*/ 0 h 370539"/>
                <a:gd name="connsiteX1" fmla="*/ 4419600 w 6850380"/>
                <a:gd name="connsiteY1" fmla="*/ 342900 h 370539"/>
                <a:gd name="connsiteX2" fmla="*/ 594360 w 6850380"/>
                <a:gd name="connsiteY2" fmla="*/ 312420 h 370539"/>
                <a:gd name="connsiteX3" fmla="*/ 0 w 6850380"/>
                <a:gd name="connsiteY3" fmla="*/ 15240 h 370539"/>
                <a:gd name="connsiteX4" fmla="*/ 0 w 6850380"/>
                <a:gd name="connsiteY4" fmla="*/ 15240 h 370539"/>
                <a:gd name="connsiteX0" fmla="*/ 6850380 w 6850380"/>
                <a:gd name="connsiteY0" fmla="*/ 0 h 343260"/>
                <a:gd name="connsiteX1" fmla="*/ 4419600 w 6850380"/>
                <a:gd name="connsiteY1" fmla="*/ 342900 h 343260"/>
                <a:gd name="connsiteX2" fmla="*/ 594360 w 6850380"/>
                <a:gd name="connsiteY2" fmla="*/ 312420 h 343260"/>
                <a:gd name="connsiteX3" fmla="*/ 0 w 6850380"/>
                <a:gd name="connsiteY3" fmla="*/ 15240 h 343260"/>
                <a:gd name="connsiteX4" fmla="*/ 0 w 6850380"/>
                <a:gd name="connsiteY4" fmla="*/ 15240 h 343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0380" h="343260">
                  <a:moveTo>
                    <a:pt x="6850380" y="0"/>
                  </a:moveTo>
                  <a:cubicBezTo>
                    <a:pt x="5908040" y="357505"/>
                    <a:pt x="5477510" y="344170"/>
                    <a:pt x="4419600" y="342900"/>
                  </a:cubicBezTo>
                  <a:lnTo>
                    <a:pt x="594360" y="312420"/>
                  </a:lnTo>
                  <a:cubicBezTo>
                    <a:pt x="-142240" y="257810"/>
                    <a:pt x="99060" y="64770"/>
                    <a:pt x="0" y="15240"/>
                  </a:cubicBezTo>
                  <a:lnTo>
                    <a:pt x="0" y="15240"/>
                  </a:lnTo>
                </a:path>
              </a:pathLst>
            </a:custGeom>
            <a:noFill/>
            <a:ln w="57150" cap="flat" cmpd="sng" algn="ctr">
              <a:solidFill>
                <a:schemeClr val="accent4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endParaRPr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79BA17AA-B709-43E9-A868-5B3C2F862500}"/>
                </a:ext>
              </a:extLst>
            </p:cNvPr>
            <p:cNvSpPr/>
            <p:nvPr/>
          </p:nvSpPr>
          <p:spPr bwMode="auto">
            <a:xfrm>
              <a:off x="3781946" y="2921978"/>
              <a:ext cx="4652877" cy="221183"/>
            </a:xfrm>
            <a:custGeom>
              <a:avLst/>
              <a:gdLst>
                <a:gd name="connsiteX0" fmla="*/ 6850380 w 6850380"/>
                <a:gd name="connsiteY0" fmla="*/ 0 h 172197"/>
                <a:gd name="connsiteX1" fmla="*/ 4320540 w 6850380"/>
                <a:gd name="connsiteY1" fmla="*/ 160020 h 172197"/>
                <a:gd name="connsiteX2" fmla="*/ 784860 w 6850380"/>
                <a:gd name="connsiteY2" fmla="*/ 144780 h 172197"/>
                <a:gd name="connsiteX3" fmla="*/ 0 w 6850380"/>
                <a:gd name="connsiteY3" fmla="*/ 15240 h 172197"/>
                <a:gd name="connsiteX4" fmla="*/ 0 w 6850380"/>
                <a:gd name="connsiteY4" fmla="*/ 15240 h 172197"/>
                <a:gd name="connsiteX0" fmla="*/ 6853806 w 6853806"/>
                <a:gd name="connsiteY0" fmla="*/ 0 h 184467"/>
                <a:gd name="connsiteX1" fmla="*/ 5314566 w 6853806"/>
                <a:gd name="connsiteY1" fmla="*/ 175260 h 184467"/>
                <a:gd name="connsiteX2" fmla="*/ 788286 w 6853806"/>
                <a:gd name="connsiteY2" fmla="*/ 144780 h 184467"/>
                <a:gd name="connsiteX3" fmla="*/ 3426 w 6853806"/>
                <a:gd name="connsiteY3" fmla="*/ 15240 h 184467"/>
                <a:gd name="connsiteX4" fmla="*/ 3426 w 6853806"/>
                <a:gd name="connsiteY4" fmla="*/ 15240 h 184467"/>
                <a:gd name="connsiteX0" fmla="*/ 6853806 w 6853806"/>
                <a:gd name="connsiteY0" fmla="*/ 0 h 184467"/>
                <a:gd name="connsiteX1" fmla="*/ 5314566 w 6853806"/>
                <a:gd name="connsiteY1" fmla="*/ 175260 h 184467"/>
                <a:gd name="connsiteX2" fmla="*/ 788286 w 6853806"/>
                <a:gd name="connsiteY2" fmla="*/ 144780 h 184467"/>
                <a:gd name="connsiteX3" fmla="*/ 3426 w 6853806"/>
                <a:gd name="connsiteY3" fmla="*/ 15240 h 184467"/>
                <a:gd name="connsiteX4" fmla="*/ 3426 w 6853806"/>
                <a:gd name="connsiteY4" fmla="*/ 15240 h 184467"/>
                <a:gd name="connsiteX0" fmla="*/ 6850380 w 6850380"/>
                <a:gd name="connsiteY0" fmla="*/ 0 h 182475"/>
                <a:gd name="connsiteX1" fmla="*/ 5311140 w 6850380"/>
                <a:gd name="connsiteY1" fmla="*/ 175260 h 182475"/>
                <a:gd name="connsiteX2" fmla="*/ 784860 w 6850380"/>
                <a:gd name="connsiteY2" fmla="*/ 144780 h 182475"/>
                <a:gd name="connsiteX3" fmla="*/ 0 w 6850380"/>
                <a:gd name="connsiteY3" fmla="*/ 15240 h 182475"/>
                <a:gd name="connsiteX4" fmla="*/ 0 w 6850380"/>
                <a:gd name="connsiteY4" fmla="*/ 15240 h 182475"/>
                <a:gd name="connsiteX0" fmla="*/ 6850380 w 6850380"/>
                <a:gd name="connsiteY0" fmla="*/ 0 h 182475"/>
                <a:gd name="connsiteX1" fmla="*/ 5311140 w 6850380"/>
                <a:gd name="connsiteY1" fmla="*/ 175260 h 182475"/>
                <a:gd name="connsiteX2" fmla="*/ 784860 w 6850380"/>
                <a:gd name="connsiteY2" fmla="*/ 144780 h 182475"/>
                <a:gd name="connsiteX3" fmla="*/ 0 w 6850380"/>
                <a:gd name="connsiteY3" fmla="*/ 15240 h 182475"/>
                <a:gd name="connsiteX4" fmla="*/ 0 w 6850380"/>
                <a:gd name="connsiteY4" fmla="*/ 15240 h 182475"/>
                <a:gd name="connsiteX0" fmla="*/ 6850380 w 6850380"/>
                <a:gd name="connsiteY0" fmla="*/ 0 h 182475"/>
                <a:gd name="connsiteX1" fmla="*/ 5311140 w 6850380"/>
                <a:gd name="connsiteY1" fmla="*/ 175260 h 182475"/>
                <a:gd name="connsiteX2" fmla="*/ 784860 w 6850380"/>
                <a:gd name="connsiteY2" fmla="*/ 144780 h 182475"/>
                <a:gd name="connsiteX3" fmla="*/ 0 w 6850380"/>
                <a:gd name="connsiteY3" fmla="*/ 15240 h 182475"/>
                <a:gd name="connsiteX4" fmla="*/ 0 w 6850380"/>
                <a:gd name="connsiteY4" fmla="*/ 15240 h 182475"/>
                <a:gd name="connsiteX0" fmla="*/ 6850380 w 6850380"/>
                <a:gd name="connsiteY0" fmla="*/ 0 h 182475"/>
                <a:gd name="connsiteX1" fmla="*/ 5311140 w 6850380"/>
                <a:gd name="connsiteY1" fmla="*/ 175260 h 182475"/>
                <a:gd name="connsiteX2" fmla="*/ 556260 w 6850380"/>
                <a:gd name="connsiteY2" fmla="*/ 144780 h 182475"/>
                <a:gd name="connsiteX3" fmla="*/ 0 w 6850380"/>
                <a:gd name="connsiteY3" fmla="*/ 15240 h 182475"/>
                <a:gd name="connsiteX4" fmla="*/ 0 w 6850380"/>
                <a:gd name="connsiteY4" fmla="*/ 15240 h 182475"/>
                <a:gd name="connsiteX0" fmla="*/ 6850380 w 6850380"/>
                <a:gd name="connsiteY0" fmla="*/ 0 h 179796"/>
                <a:gd name="connsiteX1" fmla="*/ 5311140 w 6850380"/>
                <a:gd name="connsiteY1" fmla="*/ 175260 h 179796"/>
                <a:gd name="connsiteX2" fmla="*/ 556260 w 6850380"/>
                <a:gd name="connsiteY2" fmla="*/ 144780 h 179796"/>
                <a:gd name="connsiteX3" fmla="*/ 0 w 6850380"/>
                <a:gd name="connsiteY3" fmla="*/ 15240 h 179796"/>
                <a:gd name="connsiteX4" fmla="*/ 0 w 6850380"/>
                <a:gd name="connsiteY4" fmla="*/ 15240 h 179796"/>
                <a:gd name="connsiteX0" fmla="*/ 6850380 w 6850380"/>
                <a:gd name="connsiteY0" fmla="*/ 0 h 179796"/>
                <a:gd name="connsiteX1" fmla="*/ 5311140 w 6850380"/>
                <a:gd name="connsiteY1" fmla="*/ 175260 h 179796"/>
                <a:gd name="connsiteX2" fmla="*/ 556260 w 6850380"/>
                <a:gd name="connsiteY2" fmla="*/ 144780 h 179796"/>
                <a:gd name="connsiteX3" fmla="*/ 0 w 6850380"/>
                <a:gd name="connsiteY3" fmla="*/ 15240 h 179796"/>
                <a:gd name="connsiteX4" fmla="*/ 0 w 6850380"/>
                <a:gd name="connsiteY4" fmla="*/ 15240 h 179796"/>
                <a:gd name="connsiteX0" fmla="*/ 6850380 w 6850380"/>
                <a:gd name="connsiteY0" fmla="*/ 0 h 179796"/>
                <a:gd name="connsiteX1" fmla="*/ 5311140 w 6850380"/>
                <a:gd name="connsiteY1" fmla="*/ 175260 h 179796"/>
                <a:gd name="connsiteX2" fmla="*/ 556260 w 6850380"/>
                <a:gd name="connsiteY2" fmla="*/ 144780 h 179796"/>
                <a:gd name="connsiteX3" fmla="*/ 0 w 6850380"/>
                <a:gd name="connsiteY3" fmla="*/ 15240 h 179796"/>
                <a:gd name="connsiteX4" fmla="*/ 0 w 6850380"/>
                <a:gd name="connsiteY4" fmla="*/ 15240 h 179796"/>
                <a:gd name="connsiteX0" fmla="*/ 6850380 w 6850380"/>
                <a:gd name="connsiteY0" fmla="*/ 0 h 185799"/>
                <a:gd name="connsiteX1" fmla="*/ 5311140 w 6850380"/>
                <a:gd name="connsiteY1" fmla="*/ 175260 h 185799"/>
                <a:gd name="connsiteX2" fmla="*/ 556260 w 6850380"/>
                <a:gd name="connsiteY2" fmla="*/ 144780 h 185799"/>
                <a:gd name="connsiteX3" fmla="*/ 0 w 6850380"/>
                <a:gd name="connsiteY3" fmla="*/ 15240 h 185799"/>
                <a:gd name="connsiteX4" fmla="*/ 0 w 6850380"/>
                <a:gd name="connsiteY4" fmla="*/ 15240 h 185799"/>
                <a:gd name="connsiteX0" fmla="*/ 6850380 w 6850380"/>
                <a:gd name="connsiteY0" fmla="*/ 0 h 185799"/>
                <a:gd name="connsiteX1" fmla="*/ 5311140 w 6850380"/>
                <a:gd name="connsiteY1" fmla="*/ 175260 h 185799"/>
                <a:gd name="connsiteX2" fmla="*/ 556260 w 6850380"/>
                <a:gd name="connsiteY2" fmla="*/ 144780 h 185799"/>
                <a:gd name="connsiteX3" fmla="*/ 0 w 6850380"/>
                <a:gd name="connsiteY3" fmla="*/ 15240 h 185799"/>
                <a:gd name="connsiteX4" fmla="*/ 0 w 6850380"/>
                <a:gd name="connsiteY4" fmla="*/ 15240 h 185799"/>
                <a:gd name="connsiteX0" fmla="*/ 6850380 w 6850380"/>
                <a:gd name="connsiteY0" fmla="*/ 0 h 262857"/>
                <a:gd name="connsiteX1" fmla="*/ 3852690 w 6850380"/>
                <a:gd name="connsiteY1" fmla="*/ 259080 h 262857"/>
                <a:gd name="connsiteX2" fmla="*/ 556260 w 6850380"/>
                <a:gd name="connsiteY2" fmla="*/ 144780 h 262857"/>
                <a:gd name="connsiteX3" fmla="*/ 0 w 6850380"/>
                <a:gd name="connsiteY3" fmla="*/ 15240 h 262857"/>
                <a:gd name="connsiteX4" fmla="*/ 0 w 6850380"/>
                <a:gd name="connsiteY4" fmla="*/ 15240 h 262857"/>
                <a:gd name="connsiteX0" fmla="*/ 6850380 w 6850380"/>
                <a:gd name="connsiteY0" fmla="*/ 0 h 259525"/>
                <a:gd name="connsiteX1" fmla="*/ 3852690 w 6850380"/>
                <a:gd name="connsiteY1" fmla="*/ 259080 h 259525"/>
                <a:gd name="connsiteX2" fmla="*/ 556260 w 6850380"/>
                <a:gd name="connsiteY2" fmla="*/ 144780 h 259525"/>
                <a:gd name="connsiteX3" fmla="*/ 0 w 6850380"/>
                <a:gd name="connsiteY3" fmla="*/ 15240 h 259525"/>
                <a:gd name="connsiteX4" fmla="*/ 0 w 6850380"/>
                <a:gd name="connsiteY4" fmla="*/ 15240 h 259525"/>
                <a:gd name="connsiteX0" fmla="*/ 6850380 w 6850380"/>
                <a:gd name="connsiteY0" fmla="*/ 0 h 259525"/>
                <a:gd name="connsiteX1" fmla="*/ 3852690 w 6850380"/>
                <a:gd name="connsiteY1" fmla="*/ 259080 h 259525"/>
                <a:gd name="connsiteX2" fmla="*/ 556260 w 6850380"/>
                <a:gd name="connsiteY2" fmla="*/ 144780 h 259525"/>
                <a:gd name="connsiteX3" fmla="*/ 0 w 6850380"/>
                <a:gd name="connsiteY3" fmla="*/ 15240 h 259525"/>
                <a:gd name="connsiteX4" fmla="*/ 0 w 6850380"/>
                <a:gd name="connsiteY4" fmla="*/ 15240 h 259525"/>
                <a:gd name="connsiteX0" fmla="*/ 6850380 w 6850380"/>
                <a:gd name="connsiteY0" fmla="*/ 0 h 293388"/>
                <a:gd name="connsiteX1" fmla="*/ 3852690 w 6850380"/>
                <a:gd name="connsiteY1" fmla="*/ 259080 h 293388"/>
                <a:gd name="connsiteX2" fmla="*/ 803075 w 6850380"/>
                <a:gd name="connsiteY2" fmla="*/ 228600 h 293388"/>
                <a:gd name="connsiteX3" fmla="*/ 0 w 6850380"/>
                <a:gd name="connsiteY3" fmla="*/ 15240 h 293388"/>
                <a:gd name="connsiteX4" fmla="*/ 0 w 6850380"/>
                <a:gd name="connsiteY4" fmla="*/ 15240 h 293388"/>
                <a:gd name="connsiteX0" fmla="*/ 6850380 w 6850380"/>
                <a:gd name="connsiteY0" fmla="*/ 0 h 278936"/>
                <a:gd name="connsiteX1" fmla="*/ 3852690 w 6850380"/>
                <a:gd name="connsiteY1" fmla="*/ 259080 h 278936"/>
                <a:gd name="connsiteX2" fmla="*/ 803075 w 6850380"/>
                <a:gd name="connsiteY2" fmla="*/ 228600 h 278936"/>
                <a:gd name="connsiteX3" fmla="*/ 0 w 6850380"/>
                <a:gd name="connsiteY3" fmla="*/ 15240 h 278936"/>
                <a:gd name="connsiteX4" fmla="*/ 0 w 6850380"/>
                <a:gd name="connsiteY4" fmla="*/ 15240 h 278936"/>
                <a:gd name="connsiteX0" fmla="*/ 6850380 w 6850380"/>
                <a:gd name="connsiteY0" fmla="*/ 0 h 274016"/>
                <a:gd name="connsiteX1" fmla="*/ 3852690 w 6850380"/>
                <a:gd name="connsiteY1" fmla="*/ 259080 h 274016"/>
                <a:gd name="connsiteX2" fmla="*/ 791856 w 6850380"/>
                <a:gd name="connsiteY2" fmla="*/ 213360 h 274016"/>
                <a:gd name="connsiteX3" fmla="*/ 0 w 6850380"/>
                <a:gd name="connsiteY3" fmla="*/ 15240 h 274016"/>
                <a:gd name="connsiteX4" fmla="*/ 0 w 6850380"/>
                <a:gd name="connsiteY4" fmla="*/ 15240 h 274016"/>
                <a:gd name="connsiteX0" fmla="*/ 6850380 w 6850380"/>
                <a:gd name="connsiteY0" fmla="*/ 0 h 243725"/>
                <a:gd name="connsiteX1" fmla="*/ 3852690 w 6850380"/>
                <a:gd name="connsiteY1" fmla="*/ 220980 h 243725"/>
                <a:gd name="connsiteX2" fmla="*/ 791856 w 6850380"/>
                <a:gd name="connsiteY2" fmla="*/ 213360 h 243725"/>
                <a:gd name="connsiteX3" fmla="*/ 0 w 6850380"/>
                <a:gd name="connsiteY3" fmla="*/ 15240 h 243725"/>
                <a:gd name="connsiteX4" fmla="*/ 0 w 6850380"/>
                <a:gd name="connsiteY4" fmla="*/ 15240 h 243725"/>
                <a:gd name="connsiteX0" fmla="*/ 6850380 w 6850380"/>
                <a:gd name="connsiteY0" fmla="*/ 0 h 221183"/>
                <a:gd name="connsiteX1" fmla="*/ 3852690 w 6850380"/>
                <a:gd name="connsiteY1" fmla="*/ 220980 h 221183"/>
                <a:gd name="connsiteX2" fmla="*/ 791856 w 6850380"/>
                <a:gd name="connsiteY2" fmla="*/ 213360 h 221183"/>
                <a:gd name="connsiteX3" fmla="*/ 0 w 6850380"/>
                <a:gd name="connsiteY3" fmla="*/ 15240 h 221183"/>
                <a:gd name="connsiteX4" fmla="*/ 0 w 6850380"/>
                <a:gd name="connsiteY4" fmla="*/ 15240 h 2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0380" h="221183">
                  <a:moveTo>
                    <a:pt x="6850380" y="0"/>
                  </a:moveTo>
                  <a:cubicBezTo>
                    <a:pt x="5764087" y="205105"/>
                    <a:pt x="4840007" y="223520"/>
                    <a:pt x="3852690" y="220980"/>
                  </a:cubicBezTo>
                  <a:lnTo>
                    <a:pt x="791856" y="213360"/>
                  </a:lnTo>
                  <a:cubicBezTo>
                    <a:pt x="149741" y="179070"/>
                    <a:pt x="131976" y="48260"/>
                    <a:pt x="0" y="15240"/>
                  </a:cubicBezTo>
                  <a:lnTo>
                    <a:pt x="0" y="15240"/>
                  </a:lnTo>
                </a:path>
              </a:pathLst>
            </a:custGeom>
            <a:noFill/>
            <a:ln w="57150" cap="flat" cmpd="sng" algn="ctr">
              <a:solidFill>
                <a:schemeClr val="accent4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endParaRPr>
            </a:p>
          </p:txBody>
        </p:sp>
      </p:grpSp>
      <p:sp>
        <p:nvSpPr>
          <p:cNvPr id="61" name="Rechteck 60">
            <a:extLst>
              <a:ext uri="{FF2B5EF4-FFF2-40B4-BE49-F238E27FC236}">
                <a16:creationId xmlns:a16="http://schemas.microsoft.com/office/drawing/2014/main" id="{6DE87A04-1CF9-43F0-9E4D-B60F22E69E40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</a:t>
            </a:r>
            <a:r>
              <a:rPr lang="de-DE" sz="1100" dirty="0" err="1">
                <a:latin typeface="+mj-lt"/>
              </a:rPr>
              <a:t>Iconmonstr</a:t>
            </a:r>
            <a:endParaRPr lang="de-DE" sz="1100" dirty="0"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BA7D5FD-122D-4ABB-A3B5-1C2B01E556FE}"/>
              </a:ext>
            </a:extLst>
          </p:cNvPr>
          <p:cNvSpPr/>
          <p:nvPr/>
        </p:nvSpPr>
        <p:spPr bwMode="auto">
          <a:xfrm>
            <a:off x="667702" y="4203074"/>
            <a:ext cx="8570598" cy="561847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Dokumentation im Rechercheprotokoll</a:t>
            </a:r>
            <a:endParaRPr kumimoji="0" lang="de-DE" sz="26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4146061-CCD4-4B43-99C2-9862E2066EA3}"/>
              </a:ext>
            </a:extLst>
          </p:cNvPr>
          <p:cNvSpPr/>
          <p:nvPr/>
        </p:nvSpPr>
        <p:spPr>
          <a:xfrm>
            <a:off x="1009176" y="1956837"/>
            <a:ext cx="4412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200" b="1" dirty="0">
                <a:latin typeface="+mj-lt"/>
              </a:rPr>
              <a:t>RQ1</a:t>
            </a:r>
          </a:p>
          <a:p>
            <a:pPr algn="ctr"/>
            <a:r>
              <a:rPr lang="de-DE" sz="1200" b="1" dirty="0">
                <a:latin typeface="+mj-lt"/>
              </a:rPr>
              <a:t>RQ2</a:t>
            </a:r>
            <a:br>
              <a:rPr lang="de-DE" sz="1200" b="1" dirty="0">
                <a:latin typeface="+mj-lt"/>
              </a:rPr>
            </a:br>
            <a:r>
              <a:rPr lang="de-DE" sz="1200" b="1" dirty="0">
                <a:latin typeface="+mj-lt"/>
              </a:rPr>
              <a:t>…</a:t>
            </a:r>
            <a:endParaRPr lang="de-DE" sz="1200" dirty="0">
              <a:latin typeface="+mj-lt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04D0BB0-82CE-4CAD-B247-E5E99BF3330C}"/>
              </a:ext>
            </a:extLst>
          </p:cNvPr>
          <p:cNvSpPr txBox="1"/>
          <p:nvPr/>
        </p:nvSpPr>
        <p:spPr>
          <a:xfrm>
            <a:off x="1009176" y="5047272"/>
            <a:ext cx="361028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dirty="0"/>
              <a:t>Hintergrund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dirty="0"/>
              <a:t>Forschungsfragen (RQ)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dirty="0"/>
              <a:t>Suchstrategie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dirty="0"/>
              <a:t>Auswahl-/Qualitätskriterien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54B3FBD6-E41D-40CF-BC28-F4E5CB52C2F1}"/>
              </a:ext>
            </a:extLst>
          </p:cNvPr>
          <p:cNvSpPr txBox="1"/>
          <p:nvPr/>
        </p:nvSpPr>
        <p:spPr>
          <a:xfrm>
            <a:off x="5384923" y="5081672"/>
            <a:ext cx="26837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dirty="0"/>
              <a:t>Datengewinnung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dirty="0"/>
              <a:t>Datenverarbeitung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dirty="0"/>
              <a:t>Grenzen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dirty="0"/>
              <a:t>...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9B4F2AE-C554-4D85-8A37-CF6C756967E0}"/>
              </a:ext>
            </a:extLst>
          </p:cNvPr>
          <p:cNvSpPr txBox="1"/>
          <p:nvPr/>
        </p:nvSpPr>
        <p:spPr>
          <a:xfrm>
            <a:off x="0" y="6638751"/>
            <a:ext cx="71978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Vgl. </a:t>
            </a:r>
            <a:r>
              <a:rPr lang="de-DE" sz="1100" dirty="0" err="1"/>
              <a:t>Kitchenham</a:t>
            </a:r>
            <a:r>
              <a:rPr lang="de-DE" sz="1100" dirty="0"/>
              <a:t> et al.: </a:t>
            </a:r>
            <a:r>
              <a:rPr lang="de-DE" sz="1100" dirty="0" err="1"/>
              <a:t>Evidence-Based</a:t>
            </a:r>
            <a:r>
              <a:rPr lang="de-DE" sz="1100" dirty="0"/>
              <a:t> Software Engineering and </a:t>
            </a:r>
            <a:r>
              <a:rPr lang="de-DE" sz="1100" dirty="0" err="1"/>
              <a:t>Systematic</a:t>
            </a:r>
            <a:r>
              <a:rPr lang="de-DE" sz="1100" dirty="0"/>
              <a:t> Reviews. Chapman and Hall/CRC, 2015.</a:t>
            </a:r>
          </a:p>
        </p:txBody>
      </p:sp>
    </p:spTree>
    <p:extLst>
      <p:ext uri="{BB962C8B-B14F-4D97-AF65-F5344CB8AC3E}">
        <p14:creationId xmlns:p14="http://schemas.microsoft.com/office/powerpoint/2010/main" val="313746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/>
          <p:cNvGrpSpPr/>
          <p:nvPr/>
        </p:nvGrpSpPr>
        <p:grpSpPr>
          <a:xfrm>
            <a:off x="2504728" y="2095123"/>
            <a:ext cx="5168125" cy="1005714"/>
            <a:chOff x="354149" y="2792436"/>
            <a:chExt cx="5168125" cy="1005714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149" y="2899235"/>
              <a:ext cx="880317" cy="898915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54605" y="2803306"/>
              <a:ext cx="1072499" cy="967109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70251" y="2792436"/>
              <a:ext cx="933012" cy="906664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5649" y="2865138"/>
              <a:ext cx="1033752" cy="933012"/>
            </a:xfrm>
            <a:prstGeom prst="rect">
              <a:avLst/>
            </a:prstGeom>
          </p:spPr>
        </p:pic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77535" y="2798536"/>
              <a:ext cx="644739" cy="960909"/>
            </a:xfrm>
            <a:prstGeom prst="rect">
              <a:avLst/>
            </a:prstGeom>
          </p:spPr>
        </p:pic>
      </p:grpSp>
      <p:sp>
        <p:nvSpPr>
          <p:cNvPr id="134" name="Textfeld 133"/>
          <p:cNvSpPr txBox="1"/>
          <p:nvPr/>
        </p:nvSpPr>
        <p:spPr>
          <a:xfrm>
            <a:off x="4135673" y="90910"/>
            <a:ext cx="5697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 </a:t>
            </a:r>
            <a:r>
              <a:rPr lang="de-DE" dirty="0">
                <a:solidFill>
                  <a:srgbClr val="969696"/>
                </a:solidFill>
                <a:latin typeface="Calibri Light" panose="020F0302020204030204"/>
              </a:rPr>
              <a:t>– 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Vorbereitung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0" y="1049764"/>
            <a:ext cx="990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solidFill>
                  <a:schemeClr val="accent2"/>
                </a:solidFill>
                <a:latin typeface="+mj-lt"/>
              </a:rPr>
              <a:t>Welche Quellen </a:t>
            </a:r>
            <a:r>
              <a:rPr lang="de-DE" sz="2400" b="1" dirty="0">
                <a:solidFill>
                  <a:schemeClr val="accent2"/>
                </a:solidFill>
                <a:latin typeface="+mj-lt"/>
              </a:rPr>
              <a:t>sind für Ihre </a:t>
            </a:r>
            <a:r>
              <a:rPr lang="de-DE" sz="3600" b="1" dirty="0">
                <a:solidFill>
                  <a:schemeClr val="accent2"/>
                </a:solidFill>
                <a:latin typeface="+mj-lt"/>
              </a:rPr>
              <a:t>Forschungsfrage </a:t>
            </a:r>
            <a:r>
              <a:rPr lang="de-DE" sz="2400" b="1" dirty="0">
                <a:solidFill>
                  <a:schemeClr val="accent2"/>
                </a:solidFill>
                <a:latin typeface="+mj-lt"/>
              </a:rPr>
              <a:t>relevant?</a:t>
            </a:r>
            <a:endParaRPr lang="de-DE" sz="3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5" name="Textfeld 24"/>
          <p:cNvSpPr txBox="1"/>
          <p:nvPr/>
        </p:nvSpPr>
        <p:spPr>
          <a:xfrm>
            <a:off x="596516" y="3578801"/>
            <a:ext cx="8712968" cy="2914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Grundlagen? </a:t>
            </a: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Aktueller Stand der Technik? </a:t>
            </a: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Aktueller Stand der Wissenschaft?</a:t>
            </a: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Statistiken/Daten?</a:t>
            </a: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Normen/Standards?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1AD86F6-6257-467E-8A36-D6036D6A3A4C}"/>
              </a:ext>
            </a:extLst>
          </p:cNvPr>
          <p:cNvSpPr txBox="1"/>
          <p:nvPr/>
        </p:nvSpPr>
        <p:spPr>
          <a:xfrm>
            <a:off x="6931171" y="4365104"/>
            <a:ext cx="25310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indent="-468000">
              <a:buFont typeface="Wingdings" panose="05000000000000000000" pitchFamily="2" charset="2"/>
              <a:buChar char="Ø"/>
            </a:pPr>
            <a:r>
              <a:rPr lang="de-DE" sz="2400" dirty="0">
                <a:latin typeface="+mj-lt"/>
              </a:rPr>
              <a:t>Peer Review</a:t>
            </a:r>
          </a:p>
          <a:p>
            <a:pPr marL="396000" indent="-468000">
              <a:buFont typeface="Wingdings" panose="05000000000000000000" pitchFamily="2" charset="2"/>
              <a:buChar char="Ø"/>
            </a:pPr>
            <a:r>
              <a:rPr lang="de-DE" sz="2400" dirty="0">
                <a:latin typeface="+mj-lt"/>
              </a:rPr>
              <a:t>Preprint</a:t>
            </a:r>
          </a:p>
          <a:p>
            <a:pPr marL="396000" indent="-468000">
              <a:buFont typeface="Wingdings" panose="05000000000000000000" pitchFamily="2" charset="2"/>
              <a:buChar char="Ø"/>
            </a:pPr>
            <a:r>
              <a:rPr lang="de-DE" sz="2400" dirty="0">
                <a:latin typeface="+mj-lt"/>
              </a:rPr>
              <a:t>Open Access</a:t>
            </a:r>
          </a:p>
          <a:p>
            <a:pPr marL="396000" indent="-468000">
              <a:buFont typeface="Wingdings" panose="05000000000000000000" pitchFamily="2" charset="2"/>
              <a:buChar char="Ø"/>
            </a:pPr>
            <a:r>
              <a:rPr lang="de-DE" sz="2400" dirty="0">
                <a:latin typeface="+mj-lt"/>
              </a:rPr>
              <a:t>Review Artikel</a:t>
            </a:r>
          </a:p>
          <a:p>
            <a:pPr marL="396000" indent="-468000">
              <a:buFont typeface="Wingdings" panose="05000000000000000000" pitchFamily="2" charset="2"/>
              <a:buChar char="Ø"/>
            </a:pPr>
            <a:r>
              <a:rPr lang="de-DE" sz="2400" dirty="0">
                <a:latin typeface="+mj-lt"/>
              </a:rPr>
              <a:t>Graue Literatur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8186409-34C9-4300-ACF9-37938B33003E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3357985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7473280" y="6321139"/>
            <a:ext cx="2228850" cy="365125"/>
          </a:xfrm>
        </p:spPr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5</a:t>
            </a:fld>
            <a:endParaRPr lang="de-DE">
              <a:latin typeface="+mj-lt"/>
            </a:endParaRPr>
          </a:p>
        </p:txBody>
      </p:sp>
      <p:sp>
        <p:nvSpPr>
          <p:cNvPr id="29" name="Textfeld 17">
            <a:extLst>
              <a:ext uri="{FF2B5EF4-FFF2-40B4-BE49-F238E27FC236}">
                <a16:creationId xmlns:a16="http://schemas.microsoft.com/office/drawing/2014/main" id="{62D9969D-3929-46D8-938B-7A1E340D8B6B}"/>
              </a:ext>
            </a:extLst>
          </p:cNvPr>
          <p:cNvSpPr txBox="1"/>
          <p:nvPr/>
        </p:nvSpPr>
        <p:spPr>
          <a:xfrm>
            <a:off x="1665426" y="1840752"/>
            <a:ext cx="7785174" cy="584775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Welches Tool soll‘s sein?…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4CFD45C-A47C-4689-94D8-447D2DBD5A0E}"/>
              </a:ext>
            </a:extLst>
          </p:cNvPr>
          <p:cNvGrpSpPr/>
          <p:nvPr/>
        </p:nvGrpSpPr>
        <p:grpSpPr>
          <a:xfrm>
            <a:off x="1256348" y="3033257"/>
            <a:ext cx="7300091" cy="1309322"/>
            <a:chOff x="1016029" y="3898432"/>
            <a:chExt cx="7300091" cy="1309322"/>
          </a:xfrm>
        </p:grpSpPr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A0340E1C-1F59-425D-B5C9-1A8A7D8E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29" y="4389600"/>
              <a:ext cx="818154" cy="818154"/>
            </a:xfrm>
            <a:prstGeom prst="rect">
              <a:avLst/>
            </a:prstGeom>
            <a:effectLst>
              <a:reflection blurRad="6350" stA="50000" endA="300" endPos="38500" dist="50800" dir="5400000" sy="-100000" algn="bl" rotWithShape="0"/>
            </a:effectLst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2A36B0F9-FBFD-4FD0-B551-C86A53A62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77481" y="4389600"/>
              <a:ext cx="818154" cy="818154"/>
            </a:xfrm>
            <a:prstGeom prst="rect">
              <a:avLst/>
            </a:prstGeom>
            <a:effectLst>
              <a:reflection blurRad="6350" stA="50000" endA="300" endPos="38500" dist="50800" dir="5400000" sy="-100000" algn="bl" rotWithShape="0"/>
            </a:effectLst>
          </p:spPr>
        </p:pic>
        <p:pic>
          <p:nvPicPr>
            <p:cNvPr id="27" name="Grafik 26">
              <a:extLst>
                <a:ext uri="{FF2B5EF4-FFF2-40B4-BE49-F238E27FC236}">
                  <a16:creationId xmlns:a16="http://schemas.microsoft.com/office/drawing/2014/main" id="{97E31E14-7152-4956-B8D4-1E451A216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36513" y="4389600"/>
              <a:ext cx="818154" cy="818154"/>
            </a:xfrm>
            <a:prstGeom prst="rect">
              <a:avLst/>
            </a:prstGeom>
            <a:effectLst>
              <a:reflection blurRad="6350" stA="50000" endA="300" endPos="38500" dist="50800" dir="5400000" sy="-100000" algn="bl" rotWithShape="0"/>
            </a:effectLst>
          </p:spPr>
        </p:pic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0A74E8C9-2CA6-4B1E-AB12-F9399934C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256997" y="4389600"/>
              <a:ext cx="818154" cy="818154"/>
            </a:xfrm>
            <a:prstGeom prst="rect">
              <a:avLst/>
            </a:prstGeom>
            <a:effectLst>
              <a:reflection blurRad="6350" stA="50000" endA="300" endPos="38500" dist="50800" dir="5400000" sy="-100000" algn="bl" rotWithShape="0"/>
            </a:effectLst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1DE93D51-3B1F-4F6D-A0FF-F27167291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497966" y="4389600"/>
              <a:ext cx="818154" cy="818154"/>
            </a:xfrm>
            <a:prstGeom prst="rect">
              <a:avLst/>
            </a:prstGeom>
            <a:effectLst>
              <a:reflection blurRad="6350" stA="50000" endA="300" endPos="38500" dist="50800" dir="5400000" sy="-100000" algn="bl" rotWithShape="0"/>
            </a:effectLst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D5D24304-4210-4B2E-9B78-91EAE4712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722385" y="3898432"/>
              <a:ext cx="369315" cy="369315"/>
            </a:xfrm>
            <a:prstGeom prst="rect">
              <a:avLst/>
            </a:prstGeo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1" name="Rechteck 60">
            <a:extLst>
              <a:ext uri="{FF2B5EF4-FFF2-40B4-BE49-F238E27FC236}">
                <a16:creationId xmlns:a16="http://schemas.microsoft.com/office/drawing/2014/main" id="{6DE87A04-1CF9-43F0-9E4D-B60F22E69E40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</a:t>
            </a:r>
            <a:r>
              <a:rPr lang="de-DE" sz="1100" dirty="0" err="1">
                <a:latin typeface="+mj-lt"/>
              </a:rPr>
              <a:t>Iconmonstr</a:t>
            </a:r>
            <a:endParaRPr lang="de-DE" sz="1100" dirty="0">
              <a:latin typeface="+mj-lt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93A367C-2F79-4910-95FE-3793BA8D1CE7}"/>
              </a:ext>
            </a:extLst>
          </p:cNvPr>
          <p:cNvSpPr txBox="1"/>
          <p:nvPr/>
        </p:nvSpPr>
        <p:spPr>
          <a:xfrm>
            <a:off x="4135673" y="90910"/>
            <a:ext cx="5697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 </a:t>
            </a:r>
            <a:r>
              <a:rPr lang="de-DE" dirty="0">
                <a:solidFill>
                  <a:srgbClr val="969696"/>
                </a:solidFill>
                <a:latin typeface="Calibri Light" panose="020F0302020204030204"/>
              </a:rPr>
              <a:t>– 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Vorbereitung</a:t>
            </a:r>
          </a:p>
        </p:txBody>
      </p:sp>
    </p:spTree>
    <p:extLst>
      <p:ext uri="{BB962C8B-B14F-4D97-AF65-F5344CB8AC3E}">
        <p14:creationId xmlns:p14="http://schemas.microsoft.com/office/powerpoint/2010/main" val="2529397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99709" y="929026"/>
            <a:ext cx="8640763" cy="792164"/>
          </a:xfrm>
        </p:spPr>
        <p:txBody>
          <a:bodyPr/>
          <a:lstStyle/>
          <a:p>
            <a:r>
              <a:rPr lang="de-DE" dirty="0">
                <a:solidFill>
                  <a:schemeClr val="accent2"/>
                </a:solidFill>
              </a:rPr>
              <a:t>Warum nicht einfach </a:t>
            </a:r>
            <a:r>
              <a:rPr lang="de-DE" dirty="0" err="1">
                <a:solidFill>
                  <a:schemeClr val="accent2"/>
                </a:solidFill>
              </a:rPr>
              <a:t>googeln</a:t>
            </a:r>
            <a:r>
              <a:rPr lang="de-DE" dirty="0">
                <a:solidFill>
                  <a:schemeClr val="accent2"/>
                </a:solidFill>
              </a:rPr>
              <a:t> oder </a:t>
            </a:r>
            <a:r>
              <a:rPr lang="de-DE" dirty="0" err="1">
                <a:solidFill>
                  <a:schemeClr val="accent2"/>
                </a:solidFill>
              </a:rPr>
              <a:t>ChatGPT</a:t>
            </a:r>
            <a:r>
              <a:rPr lang="de-DE" dirty="0">
                <a:solidFill>
                  <a:schemeClr val="accent2"/>
                </a:solidFill>
              </a:rPr>
              <a:t>?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6</a:t>
            </a:fld>
            <a:endParaRPr lang="de-DE">
              <a:latin typeface="+mj-lt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4333546" y="139965"/>
            <a:ext cx="5544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 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– Suchprozess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21889" y="4418822"/>
            <a:ext cx="9178753" cy="3849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Wissenschaftliche Quellen</a:t>
            </a: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Reproduzierbarkeit </a:t>
            </a:r>
          </a:p>
          <a:p>
            <a:pPr marL="396000" indent="-468000">
              <a:lnSpc>
                <a:spcPts val="28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zitierbar? </a:t>
            </a:r>
            <a:r>
              <a:rPr lang="de-DE" sz="2800" dirty="0">
                <a:latin typeface="+mj-lt"/>
              </a:rPr>
              <a:t>→ </a:t>
            </a:r>
            <a:r>
              <a:rPr lang="de-DE" dirty="0">
                <a:latin typeface="+mj-lt"/>
              </a:rPr>
              <a:t>CRAAP-Test </a:t>
            </a:r>
            <a:r>
              <a:rPr lang="de-DE" sz="2600" dirty="0">
                <a:latin typeface="+mj-lt"/>
              </a:rPr>
              <a:t>(</a:t>
            </a:r>
            <a:r>
              <a:rPr lang="de-DE" sz="2600" b="1" dirty="0">
                <a:latin typeface="+mj-lt"/>
              </a:rPr>
              <a:t>C</a:t>
            </a:r>
            <a:r>
              <a:rPr lang="de-DE" sz="2600" dirty="0">
                <a:latin typeface="+mj-lt"/>
              </a:rPr>
              <a:t>urrency, </a:t>
            </a:r>
            <a:r>
              <a:rPr lang="de-DE" sz="2600" b="1" dirty="0" err="1">
                <a:latin typeface="+mj-lt"/>
              </a:rPr>
              <a:t>R</a:t>
            </a:r>
            <a:r>
              <a:rPr lang="de-DE" sz="2600" dirty="0" err="1">
                <a:latin typeface="+mj-lt"/>
              </a:rPr>
              <a:t>elevance</a:t>
            </a:r>
            <a:r>
              <a:rPr lang="de-DE" sz="2600" dirty="0">
                <a:latin typeface="+mj-lt"/>
              </a:rPr>
              <a:t>, </a:t>
            </a:r>
            <a:r>
              <a:rPr lang="de-DE" sz="2600" b="1" dirty="0">
                <a:latin typeface="+mj-lt"/>
              </a:rPr>
              <a:t>A</a:t>
            </a:r>
            <a:r>
              <a:rPr lang="de-DE" sz="2600" dirty="0">
                <a:latin typeface="+mj-lt"/>
              </a:rPr>
              <a:t>uthority, </a:t>
            </a:r>
            <a:br>
              <a:rPr lang="de-DE" sz="2600" dirty="0">
                <a:latin typeface="+mj-lt"/>
              </a:rPr>
            </a:br>
            <a:r>
              <a:rPr lang="de-DE" sz="2600" dirty="0">
                <a:latin typeface="+mj-lt"/>
              </a:rPr>
              <a:t> </a:t>
            </a:r>
            <a:r>
              <a:rPr lang="de-DE" sz="2600" b="1" dirty="0" err="1">
                <a:latin typeface="+mj-lt"/>
              </a:rPr>
              <a:t>A</a:t>
            </a:r>
            <a:r>
              <a:rPr lang="de-DE" sz="2600" dirty="0" err="1">
                <a:latin typeface="+mj-lt"/>
              </a:rPr>
              <a:t>ccuracy</a:t>
            </a:r>
            <a:r>
              <a:rPr lang="de-DE" sz="2600" dirty="0">
                <a:latin typeface="+mj-lt"/>
              </a:rPr>
              <a:t>, </a:t>
            </a:r>
            <a:r>
              <a:rPr lang="de-DE" sz="2600" b="1" dirty="0">
                <a:latin typeface="+mj-lt"/>
              </a:rPr>
              <a:t>P</a:t>
            </a:r>
            <a:r>
              <a:rPr lang="de-DE" sz="2600" dirty="0">
                <a:latin typeface="+mj-lt"/>
              </a:rPr>
              <a:t>urpose/</a:t>
            </a:r>
            <a:r>
              <a:rPr lang="de-DE" sz="2600" b="1" dirty="0">
                <a:latin typeface="+mj-lt"/>
              </a:rPr>
              <a:t>P</a:t>
            </a:r>
            <a:r>
              <a:rPr lang="de-DE" sz="2600" dirty="0">
                <a:latin typeface="+mj-lt"/>
              </a:rPr>
              <a:t>oint </a:t>
            </a:r>
            <a:r>
              <a:rPr lang="de-DE" sz="2600" dirty="0" err="1">
                <a:latin typeface="+mj-lt"/>
              </a:rPr>
              <a:t>of</a:t>
            </a:r>
            <a:r>
              <a:rPr lang="de-DE" sz="2600" dirty="0">
                <a:latin typeface="+mj-lt"/>
              </a:rPr>
              <a:t> View)</a:t>
            </a:r>
          </a:p>
          <a:p>
            <a:pPr>
              <a:lnSpc>
                <a:spcPts val="4500"/>
              </a:lnSpc>
            </a:pPr>
            <a:endParaRPr lang="de-DE" dirty="0">
              <a:latin typeface="+mj-lt"/>
            </a:endParaRP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endParaRPr lang="de-DE" dirty="0">
              <a:latin typeface="+mj-lt"/>
            </a:endParaRPr>
          </a:p>
          <a:p>
            <a:pPr marL="396000" indent="-468000">
              <a:lnSpc>
                <a:spcPts val="4500"/>
              </a:lnSpc>
              <a:buFont typeface="Arial" panose="020B0604020202020204" pitchFamily="34" charset="0"/>
              <a:buChar char="•"/>
            </a:pPr>
            <a:endParaRPr lang="de-DE" dirty="0">
              <a:latin typeface="+mj-lt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A353C74-DF57-4978-9363-8529EEF0E535}"/>
              </a:ext>
            </a:extLst>
          </p:cNvPr>
          <p:cNvGrpSpPr/>
          <p:nvPr/>
        </p:nvGrpSpPr>
        <p:grpSpPr>
          <a:xfrm>
            <a:off x="7515170" y="2051450"/>
            <a:ext cx="1825302" cy="1951698"/>
            <a:chOff x="7711211" y="1909350"/>
            <a:chExt cx="1825302" cy="1951698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37EFBA90-5F47-4B74-ABE3-793E38561C06}"/>
                </a:ext>
              </a:extLst>
            </p:cNvPr>
            <p:cNvSpPr/>
            <p:nvPr/>
          </p:nvSpPr>
          <p:spPr bwMode="auto">
            <a:xfrm>
              <a:off x="7711211" y="1909350"/>
              <a:ext cx="1805988" cy="1951698"/>
            </a:xfrm>
            <a:prstGeom prst="rect">
              <a:avLst/>
            </a:prstGeom>
            <a:solidFill>
              <a:schemeClr val="bg2">
                <a:lumMod val="20000"/>
                <a:lumOff val="80000"/>
                <a:alpha val="50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endParaRPr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83315430-CB89-43D9-AF9B-24D106CDB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18075" y="2143840"/>
              <a:ext cx="540000" cy="540000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B0D32FE-38EB-4E2A-815F-11CBFE6549BD}"/>
                </a:ext>
              </a:extLst>
            </p:cNvPr>
            <p:cNvSpPr txBox="1"/>
            <p:nvPr/>
          </p:nvSpPr>
          <p:spPr>
            <a:xfrm rot="218363">
              <a:off x="7990387" y="2545027"/>
              <a:ext cx="1546126" cy="1019134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/>
              </a:prstTxWarp>
              <a:spAutoFit/>
            </a:bodyPr>
            <a:lstStyle/>
            <a:p>
              <a:r>
                <a:rPr lang="de-DE" sz="18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Trainingsdaten</a:t>
              </a:r>
            </a:p>
          </p:txBody>
        </p:sp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DB9AB957-666B-4086-A6AA-46A528275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25741" y="2319163"/>
              <a:ext cx="992485" cy="992485"/>
            </a:xfrm>
            <a:prstGeom prst="rect">
              <a:avLst/>
            </a:prstGeom>
          </p:spPr>
        </p:pic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9E8DBB26-AE65-4A56-8376-ADD87BE9BC2B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</a:t>
            </a:r>
            <a:r>
              <a:rPr lang="de-DE" sz="1100" dirty="0" err="1">
                <a:latin typeface="+mj-lt"/>
              </a:rPr>
              <a:t>Iconmonstr</a:t>
            </a:r>
            <a:endParaRPr lang="de-DE" sz="1100" dirty="0">
              <a:latin typeface="+mj-lt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212E5C1A-E36D-4A69-80EC-6A42B049E691}"/>
              </a:ext>
            </a:extLst>
          </p:cNvPr>
          <p:cNvGrpSpPr/>
          <p:nvPr/>
        </p:nvGrpSpPr>
        <p:grpSpPr>
          <a:xfrm>
            <a:off x="399475" y="1909350"/>
            <a:ext cx="6399892" cy="2165445"/>
            <a:chOff x="399475" y="1909350"/>
            <a:chExt cx="6399892" cy="2165445"/>
          </a:xfrm>
        </p:grpSpPr>
        <p:sp>
          <p:nvSpPr>
            <p:cNvPr id="9" name="Zylinder 8"/>
            <p:cNvSpPr/>
            <p:nvPr/>
          </p:nvSpPr>
          <p:spPr bwMode="auto">
            <a:xfrm>
              <a:off x="5719247" y="2047264"/>
              <a:ext cx="1080120" cy="1592601"/>
            </a:xfrm>
            <a:prstGeom prst="ca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e-DE" sz="2000" b="1" dirty="0">
                  <a:solidFill>
                    <a:schemeClr val="bg1"/>
                  </a:solidFill>
                  <a:latin typeface="+mj-lt"/>
                </a:rPr>
                <a:t>Dein</a:t>
              </a:r>
            </a:p>
            <a:p>
              <a:pPr algn="ctr">
                <a:defRPr/>
              </a:pPr>
              <a:r>
                <a:rPr lang="de-DE" sz="2000" b="1" dirty="0">
                  <a:solidFill>
                    <a:schemeClr val="bg1"/>
                  </a:solidFill>
                  <a:latin typeface="+mj-lt"/>
                </a:rPr>
                <a:t>Ranking</a:t>
              </a:r>
              <a:endParaRPr lang="de-DE" sz="24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" name="Zylinder 4"/>
            <p:cNvSpPr/>
            <p:nvPr/>
          </p:nvSpPr>
          <p:spPr bwMode="auto">
            <a:xfrm>
              <a:off x="2161547" y="1925435"/>
              <a:ext cx="1559473" cy="2140183"/>
            </a:xfrm>
            <a:prstGeom prst="can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e-DE" sz="2000" b="1" dirty="0">
                  <a:solidFill>
                    <a:schemeClr val="bg1"/>
                  </a:solidFill>
                  <a:latin typeface="+mj-lt"/>
                </a:rPr>
                <a:t>Index</a:t>
              </a:r>
              <a:endParaRPr lang="de-DE" sz="24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Zylinder 5"/>
            <p:cNvSpPr/>
            <p:nvPr/>
          </p:nvSpPr>
          <p:spPr bwMode="auto">
            <a:xfrm>
              <a:off x="4115572" y="1934612"/>
              <a:ext cx="1559473" cy="2140183"/>
            </a:xfrm>
            <a:prstGeom prst="ca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e-DE" sz="2000" b="1" dirty="0">
                  <a:solidFill>
                    <a:schemeClr val="bg1"/>
                  </a:solidFill>
                  <a:latin typeface="+mj-lt"/>
                </a:rPr>
                <a:t>Mein</a:t>
              </a:r>
            </a:p>
            <a:p>
              <a:pPr algn="ctr">
                <a:defRPr/>
              </a:pPr>
              <a:r>
                <a:rPr lang="de-DE" sz="2000" b="1" dirty="0">
                  <a:solidFill>
                    <a:schemeClr val="bg1"/>
                  </a:solidFill>
                  <a:latin typeface="+mj-lt"/>
                </a:rPr>
                <a:t>Ranking</a:t>
              </a:r>
              <a:endParaRPr lang="de-DE" sz="24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" name="Wolke 2">
              <a:extLst>
                <a:ext uri="{FF2B5EF4-FFF2-40B4-BE49-F238E27FC236}">
                  <a16:creationId xmlns:a16="http://schemas.microsoft.com/office/drawing/2014/main" id="{AD63F655-DAA6-4105-9D03-B07F1734B2F5}"/>
                </a:ext>
              </a:extLst>
            </p:cNvPr>
            <p:cNvSpPr/>
            <p:nvPr/>
          </p:nvSpPr>
          <p:spPr bwMode="auto">
            <a:xfrm>
              <a:off x="399475" y="1909350"/>
              <a:ext cx="2014539" cy="1235135"/>
            </a:xfrm>
            <a:prstGeom prst="cloud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1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+mj-lt"/>
                </a:rPr>
                <a:t>Deep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sz="2400" b="1" dirty="0">
                  <a:solidFill>
                    <a:schemeClr val="tx2"/>
                  </a:solidFill>
                  <a:latin typeface="+mj-lt"/>
                </a:rPr>
                <a:t>Web</a:t>
              </a:r>
              <a:endParaRPr kumimoji="0" lang="de-DE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endParaRPr>
            </a:p>
          </p:txBody>
        </p:sp>
        <p:sp>
          <p:nvSpPr>
            <p:cNvPr id="11" name="Verbotsymbol 10">
              <a:extLst>
                <a:ext uri="{FF2B5EF4-FFF2-40B4-BE49-F238E27FC236}">
                  <a16:creationId xmlns:a16="http://schemas.microsoft.com/office/drawing/2014/main" id="{4610863C-7423-4692-88CA-6CACB4F6C1BB}"/>
                </a:ext>
              </a:extLst>
            </p:cNvPr>
            <p:cNvSpPr/>
            <p:nvPr/>
          </p:nvSpPr>
          <p:spPr bwMode="auto">
            <a:xfrm>
              <a:off x="1754839" y="2210268"/>
              <a:ext cx="623746" cy="633297"/>
            </a:xfrm>
            <a:prstGeom prst="noSmoking">
              <a:avLst>
                <a:gd name="adj" fmla="val 5647"/>
              </a:avLst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76D60344-D3C4-4AF6-A71D-B39567D5A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51951" y="3422372"/>
              <a:ext cx="569007" cy="508042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8595219A-159F-42CB-AC76-0852CA5BE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078849" y="3193766"/>
              <a:ext cx="361777" cy="391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59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7</a:t>
            </a:fld>
            <a:endParaRPr lang="de-DE">
              <a:latin typeface="+mj-lt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4222041" y="139965"/>
            <a:ext cx="5656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 – Suchprozess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9131" y="2123890"/>
            <a:ext cx="1072499" cy="96710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6541" y="3478959"/>
            <a:ext cx="933012" cy="906664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775" y="2119367"/>
            <a:ext cx="644739" cy="960909"/>
          </a:xfrm>
          <a:prstGeom prst="rect">
            <a:avLst/>
          </a:prstGeom>
        </p:spPr>
      </p:pic>
      <p:sp>
        <p:nvSpPr>
          <p:cNvPr id="2" name="Textfeld 1"/>
          <p:cNvSpPr txBox="1"/>
          <p:nvPr/>
        </p:nvSpPr>
        <p:spPr>
          <a:xfrm>
            <a:off x="560512" y="1063808"/>
            <a:ext cx="2237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+mj-lt"/>
              </a:rPr>
              <a:t>Bib-Discover</a:t>
            </a:r>
            <a:endParaRPr lang="de-DE" dirty="0">
              <a:latin typeface="+mj-lt"/>
            </a:endParaRP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048" y="3595858"/>
            <a:ext cx="1053900" cy="960909"/>
          </a:xfrm>
          <a:prstGeom prst="rect">
            <a:avLst/>
          </a:prstGeom>
        </p:spPr>
      </p:pic>
      <p:sp>
        <p:nvSpPr>
          <p:cNvPr id="15" name="Textfeld 14"/>
          <p:cNvSpPr txBox="1"/>
          <p:nvPr/>
        </p:nvSpPr>
        <p:spPr>
          <a:xfrm>
            <a:off x="2453307" y="2267906"/>
            <a:ext cx="1350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+mj-lt"/>
              </a:rPr>
              <a:t>Bücher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6825208" y="2315056"/>
            <a:ext cx="1508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+mj-lt"/>
              </a:rPr>
              <a:t>E-Books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2453307" y="3639903"/>
            <a:ext cx="124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+mj-lt"/>
              </a:rPr>
              <a:t>Artikel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6617536" y="3703891"/>
            <a:ext cx="2557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+mj-lt"/>
              </a:rPr>
              <a:t>Videotrainings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560512" y="4747692"/>
            <a:ext cx="4311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i="1" dirty="0">
                <a:latin typeface="+mj-lt"/>
              </a:rPr>
              <a:t>Filme, Hörbücher, Datenbanken …</a:t>
            </a:r>
          </a:p>
        </p:txBody>
      </p:sp>
      <p:sp>
        <p:nvSpPr>
          <p:cNvPr id="21" name="Rechteck 20"/>
          <p:cNvSpPr/>
          <p:nvPr/>
        </p:nvSpPr>
        <p:spPr bwMode="auto">
          <a:xfrm>
            <a:off x="560512" y="5343989"/>
            <a:ext cx="8928992" cy="1032954"/>
          </a:xfrm>
          <a:prstGeom prst="rect">
            <a:avLst/>
          </a:prstGeom>
          <a:solidFill>
            <a:schemeClr val="accent4">
              <a:alpha val="2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Suche nach z.B</a:t>
            </a:r>
            <a:r>
              <a:rPr lang="de-DE" sz="2400" dirty="0">
                <a:latin typeface="+mj-lt"/>
              </a:rPr>
              <a:t>.</a:t>
            </a: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Autor</a:t>
            </a: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Titel</a:t>
            </a: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ISBN</a:t>
            </a: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de-DE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Schlagwort</a:t>
            </a:r>
            <a:r>
              <a:rPr lang="de-DE" sz="2400" dirty="0">
                <a:latin typeface="+mj-lt"/>
              </a:rPr>
              <a:t>. Filter-Funktionen, um Suchergebnisse einzuschränken.</a:t>
            </a:r>
            <a:endParaRPr kumimoji="0" lang="de-D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0A20424-7D69-4F2F-9A4D-53C6C31B5F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3985" y="5654364"/>
            <a:ext cx="686535" cy="686535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6BBBDA82-6410-4675-BD61-65816DEA8EC6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Hochschullizenz, Aktenkoffer: </a:t>
            </a:r>
            <a:r>
              <a:rPr lang="de-DE" sz="1100" dirty="0" err="1">
                <a:latin typeface="+mj-lt"/>
              </a:rPr>
              <a:t>Iconmonstr</a:t>
            </a:r>
            <a:endParaRPr lang="de-DE" sz="1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3167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1" y="3318186"/>
            <a:ext cx="880317" cy="898915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280" y="1799194"/>
            <a:ext cx="1033752" cy="933012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63" y="1814948"/>
            <a:ext cx="644739" cy="960909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5228" y="3281177"/>
            <a:ext cx="1019804" cy="892716"/>
          </a:xfrm>
          <a:prstGeom prst="rect">
            <a:avLst/>
          </a:prstGeom>
        </p:spPr>
      </p:pic>
      <p:grpSp>
        <p:nvGrpSpPr>
          <p:cNvPr id="36" name="Gruppieren 35"/>
          <p:cNvGrpSpPr/>
          <p:nvPr/>
        </p:nvGrpSpPr>
        <p:grpSpPr>
          <a:xfrm>
            <a:off x="4380719" y="5027256"/>
            <a:ext cx="967546" cy="974130"/>
            <a:chOff x="4380719" y="5027256"/>
            <a:chExt cx="967546" cy="974130"/>
          </a:xfrm>
        </p:grpSpPr>
        <p:pic>
          <p:nvPicPr>
            <p:cNvPr id="32" name="Grafik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0719" y="5618268"/>
              <a:ext cx="353324" cy="360788"/>
            </a:xfrm>
            <a:prstGeom prst="rect">
              <a:avLst/>
            </a:prstGeom>
          </p:spPr>
        </p:pic>
        <p:pic>
          <p:nvPicPr>
            <p:cNvPr id="33" name="Grafik 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3359" y="5030733"/>
              <a:ext cx="414906" cy="374473"/>
            </a:xfrm>
            <a:prstGeom prst="rect">
              <a:avLst/>
            </a:prstGeom>
          </p:spPr>
        </p:pic>
        <p:pic>
          <p:nvPicPr>
            <p:cNvPr id="34" name="Grafik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39591" y="5027256"/>
              <a:ext cx="258772" cy="385670"/>
            </a:xfrm>
            <a:prstGeom prst="rect">
              <a:avLst/>
            </a:prstGeom>
          </p:spPr>
        </p:pic>
        <p:pic>
          <p:nvPicPr>
            <p:cNvPr id="35" name="Grafik 3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38957" y="5643086"/>
              <a:ext cx="409308" cy="358300"/>
            </a:xfrm>
            <a:prstGeom prst="rect">
              <a:avLst/>
            </a:prstGeom>
          </p:spPr>
        </p:pic>
      </p:grpSp>
      <p:sp>
        <p:nvSpPr>
          <p:cNvPr id="21" name="Rechteck 20"/>
          <p:cNvSpPr/>
          <p:nvPr/>
        </p:nvSpPr>
        <p:spPr bwMode="auto">
          <a:xfrm>
            <a:off x="463992" y="1565502"/>
            <a:ext cx="8692591" cy="3095045"/>
          </a:xfrm>
          <a:prstGeom prst="rect">
            <a:avLst/>
          </a:prstGeom>
          <a:solidFill>
            <a:schemeClr val="accent4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8</a:t>
            </a:fld>
            <a:endParaRPr lang="de-DE">
              <a:latin typeface="+mj-lt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4222041" y="139965"/>
            <a:ext cx="5656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 – Suchprozess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443714" y="867390"/>
            <a:ext cx="31354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+mj-lt"/>
              </a:rPr>
              <a:t>Fachdatenbanken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1638999" y="1807109"/>
            <a:ext cx="1508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+mj-lt"/>
              </a:rPr>
              <a:t>E-Books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5172630" y="1788520"/>
            <a:ext cx="323639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+mj-lt"/>
              </a:rPr>
              <a:t>Wissenschaftliche </a:t>
            </a:r>
          </a:p>
          <a:p>
            <a:r>
              <a:rPr lang="de-DE" dirty="0">
                <a:latin typeface="+mj-lt"/>
              </a:rPr>
              <a:t>Journale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1651600" y="2254334"/>
            <a:ext cx="1699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+mj-lt"/>
              </a:rPr>
              <a:t>Konferenz-</a:t>
            </a:r>
          </a:p>
          <a:p>
            <a:r>
              <a:rPr lang="de-DE" sz="2400" dirty="0" err="1">
                <a:latin typeface="+mj-lt"/>
              </a:rPr>
              <a:t>beiträge</a:t>
            </a:r>
            <a:endParaRPr lang="de-DE" sz="2400" dirty="0">
              <a:latin typeface="+mj-lt"/>
            </a:endParaRPr>
          </a:p>
        </p:txBody>
      </p:sp>
      <p:grpSp>
        <p:nvGrpSpPr>
          <p:cNvPr id="25" name="Gruppieren 24"/>
          <p:cNvGrpSpPr/>
          <p:nvPr/>
        </p:nvGrpSpPr>
        <p:grpSpPr>
          <a:xfrm>
            <a:off x="463992" y="4887220"/>
            <a:ext cx="8692591" cy="1359393"/>
            <a:chOff x="463993" y="5057315"/>
            <a:chExt cx="8692591" cy="1359393"/>
          </a:xfrm>
        </p:grpSpPr>
        <p:pic>
          <p:nvPicPr>
            <p:cNvPr id="6" name="Grafik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3874" y="5224347"/>
              <a:ext cx="1302675" cy="1043599"/>
            </a:xfrm>
            <a:prstGeom prst="rect">
              <a:avLst/>
            </a:prstGeom>
          </p:spPr>
        </p:pic>
        <p:sp>
          <p:nvSpPr>
            <p:cNvPr id="22" name="Rechteck 21"/>
            <p:cNvSpPr/>
            <p:nvPr/>
          </p:nvSpPr>
          <p:spPr bwMode="auto">
            <a:xfrm>
              <a:off x="463993" y="5057315"/>
              <a:ext cx="8692591" cy="1359393"/>
            </a:xfrm>
            <a:prstGeom prst="rect">
              <a:avLst/>
            </a:prstGeom>
            <a:solidFill>
              <a:schemeClr val="accent2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2077760" y="5164333"/>
              <a:ext cx="202972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+mj-lt"/>
                </a:rPr>
                <a:t>Literatur-</a:t>
              </a:r>
            </a:p>
            <a:p>
              <a:r>
                <a:rPr lang="de-DE" dirty="0">
                  <a:latin typeface="+mj-lt"/>
                </a:rPr>
                <a:t>nachweise </a:t>
              </a:r>
            </a:p>
          </p:txBody>
        </p:sp>
      </p:grpSp>
      <p:sp>
        <p:nvSpPr>
          <p:cNvPr id="26" name="Textfeld 25"/>
          <p:cNvSpPr txBox="1"/>
          <p:nvPr/>
        </p:nvSpPr>
        <p:spPr>
          <a:xfrm>
            <a:off x="5143611" y="3055987"/>
            <a:ext cx="394672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+mj-lt"/>
              </a:rPr>
              <a:t>Recherchewerkzeuge</a:t>
            </a:r>
            <a:br>
              <a:rPr lang="de-DE" dirty="0">
                <a:latin typeface="+mj-lt"/>
              </a:rPr>
            </a:br>
            <a:r>
              <a:rPr lang="de-DE" sz="2000" dirty="0">
                <a:latin typeface="+mj-lt"/>
              </a:rPr>
              <a:t>Ähnliche Artikel, Referenzen, Zitationen, </a:t>
            </a:r>
            <a:r>
              <a:rPr lang="de-DE" sz="2000" dirty="0" err="1">
                <a:latin typeface="+mj-lt"/>
              </a:rPr>
              <a:t>Bibliometrische</a:t>
            </a:r>
            <a:r>
              <a:rPr lang="de-DE" sz="2000" dirty="0">
                <a:latin typeface="+mj-lt"/>
              </a:rPr>
              <a:t> Informationen, </a:t>
            </a:r>
            <a:r>
              <a:rPr lang="de-DE" sz="2000" dirty="0" err="1">
                <a:latin typeface="+mj-lt"/>
              </a:rPr>
              <a:t>Themenalerts</a:t>
            </a:r>
            <a:endParaRPr lang="de-DE" dirty="0">
              <a:latin typeface="+mj-lt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1659384" y="3435147"/>
            <a:ext cx="2032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+mj-lt"/>
              </a:rPr>
              <a:t>Datensätze</a:t>
            </a:r>
          </a:p>
        </p:txBody>
      </p:sp>
      <p:pic>
        <p:nvPicPr>
          <p:cNvPr id="28" name="Grafik 27"/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75234" y="1643194"/>
            <a:ext cx="356593" cy="464314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/>
        </p:nvPicPr>
        <p:blipFill>
          <a:blip r:embed="rId9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04178" y="5043786"/>
            <a:ext cx="343339" cy="447057"/>
          </a:xfrm>
          <a:prstGeom prst="rect">
            <a:avLst/>
          </a:prstGeom>
        </p:spPr>
      </p:pic>
      <p:sp>
        <p:nvSpPr>
          <p:cNvPr id="31" name="Textfeld 30"/>
          <p:cNvSpPr txBox="1"/>
          <p:nvPr/>
        </p:nvSpPr>
        <p:spPr>
          <a:xfrm>
            <a:off x="5526943" y="5047279"/>
            <a:ext cx="26342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latin typeface="+mj-lt"/>
              </a:rPr>
              <a:t>Nicht lizenziertes</a:t>
            </a:r>
            <a:br>
              <a:rPr lang="de-DE" sz="2800" dirty="0">
                <a:latin typeface="+mj-lt"/>
              </a:rPr>
            </a:br>
            <a:r>
              <a:rPr lang="de-DE" sz="2800" dirty="0">
                <a:latin typeface="+mj-lt"/>
              </a:rPr>
              <a:t>Material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C965759-85AC-4CA2-AA30-8AF785E966C5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274012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9</a:t>
            </a:fld>
            <a:endParaRPr lang="de-DE">
              <a:latin typeface="+mj-lt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3986849" y="139965"/>
            <a:ext cx="58916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 – Datenbanken</a:t>
            </a:r>
          </a:p>
        </p:txBody>
      </p:sp>
      <p:grpSp>
        <p:nvGrpSpPr>
          <p:cNvPr id="3" name="arXiv"/>
          <p:cNvGrpSpPr/>
          <p:nvPr/>
        </p:nvGrpSpPr>
        <p:grpSpPr>
          <a:xfrm>
            <a:off x="6645000" y="3568980"/>
            <a:ext cx="2691017" cy="2009073"/>
            <a:chOff x="400285" y="3281134"/>
            <a:chExt cx="2691017" cy="2009073"/>
          </a:xfrm>
        </p:grpSpPr>
        <p:sp>
          <p:nvSpPr>
            <p:cNvPr id="10" name="Rechteck 9">
              <a:hlinkClick r:id="rId3"/>
            </p:cNvPr>
            <p:cNvSpPr/>
            <p:nvPr/>
          </p:nvSpPr>
          <p:spPr bwMode="auto">
            <a:xfrm>
              <a:off x="400285" y="3281134"/>
              <a:ext cx="2691017" cy="2009073"/>
            </a:xfrm>
            <a:prstGeom prst="rect">
              <a:avLst/>
            </a:prstGeom>
            <a:solidFill>
              <a:schemeClr val="accent4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3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arXiv.org </a:t>
              </a:r>
            </a:p>
          </p:txBody>
        </p:sp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699580" y="3401330"/>
              <a:ext cx="268397" cy="349475"/>
            </a:xfrm>
            <a:prstGeom prst="rect">
              <a:avLst/>
            </a:prstGeom>
          </p:spPr>
        </p:pic>
      </p:grpSp>
      <p:grpSp>
        <p:nvGrpSpPr>
          <p:cNvPr id="2" name="Gruppieren 1" hidden="1"/>
          <p:cNvGrpSpPr/>
          <p:nvPr/>
        </p:nvGrpSpPr>
        <p:grpSpPr>
          <a:xfrm>
            <a:off x="2600357" y="5370792"/>
            <a:ext cx="2105736" cy="1512169"/>
            <a:chOff x="398992" y="4914201"/>
            <a:chExt cx="2105736" cy="1512169"/>
          </a:xfrm>
        </p:grpSpPr>
        <p:sp>
          <p:nvSpPr>
            <p:cNvPr id="11" name="Rechteck 10">
              <a:hlinkClick r:id="rId5"/>
            </p:cNvPr>
            <p:cNvSpPr/>
            <p:nvPr/>
          </p:nvSpPr>
          <p:spPr bwMode="auto">
            <a:xfrm>
              <a:off x="398992" y="4914201"/>
              <a:ext cx="2105736" cy="1512169"/>
            </a:xfrm>
            <a:prstGeom prst="rect">
              <a:avLst/>
            </a:prstGeom>
            <a:solidFill>
              <a:schemeClr val="accent4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32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PubMed</a:t>
              </a:r>
              <a:endParaRPr kumimoji="0" lang="de-D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101780" y="5013178"/>
              <a:ext cx="268397" cy="349475"/>
            </a:xfrm>
            <a:prstGeom prst="rect">
              <a:avLst/>
            </a:prstGeom>
          </p:spPr>
        </p:pic>
      </p:grpSp>
      <p:grpSp>
        <p:nvGrpSpPr>
          <p:cNvPr id="6" name="Web of Science">
            <a:extLst>
              <a:ext uri="{FF2B5EF4-FFF2-40B4-BE49-F238E27FC236}">
                <a16:creationId xmlns:a16="http://schemas.microsoft.com/office/drawing/2014/main" id="{D51A793D-A9B0-4622-A8C8-85C764475D77}"/>
              </a:ext>
            </a:extLst>
          </p:cNvPr>
          <p:cNvGrpSpPr/>
          <p:nvPr/>
        </p:nvGrpSpPr>
        <p:grpSpPr>
          <a:xfrm>
            <a:off x="442078" y="3568980"/>
            <a:ext cx="2818922" cy="2009073"/>
            <a:chOff x="3296632" y="3147141"/>
            <a:chExt cx="2818922" cy="2009073"/>
          </a:xfrm>
        </p:grpSpPr>
        <p:sp>
          <p:nvSpPr>
            <p:cNvPr id="16" name="Rechteck 15">
              <a:hlinkClick r:id="rId6"/>
            </p:cNvPr>
            <p:cNvSpPr/>
            <p:nvPr/>
          </p:nvSpPr>
          <p:spPr bwMode="auto">
            <a:xfrm>
              <a:off x="3296632" y="3147141"/>
              <a:ext cx="2818922" cy="2009073"/>
            </a:xfrm>
            <a:prstGeom prst="rect">
              <a:avLst/>
            </a:prstGeom>
            <a:solidFill>
              <a:schemeClr val="accent5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Web </a:t>
              </a:r>
              <a:r>
                <a:rPr kumimoji="0" lang="de-DE" sz="32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of</a:t>
              </a:r>
              <a:r>
                <a:rPr kumimoji="0" lang="de-DE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 Science</a:t>
              </a:r>
              <a:endPara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20" name="Grafik 19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760409" y="3211595"/>
              <a:ext cx="268397" cy="349475"/>
            </a:xfrm>
            <a:prstGeom prst="rect">
              <a:avLst/>
            </a:prstGeom>
          </p:spPr>
        </p:pic>
      </p:grpSp>
      <p:grpSp>
        <p:nvGrpSpPr>
          <p:cNvPr id="35" name="Springer">
            <a:extLst>
              <a:ext uri="{FF2B5EF4-FFF2-40B4-BE49-F238E27FC236}">
                <a16:creationId xmlns:a16="http://schemas.microsoft.com/office/drawing/2014/main" id="{37DAC1E9-A74C-4B9A-ADE6-640065AB2B03}"/>
              </a:ext>
            </a:extLst>
          </p:cNvPr>
          <p:cNvGrpSpPr/>
          <p:nvPr/>
        </p:nvGrpSpPr>
        <p:grpSpPr>
          <a:xfrm>
            <a:off x="6645921" y="1235404"/>
            <a:ext cx="2818922" cy="2009073"/>
            <a:chOff x="6526566" y="1011429"/>
            <a:chExt cx="2818922" cy="2009073"/>
          </a:xfrm>
        </p:grpSpPr>
        <p:sp>
          <p:nvSpPr>
            <p:cNvPr id="9" name="Rechteck 8">
              <a:hlinkClick r:id="rId7"/>
            </p:cNvPr>
            <p:cNvSpPr/>
            <p:nvPr/>
          </p:nvSpPr>
          <p:spPr bwMode="auto">
            <a:xfrm>
              <a:off x="6526566" y="1011429"/>
              <a:ext cx="2818922" cy="2009073"/>
            </a:xfrm>
            <a:prstGeom prst="rect">
              <a:avLst/>
            </a:prstGeom>
            <a:solidFill>
              <a:schemeClr val="accent5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Springer</a:t>
              </a:r>
            </a:p>
            <a:p>
              <a:pPr algn="ctr"/>
              <a:r>
                <a:rPr lang="de-DE" sz="1800" dirty="0">
                  <a:latin typeface="+mj-lt"/>
                  <a:hlinkClick r:id="rId8"/>
                </a:rPr>
                <a:t>Lecture Notes in Computer Science (LNCS)</a:t>
              </a:r>
              <a:endPara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21" name="Grafik 20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975989" y="1131247"/>
              <a:ext cx="268397" cy="349475"/>
            </a:xfrm>
            <a:prstGeom prst="rect">
              <a:avLst/>
            </a:prstGeom>
          </p:spPr>
        </p:pic>
      </p:grpSp>
      <p:grpSp>
        <p:nvGrpSpPr>
          <p:cNvPr id="34" name="IEEE">
            <a:extLst>
              <a:ext uri="{FF2B5EF4-FFF2-40B4-BE49-F238E27FC236}">
                <a16:creationId xmlns:a16="http://schemas.microsoft.com/office/drawing/2014/main" id="{E2F152EF-4C1E-495E-93AA-B854C62B65F9}"/>
              </a:ext>
            </a:extLst>
          </p:cNvPr>
          <p:cNvGrpSpPr/>
          <p:nvPr/>
        </p:nvGrpSpPr>
        <p:grpSpPr>
          <a:xfrm>
            <a:off x="3544806" y="1235404"/>
            <a:ext cx="2818922" cy="2009073"/>
            <a:chOff x="3560175" y="1011430"/>
            <a:chExt cx="2818922" cy="2009073"/>
          </a:xfrm>
        </p:grpSpPr>
        <p:sp>
          <p:nvSpPr>
            <p:cNvPr id="8" name="Rechteck 7">
              <a:hlinkClick r:id="rId9"/>
            </p:cNvPr>
            <p:cNvSpPr/>
            <p:nvPr/>
          </p:nvSpPr>
          <p:spPr bwMode="auto">
            <a:xfrm>
              <a:off x="3560175" y="1011430"/>
              <a:ext cx="2818922" cy="2009073"/>
            </a:xfrm>
            <a:prstGeom prst="rect">
              <a:avLst/>
            </a:prstGeom>
            <a:solidFill>
              <a:schemeClr val="accent4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de-DE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IEEE </a:t>
              </a:r>
              <a:r>
                <a:rPr kumimoji="0" lang="de-DE" sz="32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Xplore</a:t>
              </a:r>
              <a:br>
                <a:rPr kumimoji="0" lang="de-DE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</a:br>
              <a:r>
                <a:rPr lang="en-US" sz="1600" dirty="0">
                  <a:solidFill>
                    <a:schemeClr val="tx1"/>
                  </a:solidFill>
                  <a:latin typeface="+mj-lt"/>
                </a:rPr>
                <a:t>Institute of Electrical and Electronics Engineers</a:t>
              </a:r>
              <a:endParaRPr kumimoji="0" lang="de-D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22" name="Grafik 21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982794" y="1131247"/>
              <a:ext cx="268397" cy="349475"/>
            </a:xfrm>
            <a:prstGeom prst="rect">
              <a:avLst/>
            </a:prstGeom>
          </p:spPr>
        </p:pic>
      </p:grpSp>
      <p:grpSp>
        <p:nvGrpSpPr>
          <p:cNvPr id="33" name="ACM">
            <a:extLst>
              <a:ext uri="{FF2B5EF4-FFF2-40B4-BE49-F238E27FC236}">
                <a16:creationId xmlns:a16="http://schemas.microsoft.com/office/drawing/2014/main" id="{A7A8BFE1-EA05-44C6-B5E8-EF48C479D1EE}"/>
              </a:ext>
            </a:extLst>
          </p:cNvPr>
          <p:cNvGrpSpPr/>
          <p:nvPr/>
        </p:nvGrpSpPr>
        <p:grpSpPr>
          <a:xfrm>
            <a:off x="443690" y="1235404"/>
            <a:ext cx="2818922" cy="2009073"/>
            <a:chOff x="597237" y="1011431"/>
            <a:chExt cx="2818922" cy="2009073"/>
          </a:xfrm>
        </p:grpSpPr>
        <p:sp>
          <p:nvSpPr>
            <p:cNvPr id="7" name="Rechteck 6">
              <a:hlinkClick r:id="rId10"/>
            </p:cNvPr>
            <p:cNvSpPr/>
            <p:nvPr/>
          </p:nvSpPr>
          <p:spPr bwMode="auto">
            <a:xfrm>
              <a:off x="597237" y="1011431"/>
              <a:ext cx="2818922" cy="2009073"/>
            </a:xfrm>
            <a:prstGeom prst="rect">
              <a:avLst/>
            </a:prstGeom>
            <a:solidFill>
              <a:schemeClr val="accent4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ACM Digital Library</a:t>
              </a:r>
            </a:p>
          </p:txBody>
        </p:sp>
        <p:pic>
          <p:nvPicPr>
            <p:cNvPr id="23" name="Grafik 22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023161" y="1131247"/>
              <a:ext cx="268397" cy="349475"/>
            </a:xfrm>
            <a:prstGeom prst="rect">
              <a:avLst/>
            </a:prstGeom>
          </p:spPr>
        </p:pic>
      </p:grpSp>
      <p:grpSp>
        <p:nvGrpSpPr>
          <p:cNvPr id="37" name="ZDEE">
            <a:extLst>
              <a:ext uri="{FF2B5EF4-FFF2-40B4-BE49-F238E27FC236}">
                <a16:creationId xmlns:a16="http://schemas.microsoft.com/office/drawing/2014/main" id="{FC13BC61-B028-4067-AA8F-45B240C3258C}"/>
              </a:ext>
            </a:extLst>
          </p:cNvPr>
          <p:cNvGrpSpPr/>
          <p:nvPr/>
        </p:nvGrpSpPr>
        <p:grpSpPr>
          <a:xfrm>
            <a:off x="3551908" y="3568980"/>
            <a:ext cx="2818922" cy="2009073"/>
            <a:chOff x="6263023" y="3151435"/>
            <a:chExt cx="2818922" cy="2009073"/>
          </a:xfrm>
        </p:grpSpPr>
        <p:sp>
          <p:nvSpPr>
            <p:cNvPr id="38" name="Rechteck 37">
              <a:hlinkClick r:id="rId11"/>
              <a:extLst>
                <a:ext uri="{FF2B5EF4-FFF2-40B4-BE49-F238E27FC236}">
                  <a16:creationId xmlns:a16="http://schemas.microsoft.com/office/drawing/2014/main" id="{5CB968F4-4BC8-4A07-B406-8E5A63774958}"/>
                </a:ext>
              </a:extLst>
            </p:cNvPr>
            <p:cNvSpPr/>
            <p:nvPr/>
          </p:nvSpPr>
          <p:spPr bwMode="auto">
            <a:xfrm>
              <a:off x="6263023" y="3151435"/>
              <a:ext cx="2818922" cy="2009073"/>
            </a:xfrm>
            <a:prstGeom prst="rect">
              <a:avLst/>
            </a:prstGeom>
            <a:solidFill>
              <a:schemeClr val="accent4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sz="2400" dirty="0">
                  <a:solidFill>
                    <a:schemeClr val="tx1"/>
                  </a:solidFill>
                  <a:latin typeface="+mj-lt"/>
                </a:rPr>
                <a:t>ZDE Elektrotechnik, Elektronik und Informationstechnik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Technik</a:t>
              </a:r>
              <a:r>
                <a:rPr kumimoji="0" lang="de-DE" sz="1600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 und Management</a:t>
              </a:r>
              <a:endParaRPr kumimoji="0" lang="de-D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EB520E5D-EE2D-485A-91BF-C4491CF14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729933" y="3173464"/>
              <a:ext cx="268397" cy="349475"/>
            </a:xfrm>
            <a:prstGeom prst="rect">
              <a:avLst/>
            </a:prstGeom>
          </p:spPr>
        </p:pic>
      </p:grpSp>
      <p:sp>
        <p:nvSpPr>
          <p:cNvPr id="14" name="Rechteck 13"/>
          <p:cNvSpPr/>
          <p:nvPr/>
        </p:nvSpPr>
        <p:spPr>
          <a:xfrm>
            <a:off x="336965" y="6181825"/>
            <a:ext cx="45267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de-DE" sz="1600" dirty="0">
                <a:latin typeface="+mj-lt"/>
                <a:hlinkClick r:id="rId12"/>
              </a:rPr>
              <a:t>Übersicht über die für Sie lizenzierte Datenbanken</a:t>
            </a:r>
            <a:endParaRPr lang="de-DE" sz="1600" dirty="0">
              <a:latin typeface="+mj-lt"/>
            </a:endParaRPr>
          </a:p>
        </p:txBody>
      </p:sp>
      <p:grpSp>
        <p:nvGrpSpPr>
          <p:cNvPr id="31" name="PubMed" hidden="1">
            <a:extLst>
              <a:ext uri="{FF2B5EF4-FFF2-40B4-BE49-F238E27FC236}">
                <a16:creationId xmlns:a16="http://schemas.microsoft.com/office/drawing/2014/main" id="{6F5E197D-313D-4423-BF28-F23C4B1ADBA0}"/>
              </a:ext>
            </a:extLst>
          </p:cNvPr>
          <p:cNvGrpSpPr/>
          <p:nvPr/>
        </p:nvGrpSpPr>
        <p:grpSpPr>
          <a:xfrm>
            <a:off x="6645000" y="4120234"/>
            <a:ext cx="2691017" cy="2301229"/>
            <a:chOff x="6289825" y="3672260"/>
            <a:chExt cx="2691017" cy="2301229"/>
          </a:xfrm>
        </p:grpSpPr>
        <p:sp>
          <p:nvSpPr>
            <p:cNvPr id="30" name="Gleichschenkliges Dreieck 29">
              <a:extLst>
                <a:ext uri="{FF2B5EF4-FFF2-40B4-BE49-F238E27FC236}">
                  <a16:creationId xmlns:a16="http://schemas.microsoft.com/office/drawing/2014/main" id="{5550C01D-AF90-4805-A0E6-D712B0946987}"/>
                </a:ext>
              </a:extLst>
            </p:cNvPr>
            <p:cNvSpPr/>
            <p:nvPr/>
          </p:nvSpPr>
          <p:spPr bwMode="auto">
            <a:xfrm rot="7452923">
              <a:off x="6701611" y="3707183"/>
              <a:ext cx="2301229" cy="2231384"/>
            </a:xfrm>
            <a:custGeom>
              <a:avLst/>
              <a:gdLst>
                <a:gd name="connsiteX0" fmla="*/ 0 w 1575687"/>
                <a:gd name="connsiteY0" fmla="*/ 1097376 h 1097376"/>
                <a:gd name="connsiteX1" fmla="*/ 787844 w 1575687"/>
                <a:gd name="connsiteY1" fmla="*/ 0 h 1097376"/>
                <a:gd name="connsiteX2" fmla="*/ 1575687 w 1575687"/>
                <a:gd name="connsiteY2" fmla="*/ 1097376 h 1097376"/>
                <a:gd name="connsiteX3" fmla="*/ 0 w 1575687"/>
                <a:gd name="connsiteY3" fmla="*/ 1097376 h 1097376"/>
                <a:gd name="connsiteX0" fmla="*/ 0 w 1800763"/>
                <a:gd name="connsiteY0" fmla="*/ 752826 h 1097376"/>
                <a:gd name="connsiteX1" fmla="*/ 1012920 w 1800763"/>
                <a:gd name="connsiteY1" fmla="*/ 0 h 1097376"/>
                <a:gd name="connsiteX2" fmla="*/ 1800763 w 1800763"/>
                <a:gd name="connsiteY2" fmla="*/ 1097376 h 1097376"/>
                <a:gd name="connsiteX3" fmla="*/ 0 w 1800763"/>
                <a:gd name="connsiteY3" fmla="*/ 752826 h 1097376"/>
                <a:gd name="connsiteX0" fmla="*/ 0 w 1800763"/>
                <a:gd name="connsiteY0" fmla="*/ 784836 h 1129386"/>
                <a:gd name="connsiteX1" fmla="*/ 1046442 w 1800763"/>
                <a:gd name="connsiteY1" fmla="*/ 0 h 1129386"/>
                <a:gd name="connsiteX2" fmla="*/ 1800763 w 1800763"/>
                <a:gd name="connsiteY2" fmla="*/ 1129386 h 1129386"/>
                <a:gd name="connsiteX3" fmla="*/ 0 w 1800763"/>
                <a:gd name="connsiteY3" fmla="*/ 784836 h 1129386"/>
                <a:gd name="connsiteX0" fmla="*/ 0 w 1800763"/>
                <a:gd name="connsiteY0" fmla="*/ 734175 h 1078725"/>
                <a:gd name="connsiteX1" fmla="*/ 1053247 w 1800763"/>
                <a:gd name="connsiteY1" fmla="*/ 0 h 1078725"/>
                <a:gd name="connsiteX2" fmla="*/ 1800763 w 1800763"/>
                <a:gd name="connsiteY2" fmla="*/ 1078725 h 1078725"/>
                <a:gd name="connsiteX3" fmla="*/ 0 w 1800763"/>
                <a:gd name="connsiteY3" fmla="*/ 734175 h 1078725"/>
                <a:gd name="connsiteX0" fmla="*/ 0 w 1800763"/>
                <a:gd name="connsiteY0" fmla="*/ 745153 h 1089703"/>
                <a:gd name="connsiteX1" fmla="*/ 730898 w 1800763"/>
                <a:gd name="connsiteY1" fmla="*/ 0 h 1089703"/>
                <a:gd name="connsiteX2" fmla="*/ 1800763 w 1800763"/>
                <a:gd name="connsiteY2" fmla="*/ 1089703 h 1089703"/>
                <a:gd name="connsiteX3" fmla="*/ 0 w 1800763"/>
                <a:gd name="connsiteY3" fmla="*/ 745153 h 1089703"/>
                <a:gd name="connsiteX0" fmla="*/ 0 w 1810930"/>
                <a:gd name="connsiteY0" fmla="*/ 745153 h 1100058"/>
                <a:gd name="connsiteX1" fmla="*/ 730898 w 1810930"/>
                <a:gd name="connsiteY1" fmla="*/ 0 h 1100058"/>
                <a:gd name="connsiteX2" fmla="*/ 1810930 w 1810930"/>
                <a:gd name="connsiteY2" fmla="*/ 1100058 h 1100058"/>
                <a:gd name="connsiteX3" fmla="*/ 0 w 1810930"/>
                <a:gd name="connsiteY3" fmla="*/ 745153 h 1100058"/>
                <a:gd name="connsiteX0" fmla="*/ 0 w 1638089"/>
                <a:gd name="connsiteY0" fmla="*/ 258685 h 1100058"/>
                <a:gd name="connsiteX1" fmla="*/ 558057 w 1638089"/>
                <a:gd name="connsiteY1" fmla="*/ 0 h 1100058"/>
                <a:gd name="connsiteX2" fmla="*/ 1638089 w 1638089"/>
                <a:gd name="connsiteY2" fmla="*/ 1100058 h 1100058"/>
                <a:gd name="connsiteX3" fmla="*/ 0 w 1638089"/>
                <a:gd name="connsiteY3" fmla="*/ 258685 h 1100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8089" h="1100058">
                  <a:moveTo>
                    <a:pt x="0" y="258685"/>
                  </a:moveTo>
                  <a:lnTo>
                    <a:pt x="558057" y="0"/>
                  </a:lnTo>
                  <a:lnTo>
                    <a:pt x="1638089" y="1100058"/>
                  </a:lnTo>
                  <a:lnTo>
                    <a:pt x="0" y="258685"/>
                  </a:lnTo>
                  <a:close/>
                </a:path>
              </a:pathLst>
            </a:custGeom>
            <a:solidFill>
              <a:schemeClr val="accent2">
                <a:alpha val="18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endParaRPr>
            </a:p>
          </p:txBody>
        </p:sp>
        <p:sp>
          <p:nvSpPr>
            <p:cNvPr id="26" name="Rechteck 25">
              <a:hlinkClick r:id="rId5"/>
              <a:extLst>
                <a:ext uri="{FF2B5EF4-FFF2-40B4-BE49-F238E27FC236}">
                  <a16:creationId xmlns:a16="http://schemas.microsoft.com/office/drawing/2014/main" id="{23611E92-2762-4568-996B-1260D45A85A9}"/>
                </a:ext>
              </a:extLst>
            </p:cNvPr>
            <p:cNvSpPr/>
            <p:nvPr/>
          </p:nvSpPr>
          <p:spPr bwMode="auto">
            <a:xfrm>
              <a:off x="6289825" y="4207835"/>
              <a:ext cx="2691017" cy="939155"/>
            </a:xfrm>
            <a:prstGeom prst="rect">
              <a:avLst/>
            </a:prstGeom>
            <a:solidFill>
              <a:schemeClr val="accent4">
                <a:alpha val="7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30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rPr>
                <a:t>PubMed</a:t>
              </a:r>
              <a:endParaRPr kumimoji="0" lang="de-DE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  <p:pic>
          <p:nvPicPr>
            <p:cNvPr id="28" name="Schloss rot">
              <a:extLst>
                <a:ext uri="{FF2B5EF4-FFF2-40B4-BE49-F238E27FC236}">
                  <a16:creationId xmlns:a16="http://schemas.microsoft.com/office/drawing/2014/main" id="{E4C2036D-8B36-4DFB-A432-3805A6F27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671412" y="4300897"/>
              <a:ext cx="268185" cy="349200"/>
            </a:xfrm>
            <a:prstGeom prst="rect">
              <a:avLst/>
            </a:prstGeom>
          </p:spPr>
        </p:pic>
        <p:pic>
          <p:nvPicPr>
            <p:cNvPr id="27" name="Schloss grün">
              <a:extLst>
                <a:ext uri="{FF2B5EF4-FFF2-40B4-BE49-F238E27FC236}">
                  <a16:creationId xmlns:a16="http://schemas.microsoft.com/office/drawing/2014/main" id="{89EC2679-AA9C-4862-8957-36820FF95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15521" y="4223055"/>
              <a:ext cx="268397" cy="349475"/>
            </a:xfrm>
            <a:prstGeom prst="rect">
              <a:avLst/>
            </a:prstGeom>
          </p:spPr>
        </p:pic>
      </p:grpSp>
      <p:sp>
        <p:nvSpPr>
          <p:cNvPr id="36" name="Rechteck 35">
            <a:extLst>
              <a:ext uri="{FF2B5EF4-FFF2-40B4-BE49-F238E27FC236}">
                <a16:creationId xmlns:a16="http://schemas.microsoft.com/office/drawing/2014/main" id="{7A3EBB21-9F99-4CE9-9411-0EEE9FC0C5EC}"/>
              </a:ext>
            </a:extLst>
          </p:cNvPr>
          <p:cNvSpPr/>
          <p:nvPr/>
        </p:nvSpPr>
        <p:spPr bwMode="auto">
          <a:xfrm>
            <a:off x="336965" y="1124744"/>
            <a:ext cx="6128203" cy="2207422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rutiger 45 Light" pitchFamily="34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680E547-C16C-4869-9634-5D73FC0563E1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330629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10</a:t>
            </a:fld>
            <a:endParaRPr lang="de-DE">
              <a:latin typeface="+mj-lt"/>
            </a:endParaRPr>
          </a:p>
        </p:txBody>
      </p:sp>
      <p:pic>
        <p:nvPicPr>
          <p:cNvPr id="11" name="Grafik 10" descr="Ein Bild, das Text, Screenshot, Multimedia-Software, Design enthält.&#10;&#10;KI-generierte Inhalte können fehlerhaft sein.">
            <a:extLst>
              <a:ext uri="{FF2B5EF4-FFF2-40B4-BE49-F238E27FC236}">
                <a16:creationId xmlns:a16="http://schemas.microsoft.com/office/drawing/2014/main" id="{18F38D05-259C-9D68-B470-FEF8F54B3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839"/>
            <a:ext cx="9906000" cy="6760322"/>
          </a:xfrm>
          <a:prstGeom prst="rect">
            <a:avLst/>
          </a:prstGeom>
        </p:spPr>
      </p:pic>
      <p:sp>
        <p:nvSpPr>
          <p:cNvPr id="6" name="Pfeil nach rechts 5"/>
          <p:cNvSpPr/>
          <p:nvPr/>
        </p:nvSpPr>
        <p:spPr bwMode="auto">
          <a:xfrm rot="8916018">
            <a:off x="7514322" y="2574287"/>
            <a:ext cx="685194" cy="342746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2" name="Pfeil nach rechts 5">
            <a:extLst>
              <a:ext uri="{FF2B5EF4-FFF2-40B4-BE49-F238E27FC236}">
                <a16:creationId xmlns:a16="http://schemas.microsoft.com/office/drawing/2014/main" id="{F59A7DE8-7A73-A233-E872-462D70C5387E}"/>
              </a:ext>
            </a:extLst>
          </p:cNvPr>
          <p:cNvSpPr/>
          <p:nvPr/>
        </p:nvSpPr>
        <p:spPr bwMode="auto">
          <a:xfrm rot="13903765">
            <a:off x="7924755" y="464391"/>
            <a:ext cx="685194" cy="342746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3094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/>
              <a:t>11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8371318" y="139965"/>
            <a:ext cx="1507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2"/>
                </a:solidFill>
              </a:rPr>
              <a:t>Aktion!</a:t>
            </a:r>
          </a:p>
        </p:txBody>
      </p:sp>
      <p:sp>
        <p:nvSpPr>
          <p:cNvPr id="6" name="Rechteck 5">
            <a:hlinkClick r:id="rId3"/>
            <a:extLst>
              <a:ext uri="{FF2B5EF4-FFF2-40B4-BE49-F238E27FC236}">
                <a16:creationId xmlns:a16="http://schemas.microsoft.com/office/drawing/2014/main" id="{273854B3-4F05-40F2-896F-AA9F7D65D6F1}"/>
              </a:ext>
            </a:extLst>
          </p:cNvPr>
          <p:cNvSpPr/>
          <p:nvPr/>
        </p:nvSpPr>
        <p:spPr bwMode="auto">
          <a:xfrm>
            <a:off x="712843" y="1090140"/>
            <a:ext cx="8496944" cy="5238675"/>
          </a:xfrm>
          <a:prstGeom prst="rect">
            <a:avLst/>
          </a:prstGeom>
          <a:solidFill>
            <a:schemeClr val="accent4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21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Recherchieren Sie in </a:t>
            </a:r>
            <a:r>
              <a:rPr lang="de-DE" sz="4000" dirty="0">
                <a:solidFill>
                  <a:schemeClr val="accent3"/>
                </a:solidFill>
              </a:rPr>
              <a:t>ACM</a:t>
            </a:r>
            <a:r>
              <a:rPr lang="de-DE" dirty="0">
                <a:solidFill>
                  <a:schemeClr val="tx1"/>
                </a:solidFill>
              </a:rPr>
              <a:t> nach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b="1" dirty="0">
                <a:solidFill>
                  <a:schemeClr val="tx1"/>
                </a:solidFill>
              </a:rPr>
              <a:t>Brain-Computer Interface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de-DE" sz="18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Wie verändert sich das Resultat wenn Sie den Begriff </a:t>
            </a:r>
            <a:r>
              <a:rPr lang="de-DE" sz="2400" dirty="0">
                <a:solidFill>
                  <a:schemeClr val="accent3"/>
                </a:solidFill>
              </a:rPr>
              <a:t>in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de-DE" sz="2400" dirty="0">
                <a:solidFill>
                  <a:schemeClr val="accent3"/>
                </a:solidFill>
              </a:rPr>
              <a:t>Anführungszeichen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setzen?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Suchen Sie </a:t>
            </a:r>
            <a:r>
              <a:rPr lang="de-DE" sz="2400" dirty="0">
                <a:solidFill>
                  <a:schemeClr val="accent3"/>
                </a:solidFill>
              </a:rPr>
              <a:t>zusätzlich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nach der Abkürzung </a:t>
            </a:r>
            <a:r>
              <a:rPr lang="de-DE" sz="2400" b="1" dirty="0">
                <a:solidFill>
                  <a:schemeClr val="tx1"/>
                </a:solidFill>
              </a:rPr>
              <a:t>BCI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. (ODER)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Durchsuchen Sie den </a:t>
            </a:r>
            <a:r>
              <a:rPr lang="de-DE" sz="2400" dirty="0">
                <a:solidFill>
                  <a:schemeClr val="accent3"/>
                </a:solidFill>
              </a:rPr>
              <a:t>ACM Guide </a:t>
            </a:r>
            <a:r>
              <a:rPr lang="de-DE" sz="2400" dirty="0" err="1">
                <a:solidFill>
                  <a:schemeClr val="accent3"/>
                </a:solidFill>
              </a:rPr>
              <a:t>to</a:t>
            </a:r>
            <a:r>
              <a:rPr lang="de-DE" sz="2400" dirty="0">
                <a:solidFill>
                  <a:schemeClr val="accent3"/>
                </a:solidFill>
              </a:rPr>
              <a:t> Computing </a:t>
            </a:r>
            <a:r>
              <a:rPr lang="de-DE" sz="2400" dirty="0" err="1">
                <a:solidFill>
                  <a:schemeClr val="accent3"/>
                </a:solidFill>
              </a:rPr>
              <a:t>Literature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Beschränken Sie das Ergebnis auf </a:t>
            </a:r>
            <a:r>
              <a:rPr lang="de-DE" sz="2400" dirty="0">
                <a:solidFill>
                  <a:schemeClr val="accent3"/>
                </a:solidFill>
              </a:rPr>
              <a:t>Forschungsartikel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Finden Sie einen </a:t>
            </a:r>
            <a:r>
              <a:rPr lang="de-DE" sz="2400" dirty="0">
                <a:solidFill>
                  <a:schemeClr val="accent3"/>
                </a:solidFill>
              </a:rPr>
              <a:t>vielzitierten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Artikel aus den </a:t>
            </a:r>
            <a:r>
              <a:rPr lang="de-DE" sz="2400" dirty="0">
                <a:solidFill>
                  <a:schemeClr val="accent3"/>
                </a:solidFill>
              </a:rPr>
              <a:t>letzten 2 Jahren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Finden Sie, welche anderen Artikel </a:t>
            </a:r>
            <a:r>
              <a:rPr lang="de-DE" sz="2400" dirty="0">
                <a:solidFill>
                  <a:schemeClr val="accent3"/>
                </a:solidFill>
              </a:rPr>
              <a:t>auf ihn verweisen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0552" y="1340768"/>
            <a:ext cx="805924" cy="94231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285243A2-1949-4590-98C7-B95FCF1CA8EB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269619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E3E0FBA-1E5B-41F3-9404-23CDE16AE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5"/>
            <a:ext cx="9906000" cy="6855530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/>
              <a:t>12</a:t>
            </a:fld>
            <a:endParaRPr lang="de-DE"/>
          </a:p>
        </p:txBody>
      </p:sp>
      <p:sp>
        <p:nvSpPr>
          <p:cNvPr id="6" name="Pfeil nach rechts 5"/>
          <p:cNvSpPr/>
          <p:nvPr/>
        </p:nvSpPr>
        <p:spPr bwMode="auto">
          <a:xfrm rot="20119360">
            <a:off x="1200454" y="3209233"/>
            <a:ext cx="2187387" cy="439533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rutiger 45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528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/>
              <a:t>13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8371318" y="139965"/>
            <a:ext cx="1507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2"/>
                </a:solidFill>
              </a:rPr>
              <a:t>Aktion!</a:t>
            </a:r>
          </a:p>
        </p:txBody>
      </p:sp>
      <p:sp>
        <p:nvSpPr>
          <p:cNvPr id="8" name="Rechteck 7">
            <a:hlinkClick r:id="rId3"/>
            <a:extLst>
              <a:ext uri="{FF2B5EF4-FFF2-40B4-BE49-F238E27FC236}">
                <a16:creationId xmlns:a16="http://schemas.microsoft.com/office/drawing/2014/main" id="{273854B3-4F05-40F2-896F-AA9F7D65D6F1}"/>
              </a:ext>
            </a:extLst>
          </p:cNvPr>
          <p:cNvSpPr/>
          <p:nvPr/>
        </p:nvSpPr>
        <p:spPr bwMode="auto">
          <a:xfrm>
            <a:off x="416496" y="1082464"/>
            <a:ext cx="9001000" cy="5238675"/>
          </a:xfrm>
          <a:prstGeom prst="rect">
            <a:avLst/>
          </a:prstGeom>
          <a:solidFill>
            <a:schemeClr val="accent4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21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      Recherchieren Sie in </a:t>
            </a:r>
            <a:r>
              <a:rPr lang="de-DE" sz="3300" b="1" dirty="0">
                <a:solidFill>
                  <a:schemeClr val="accent3"/>
                </a:solidFill>
              </a:rPr>
              <a:t>IEEE </a:t>
            </a:r>
            <a:r>
              <a:rPr lang="de-DE" sz="3300" b="1" dirty="0" err="1">
                <a:solidFill>
                  <a:schemeClr val="accent3"/>
                </a:solidFill>
              </a:rPr>
              <a:t>Xplore</a:t>
            </a:r>
            <a:r>
              <a:rPr lang="de-DE" sz="3300" b="1" dirty="0">
                <a:solidFill>
                  <a:schemeClr val="tx1"/>
                </a:solidFill>
              </a:rPr>
              <a:t> </a:t>
            </a:r>
            <a:r>
              <a:rPr lang="de-DE" dirty="0">
                <a:solidFill>
                  <a:schemeClr val="tx1"/>
                </a:solidFill>
              </a:rPr>
              <a:t>nach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b="1" dirty="0">
                <a:solidFill>
                  <a:schemeClr val="tx1"/>
                </a:solidFill>
              </a:rPr>
              <a:t>“Brain-Computer Interface“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de-DE" sz="18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Passen Sie den Suchstring mittels </a:t>
            </a:r>
            <a:r>
              <a:rPr lang="de-DE" sz="2400" dirty="0" err="1">
                <a:solidFill>
                  <a:schemeClr val="accent3"/>
                </a:solidFill>
              </a:rPr>
              <a:t>Trunkierung</a:t>
            </a:r>
            <a:r>
              <a:rPr lang="de-DE" sz="2400" dirty="0">
                <a:solidFill>
                  <a:schemeClr val="accent3"/>
                </a:solidFill>
              </a:rPr>
              <a:t> * 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so an, dass auch …</a:t>
            </a:r>
            <a:r>
              <a:rPr lang="de-DE" sz="2400" dirty="0">
                <a:solidFill>
                  <a:schemeClr val="accent3"/>
                </a:solidFill>
              </a:rPr>
              <a:t>Interfaces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und …</a:t>
            </a:r>
            <a:r>
              <a:rPr lang="de-DE" sz="2400" dirty="0" err="1">
                <a:solidFill>
                  <a:schemeClr val="accent3"/>
                </a:solidFill>
              </a:rPr>
              <a:t>Interfacing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gefunden wird.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Finden Sie mit der </a:t>
            </a:r>
            <a:r>
              <a:rPr lang="de-DE" sz="2400" dirty="0">
                <a:solidFill>
                  <a:schemeClr val="accent3"/>
                </a:solidFill>
              </a:rPr>
              <a:t>Erweiterten Suche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alle Artikel die </a:t>
            </a:r>
            <a:r>
              <a:rPr lang="de-DE" sz="2400" b="1" dirty="0">
                <a:solidFill>
                  <a:schemeClr val="tx1"/>
                </a:solidFill>
              </a:rPr>
              <a:t>BCI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oder „</a:t>
            </a:r>
            <a:r>
              <a:rPr lang="de-DE" sz="2400" b="1" dirty="0">
                <a:solidFill>
                  <a:schemeClr val="tx1"/>
                </a:solidFill>
              </a:rPr>
              <a:t>Brain-Computer Interface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“ </a:t>
            </a:r>
            <a:r>
              <a:rPr lang="de-DE" sz="2400" dirty="0">
                <a:solidFill>
                  <a:schemeClr val="accent3"/>
                </a:solidFill>
              </a:rPr>
              <a:t>im Titel 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enthalten.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Kopieren Sie den Suchstring. Ändern Sie ihn in der </a:t>
            </a:r>
            <a:r>
              <a:rPr lang="de-DE" sz="2400" dirty="0">
                <a:solidFill>
                  <a:schemeClr val="accent3"/>
                </a:solidFill>
              </a:rPr>
              <a:t>Kommando-zeilensuche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so ab, dass nur Artikel gefunden werden, die „Review“ im Abstract enthalten.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accent3"/>
                </a:solidFill>
              </a:rPr>
              <a:t>Sortieren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 Sie die Resultate nach absteigendem </a:t>
            </a:r>
            <a:r>
              <a:rPr lang="de-DE" sz="2400" dirty="0">
                <a:solidFill>
                  <a:schemeClr val="accent3"/>
                </a:solidFill>
              </a:rPr>
              <a:t>Erscheinungsdatum.</a:t>
            </a:r>
            <a:endParaRPr lang="de-DE" sz="2400" dirty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Öffnen Sie einen Artikel, der bereits zitiert wurde und finden Sie die </a:t>
            </a:r>
            <a:r>
              <a:rPr lang="de-DE" sz="2400" dirty="0">
                <a:solidFill>
                  <a:schemeClr val="accent3"/>
                </a:solidFill>
              </a:rPr>
              <a:t>Liste der Zitationen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8544" y="1340768"/>
            <a:ext cx="805924" cy="942311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00A47A33-8D4C-4577-8347-B4B866DA34E0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1089271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/>
              <a:t>14</a:t>
            </a:fld>
            <a:endParaRPr lang="de-DE"/>
          </a:p>
        </p:txBody>
      </p:sp>
      <p:sp>
        <p:nvSpPr>
          <p:cNvPr id="6" name="Pfeil nach rechts 5"/>
          <p:cNvSpPr/>
          <p:nvPr/>
        </p:nvSpPr>
        <p:spPr bwMode="auto">
          <a:xfrm rot="9412308">
            <a:off x="3696635" y="3613529"/>
            <a:ext cx="685194" cy="342746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rutiger 45 Light" pitchFamily="34" charset="0"/>
            </a:endParaRPr>
          </a:p>
        </p:txBody>
      </p:sp>
      <p:sp>
        <p:nvSpPr>
          <p:cNvPr id="7" name="Pfeil nach rechts 6"/>
          <p:cNvSpPr/>
          <p:nvPr/>
        </p:nvSpPr>
        <p:spPr bwMode="auto">
          <a:xfrm rot="10512663">
            <a:off x="4822095" y="5113188"/>
            <a:ext cx="685194" cy="342746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rutiger 45 Light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2018693-3D44-4020-AB91-9C82085B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6" y="3093228"/>
            <a:ext cx="9906000" cy="487893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8864973-2CE7-42F3-9F17-1D999C7C9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" y="-948"/>
            <a:ext cx="9900129" cy="30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38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15</a:t>
            </a:fld>
            <a:endParaRPr lang="de-DE">
              <a:latin typeface="+mj-lt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4222041" y="139965"/>
            <a:ext cx="5656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 – Suchprozess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488504" y="1183074"/>
            <a:ext cx="8348662" cy="5198254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de-DE" dirty="0"/>
              <a:t>Wissenschaftliche Suchmaschinen</a:t>
            </a:r>
          </a:p>
          <a:p>
            <a:pPr lvl="1">
              <a:defRPr/>
            </a:pPr>
            <a:r>
              <a:rPr lang="de-DE" sz="2000" dirty="0">
                <a:latin typeface="+mn-lt"/>
                <a:hlinkClick r:id="rId3"/>
              </a:rPr>
              <a:t>Google Scholar</a:t>
            </a:r>
            <a:endParaRPr lang="de-DE" sz="2000" dirty="0">
              <a:latin typeface="+mn-lt"/>
            </a:endParaRPr>
          </a:p>
          <a:p>
            <a:pPr lvl="1">
              <a:defRPr/>
            </a:pPr>
            <a:r>
              <a:rPr lang="de-DE" sz="2000" dirty="0">
                <a:latin typeface="+mn-lt"/>
                <a:hlinkClick r:id="rId4"/>
              </a:rPr>
              <a:t>Bielefeld Academic Search Engine (BASE)</a:t>
            </a:r>
            <a:endParaRPr lang="de-DE" sz="2000" dirty="0">
              <a:latin typeface="+mn-lt"/>
            </a:endParaRPr>
          </a:p>
          <a:p>
            <a:pPr lvl="1">
              <a:defRPr/>
            </a:pPr>
            <a:r>
              <a:rPr lang="de-DE" sz="2000" dirty="0" err="1">
                <a:latin typeface="+mn-lt"/>
                <a:hlinkClick r:id="rId5"/>
              </a:rPr>
              <a:t>Semantic</a:t>
            </a:r>
            <a:r>
              <a:rPr lang="de-DE" sz="2000" dirty="0">
                <a:latin typeface="+mn-lt"/>
                <a:hlinkClick r:id="rId5"/>
              </a:rPr>
              <a:t> Scholar</a:t>
            </a:r>
            <a:endParaRPr lang="de-DE" sz="2000" dirty="0">
              <a:latin typeface="+mn-lt"/>
            </a:endParaRPr>
          </a:p>
          <a:p>
            <a:pPr>
              <a:lnSpc>
                <a:spcPct val="200000"/>
              </a:lnSpc>
              <a:defRPr/>
            </a:pPr>
            <a:r>
              <a:rPr lang="de-DE" dirty="0"/>
              <a:t>KI Tools</a:t>
            </a:r>
          </a:p>
          <a:p>
            <a:pPr lvl="1">
              <a:defRPr/>
            </a:pPr>
            <a:r>
              <a:rPr lang="de-DE" sz="2000" dirty="0" err="1">
                <a:solidFill>
                  <a:schemeClr val="accent1"/>
                </a:solidFill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Elicit</a:t>
            </a:r>
            <a:r>
              <a:rPr lang="de-DE" sz="2000" dirty="0">
                <a:latin typeface="+mn-lt"/>
              </a:rPr>
              <a:t> </a:t>
            </a:r>
            <a:r>
              <a:rPr lang="de-DE" sz="2000" b="0" dirty="0">
                <a:latin typeface="+mn-lt"/>
              </a:rPr>
              <a:t>(</a:t>
            </a:r>
            <a:r>
              <a:rPr lang="de-DE" sz="2000" b="0" dirty="0" err="1">
                <a:latin typeface="+mn-lt"/>
              </a:rPr>
              <a:t>Semantic</a:t>
            </a:r>
            <a:r>
              <a:rPr lang="de-DE" sz="2000" b="0" dirty="0">
                <a:latin typeface="+mn-lt"/>
              </a:rPr>
              <a:t> Scholar Korpus)</a:t>
            </a:r>
          </a:p>
          <a:p>
            <a:pPr lvl="1">
              <a:defRPr/>
            </a:pPr>
            <a:r>
              <a:rPr lang="de-DE" sz="2000" dirty="0">
                <a:solidFill>
                  <a:schemeClr val="accent1"/>
                </a:solidFill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Rabbit</a:t>
            </a:r>
            <a:r>
              <a:rPr lang="de-DE" sz="2000" b="0" dirty="0">
                <a:latin typeface="+mn-lt"/>
              </a:rPr>
              <a:t> (</a:t>
            </a:r>
            <a:r>
              <a:rPr lang="de-DE" sz="2000" b="0" dirty="0" err="1">
                <a:latin typeface="+mn-lt"/>
              </a:rPr>
              <a:t>Semantic</a:t>
            </a:r>
            <a:r>
              <a:rPr lang="de-DE" sz="2000" b="0" dirty="0">
                <a:latin typeface="+mn-lt"/>
              </a:rPr>
              <a:t> Scholar oder </a:t>
            </a:r>
            <a:r>
              <a:rPr lang="de-DE" sz="2000" b="0" dirty="0" err="1">
                <a:latin typeface="+mn-lt"/>
              </a:rPr>
              <a:t>PubMed</a:t>
            </a:r>
            <a:r>
              <a:rPr lang="de-DE" sz="2000" b="0" dirty="0">
                <a:latin typeface="+mn-lt"/>
              </a:rPr>
              <a:t> Korpus)</a:t>
            </a:r>
          </a:p>
          <a:p>
            <a:pPr lvl="1">
              <a:defRPr/>
            </a:pPr>
            <a:r>
              <a:rPr lang="de-DE" sz="2000" dirty="0" err="1">
                <a:solidFill>
                  <a:schemeClr val="accent1"/>
                </a:solidFill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Connected</a:t>
            </a:r>
            <a:r>
              <a:rPr lang="de-DE" sz="2000" dirty="0">
                <a:solidFill>
                  <a:schemeClr val="accent1"/>
                </a:solidFill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Papers</a:t>
            </a:r>
            <a:r>
              <a:rPr lang="de-DE" sz="2000" dirty="0">
                <a:latin typeface="+mn-lt"/>
              </a:rPr>
              <a:t> </a:t>
            </a:r>
            <a:r>
              <a:rPr lang="de-DE" sz="2000" b="0" dirty="0">
                <a:latin typeface="+mn-lt"/>
              </a:rPr>
              <a:t>(</a:t>
            </a:r>
            <a:r>
              <a:rPr lang="de-DE" sz="2000" b="0" dirty="0" err="1">
                <a:latin typeface="+mn-lt"/>
              </a:rPr>
              <a:t>Semantic</a:t>
            </a:r>
            <a:r>
              <a:rPr lang="de-DE" sz="2000" b="0" dirty="0">
                <a:latin typeface="+mn-lt"/>
              </a:rPr>
              <a:t> Scholar Korpus)</a:t>
            </a:r>
          </a:p>
          <a:p>
            <a:pPr lvl="1">
              <a:defRPr/>
            </a:pPr>
            <a:r>
              <a:rPr lang="de-DE" sz="2000" dirty="0">
                <a:solidFill>
                  <a:schemeClr val="accent1"/>
                </a:solidFill>
                <a:latin typeface="+mn-l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Consensus</a:t>
            </a:r>
            <a:r>
              <a:rPr lang="de-DE" sz="2000" b="0" dirty="0">
                <a:latin typeface="+mn-lt"/>
              </a:rPr>
              <a:t> (</a:t>
            </a:r>
            <a:r>
              <a:rPr lang="de-DE" sz="2000" b="0" dirty="0" err="1">
                <a:latin typeface="+mn-lt"/>
              </a:rPr>
              <a:t>Semantic</a:t>
            </a:r>
            <a:r>
              <a:rPr lang="de-DE" sz="2000" b="0" dirty="0">
                <a:latin typeface="+mn-lt"/>
              </a:rPr>
              <a:t> Scholar Korpus)</a:t>
            </a:r>
          </a:p>
          <a:p>
            <a:pPr lvl="1">
              <a:lnSpc>
                <a:spcPct val="150000"/>
              </a:lnSpc>
              <a:defRPr/>
            </a:pPr>
            <a:endParaRPr lang="de-DE" dirty="0"/>
          </a:p>
          <a:p>
            <a:pPr lvl="1">
              <a:lnSpc>
                <a:spcPct val="150000"/>
              </a:lnSpc>
              <a:defRPr/>
            </a:pPr>
            <a:endParaRPr lang="de-DE" dirty="0"/>
          </a:p>
          <a:p>
            <a:pPr>
              <a:defRPr/>
            </a:pPr>
            <a:endParaRPr lang="de-DE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7877" y="1368570"/>
            <a:ext cx="999656" cy="84622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5311" y="1368570"/>
            <a:ext cx="1019804" cy="892716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45329" y="2507115"/>
            <a:ext cx="1033752" cy="933012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5003" y="2460540"/>
            <a:ext cx="644739" cy="960909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BFA3EB8E-ABE2-486A-8615-991EC81D8AE3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2812897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16</a:t>
            </a:fld>
            <a:endParaRPr lang="de-DE">
              <a:latin typeface="+mj-lt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4552324" y="139965"/>
            <a:ext cx="5326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 - Evaluation</a:t>
            </a:r>
          </a:p>
        </p:txBody>
      </p:sp>
      <p:sp>
        <p:nvSpPr>
          <p:cNvPr id="8" name="Inhaltsplatzhalter 2"/>
          <p:cNvSpPr txBox="1">
            <a:spLocks/>
          </p:cNvSpPr>
          <p:nvPr/>
        </p:nvSpPr>
        <p:spPr bwMode="auto">
          <a:xfrm>
            <a:off x="704528" y="1277198"/>
            <a:ext cx="8348662" cy="4345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</a:defRPr>
            </a:lvl2pPr>
            <a:lvl3pPr marL="1143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+mn-lt"/>
              </a:defRPr>
            </a:lvl3pPr>
            <a:lvl4pPr marL="1600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de-DE" kern="0" dirty="0">
                <a:latin typeface="+mj-lt"/>
              </a:rPr>
              <a:t>Informierte Auswahl der Werkzeuge</a:t>
            </a:r>
          </a:p>
          <a:p>
            <a:pPr>
              <a:defRPr/>
            </a:pPr>
            <a:r>
              <a:rPr lang="de-DE" kern="0" dirty="0">
                <a:latin typeface="+mj-lt"/>
              </a:rPr>
              <a:t>Iteratives Vorgehen</a:t>
            </a:r>
          </a:p>
          <a:p>
            <a:pPr>
              <a:defRPr/>
            </a:pPr>
            <a:r>
              <a:rPr lang="de-DE" kern="0" dirty="0">
                <a:latin typeface="+mj-lt"/>
              </a:rPr>
              <a:t>Referenz-Werkzeuge nutzen</a:t>
            </a:r>
            <a:br>
              <a:rPr lang="de-DE" kern="0" dirty="0">
                <a:latin typeface="+mj-lt"/>
              </a:rPr>
            </a:br>
            <a:r>
              <a:rPr lang="en-US" sz="2400" b="0" dirty="0">
                <a:latin typeface="+mj-lt"/>
                <a:hlinkClick r:id="rId3"/>
              </a:rPr>
              <a:t>Cited Reference Search von Web of Science</a:t>
            </a:r>
            <a:endParaRPr lang="de-DE" sz="2400" kern="0" dirty="0">
              <a:latin typeface="+mj-lt"/>
            </a:endParaRPr>
          </a:p>
          <a:p>
            <a:pPr marL="0" indent="0">
              <a:lnSpc>
                <a:spcPct val="150000"/>
              </a:lnSpc>
              <a:buFont typeface="Wingdings" pitchFamily="2" charset="2"/>
              <a:buNone/>
              <a:defRPr/>
            </a:pPr>
            <a:endParaRPr lang="de-DE" kern="0" dirty="0">
              <a:latin typeface="+mj-lt"/>
            </a:endParaRPr>
          </a:p>
          <a:p>
            <a:pPr lvl="1">
              <a:lnSpc>
                <a:spcPct val="150000"/>
              </a:lnSpc>
              <a:defRPr/>
            </a:pPr>
            <a:endParaRPr lang="de-DE" kern="0" dirty="0">
              <a:latin typeface="+mj-lt"/>
            </a:endParaRPr>
          </a:p>
          <a:p>
            <a:pPr lvl="1">
              <a:lnSpc>
                <a:spcPct val="150000"/>
              </a:lnSpc>
              <a:defRPr/>
            </a:pPr>
            <a:endParaRPr lang="de-DE" kern="0" dirty="0">
              <a:latin typeface="+mj-lt"/>
            </a:endParaRPr>
          </a:p>
          <a:p>
            <a:pPr>
              <a:defRPr/>
            </a:pPr>
            <a:endParaRPr lang="de-DE" kern="0" dirty="0">
              <a:latin typeface="+mj-lt"/>
            </a:endParaRPr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67293" y="3933056"/>
            <a:ext cx="7432699" cy="1689778"/>
          </a:xfrm>
        </p:spPr>
        <p:txBody>
          <a:bodyPr anchor="ctr"/>
          <a:lstStyle/>
          <a:p>
            <a:pPr marL="0" indent="0" algn="ctr">
              <a:buFont typeface="Wingdings" panose="05000000000000000000" pitchFamily="2" charset="2"/>
              <a:buNone/>
            </a:pPr>
            <a:r>
              <a:rPr lang="de-DE" altLang="de-DE" sz="4400" dirty="0">
                <a:solidFill>
                  <a:srgbClr val="C00000"/>
                </a:solidFill>
              </a:rPr>
              <a:t>Das wichtigste Werkzeug 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de-DE" altLang="de-DE" sz="4400" dirty="0">
                <a:solidFill>
                  <a:srgbClr val="C00000"/>
                </a:solidFill>
              </a:rPr>
              <a:t>ist Ihr Intellekt!</a:t>
            </a:r>
          </a:p>
        </p:txBody>
      </p:sp>
      <p:grpSp>
        <p:nvGrpSpPr>
          <p:cNvPr id="12" name="Gruppieren 11"/>
          <p:cNvGrpSpPr/>
          <p:nvPr/>
        </p:nvGrpSpPr>
        <p:grpSpPr>
          <a:xfrm>
            <a:off x="6753200" y="3140968"/>
            <a:ext cx="2829754" cy="2639880"/>
            <a:chOff x="6742479" y="3140968"/>
            <a:chExt cx="2829754" cy="2639880"/>
          </a:xfrm>
        </p:grpSpPr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2F2F2"/>
                </a:clrFrom>
                <a:clrTo>
                  <a:srgbClr val="F2F2F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42479" y="3140968"/>
              <a:ext cx="2829754" cy="2639880"/>
            </a:xfrm>
            <a:prstGeom prst="rect">
              <a:avLst/>
            </a:prstGeom>
          </p:spPr>
        </p:pic>
        <p:sp>
          <p:nvSpPr>
            <p:cNvPr id="11" name="Rechteck 10"/>
            <p:cNvSpPr/>
            <p:nvPr/>
          </p:nvSpPr>
          <p:spPr bwMode="auto">
            <a:xfrm>
              <a:off x="7905328" y="4077072"/>
              <a:ext cx="504056" cy="21602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endParaRPr>
            </a:p>
          </p:txBody>
        </p:sp>
      </p:grpSp>
      <p:sp>
        <p:nvSpPr>
          <p:cNvPr id="9" name="Rechteck 8">
            <a:extLst>
              <a:ext uri="{FF2B5EF4-FFF2-40B4-BE49-F238E27FC236}">
                <a16:creationId xmlns:a16="http://schemas.microsoft.com/office/drawing/2014/main" id="{7CFC0D47-EAFD-4C6F-A048-59787CA2A49F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2319902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/>
          <p:cNvSpPr/>
          <p:nvPr/>
        </p:nvSpPr>
        <p:spPr bwMode="auto">
          <a:xfrm>
            <a:off x="632520" y="970109"/>
            <a:ext cx="3672408" cy="2266664"/>
          </a:xfrm>
          <a:prstGeom prst="rect">
            <a:avLst/>
          </a:prstGeom>
          <a:solidFill>
            <a:schemeClr val="accent4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>
                <a:latin typeface="+mj-lt"/>
              </a:rPr>
              <a:t>17</a:t>
            </a:fld>
            <a:endParaRPr lang="de-DE">
              <a:latin typeface="+mj-lt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4215630" y="139965"/>
            <a:ext cx="5662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 – Beschaffung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1251083" y="1078904"/>
            <a:ext cx="24352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latin typeface="+mj-lt"/>
              </a:rPr>
              <a:t>Open-Access-</a:t>
            </a:r>
          </a:p>
          <a:p>
            <a:pPr algn="ctr"/>
            <a:r>
              <a:rPr lang="de-DE" dirty="0">
                <a:latin typeface="+mj-lt"/>
              </a:rPr>
              <a:t>Version</a:t>
            </a:r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55851" y="4620099"/>
            <a:ext cx="967109" cy="973308"/>
          </a:xfrm>
          <a:prstGeom prst="rect">
            <a:avLst/>
          </a:prstGeom>
        </p:spPr>
      </p:pic>
      <p:sp>
        <p:nvSpPr>
          <p:cNvPr id="19" name="Textfeld 18"/>
          <p:cNvSpPr txBox="1"/>
          <p:nvPr/>
        </p:nvSpPr>
        <p:spPr>
          <a:xfrm>
            <a:off x="5423679" y="3669100"/>
            <a:ext cx="203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Wissenschafts-</a:t>
            </a:r>
          </a:p>
          <a:p>
            <a:pPr algn="ctr"/>
            <a:r>
              <a:rPr lang="de-DE" sz="24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Community</a:t>
            </a:r>
          </a:p>
        </p:txBody>
      </p:sp>
      <p:sp>
        <p:nvSpPr>
          <p:cNvPr id="21" name="Rechteck 20"/>
          <p:cNvSpPr/>
          <p:nvPr/>
        </p:nvSpPr>
        <p:spPr bwMode="auto">
          <a:xfrm>
            <a:off x="4502910" y="976584"/>
            <a:ext cx="3992571" cy="2266665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2" name="Rechteck 21"/>
          <p:cNvSpPr/>
          <p:nvPr/>
        </p:nvSpPr>
        <p:spPr bwMode="auto">
          <a:xfrm>
            <a:off x="636315" y="3398247"/>
            <a:ext cx="3668613" cy="2763179"/>
          </a:xfrm>
          <a:prstGeom prst="rect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4486140" y="3398247"/>
            <a:ext cx="3995252" cy="2763179"/>
          </a:xfrm>
          <a:prstGeom prst="rect">
            <a:avLst/>
          </a:prstGeom>
          <a:solidFill>
            <a:schemeClr val="accent2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5598447" y="1187698"/>
            <a:ext cx="25106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latin typeface="+mj-lt"/>
              </a:rPr>
              <a:t>Anschaffungs-</a:t>
            </a:r>
          </a:p>
          <a:p>
            <a:pPr algn="r"/>
            <a:r>
              <a:rPr lang="de-DE" dirty="0" err="1">
                <a:latin typeface="+mj-lt"/>
              </a:rPr>
              <a:t>vorschlag</a:t>
            </a:r>
            <a:endParaRPr lang="de-DE" dirty="0">
              <a:latin typeface="+mj-lt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1444508" y="3551777"/>
            <a:ext cx="1757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latin typeface="+mj-lt"/>
              </a:rPr>
              <a:t>Fernleihe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1149741" y="5373650"/>
            <a:ext cx="2163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latin typeface="+mj-lt"/>
              </a:rPr>
              <a:t>1,50 EUR pro Bestellung</a:t>
            </a:r>
          </a:p>
        </p:txBody>
      </p:sp>
      <p:pic>
        <p:nvPicPr>
          <p:cNvPr id="13" name="Grafik 12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73667">
            <a:off x="4993631" y="1962760"/>
            <a:ext cx="963889" cy="10265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Grafik 15">
            <a:hlinkClick r:id="rId6"/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60787" y="4290082"/>
            <a:ext cx="1060100" cy="979507"/>
          </a:xfrm>
          <a:prstGeom prst="rect">
            <a:avLst/>
          </a:prstGeom>
        </p:spPr>
      </p:pic>
      <p:grpSp>
        <p:nvGrpSpPr>
          <p:cNvPr id="11" name="Gruppieren 10"/>
          <p:cNvGrpSpPr/>
          <p:nvPr/>
        </p:nvGrpSpPr>
        <p:grpSpPr>
          <a:xfrm>
            <a:off x="1517321" y="2314486"/>
            <a:ext cx="1616324" cy="497682"/>
            <a:chOff x="1176436" y="2230402"/>
            <a:chExt cx="1616324" cy="497682"/>
          </a:xfrm>
        </p:grpSpPr>
        <p:pic>
          <p:nvPicPr>
            <p:cNvPr id="8" name="Grafik 7">
              <a:hlinkClick r:id="rId8"/>
            </p:cNvPr>
            <p:cNvPicPr>
              <a:picLocks noChangeAspect="1"/>
            </p:cNvPicPr>
            <p:nvPr/>
          </p:nvPicPr>
          <p:blipFill rotWithShape="1">
            <a:blip r:embed="rId9"/>
            <a:srcRect l="6919" t="8726" r="24999" b="8338"/>
            <a:stretch/>
          </p:blipFill>
          <p:spPr>
            <a:xfrm>
              <a:off x="1176436" y="2230402"/>
              <a:ext cx="392188" cy="497682"/>
            </a:xfrm>
            <a:prstGeom prst="rect">
              <a:avLst/>
            </a:prstGeom>
          </p:spPr>
        </p:pic>
        <p:sp>
          <p:nvSpPr>
            <p:cNvPr id="9" name="Textfeld 8"/>
            <p:cNvSpPr txBox="1"/>
            <p:nvPr/>
          </p:nvSpPr>
          <p:spPr>
            <a:xfrm>
              <a:off x="1568624" y="2230402"/>
              <a:ext cx="12241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 err="1">
                  <a:latin typeface="+mj-lt"/>
                </a:rPr>
                <a:t>unpaywall</a:t>
              </a:r>
              <a:endParaRPr lang="de-DE" sz="2800" b="1" dirty="0">
                <a:latin typeface="+mj-lt"/>
              </a:endParaRPr>
            </a:p>
          </p:txBody>
        </p: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BFD8BFFE-9D5C-499E-AAC7-A372A251C379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2888160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/>
              <a:t>18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6436365" y="139965"/>
            <a:ext cx="34420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2"/>
                </a:solidFill>
                <a:latin typeface="+mj-lt"/>
              </a:rPr>
              <a:t>Literaturverwaltung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7272268" y="1698660"/>
            <a:ext cx="1719443" cy="2470752"/>
            <a:chOff x="7401272" y="2562430"/>
            <a:chExt cx="1719443" cy="2470752"/>
          </a:xfrm>
        </p:grpSpPr>
        <p:sp>
          <p:nvSpPr>
            <p:cNvPr id="7" name="Zylinder 6"/>
            <p:cNvSpPr/>
            <p:nvPr/>
          </p:nvSpPr>
          <p:spPr bwMode="auto">
            <a:xfrm>
              <a:off x="7401272" y="2562430"/>
              <a:ext cx="1559473" cy="2140183"/>
            </a:xfrm>
            <a:prstGeom prst="can">
              <a:avLst/>
            </a:prstGeom>
            <a:solidFill>
              <a:schemeClr val="bg1">
                <a:lumMod val="75000"/>
                <a:alpha val="71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e-DE" sz="2000" b="1" dirty="0">
                  <a:solidFill>
                    <a:schemeClr val="tx1"/>
                  </a:solidFill>
                  <a:latin typeface="+mj-lt"/>
                </a:rPr>
                <a:t>Literatur-verwaltung</a:t>
              </a:r>
              <a:endParaRPr lang="de-DE" sz="2400" b="1" dirty="0">
                <a:solidFill>
                  <a:schemeClr val="tx1"/>
                </a:solidFill>
                <a:latin typeface="+mj-lt"/>
              </a:endParaRPr>
            </a:p>
          </p:txBody>
        </p:sp>
        <p:pic>
          <p:nvPicPr>
            <p:cNvPr id="8" name="Grafik 7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227999" y="4186962"/>
              <a:ext cx="892716" cy="846220"/>
            </a:xfrm>
            <a:prstGeom prst="rect">
              <a:avLst/>
            </a:prstGeom>
          </p:spPr>
        </p:pic>
      </p:grpSp>
      <p:sp>
        <p:nvSpPr>
          <p:cNvPr id="9" name="Textfeld 8"/>
          <p:cNvSpPr txBox="1"/>
          <p:nvPr/>
        </p:nvSpPr>
        <p:spPr>
          <a:xfrm>
            <a:off x="901842" y="1355284"/>
            <a:ext cx="533992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de-DE" dirty="0"/>
              <a:t>Sammeln der Referenzen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de-DE" dirty="0"/>
              <a:t>Erstellen von Literaturlisten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de-DE" dirty="0"/>
              <a:t>Wissensmanagement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de-DE" dirty="0"/>
              <a:t>und mehr…</a:t>
            </a:r>
            <a:endParaRPr lang="de-DE" dirty="0"/>
          </a:p>
        </p:txBody>
      </p:sp>
      <p:pic>
        <p:nvPicPr>
          <p:cNvPr id="11" name="Picture 4" descr="Zotero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917" y="5013087"/>
            <a:ext cx="223202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095" y="4951016"/>
            <a:ext cx="345598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3" name="Textfeld 3"/>
          <p:cNvSpPr txBox="1">
            <a:spLocks noChangeArrowheads="1"/>
          </p:cNvSpPr>
          <p:nvPr/>
        </p:nvSpPr>
        <p:spPr bwMode="auto">
          <a:xfrm>
            <a:off x="432430" y="5808370"/>
            <a:ext cx="82089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Frutiger 45 Light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Frutiger 45 Ligh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Frutiger 45 Light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e-DE" altLang="de-DE" sz="1600" b="0" dirty="0">
                <a:hlinkClick r:id="rId8"/>
              </a:rPr>
              <a:t>Vergleich von Literaturverwaltungsprogrammen</a:t>
            </a:r>
            <a:endParaRPr lang="de-DE" altLang="de-DE" sz="1600" b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972E007-C671-482F-B615-1B13550A97C2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2327270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/>
              <a:t>19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6992544" y="139965"/>
            <a:ext cx="2885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2"/>
                </a:solidFill>
                <a:latin typeface="+mj-lt"/>
              </a:rPr>
              <a:t>Fachinformation</a:t>
            </a:r>
          </a:p>
        </p:txBody>
      </p:sp>
      <p:sp>
        <p:nvSpPr>
          <p:cNvPr id="7" name="Textfeld 2"/>
          <p:cNvSpPr txBox="1">
            <a:spLocks noChangeArrowheads="1"/>
          </p:cNvSpPr>
          <p:nvPr/>
        </p:nvSpPr>
        <p:spPr bwMode="auto">
          <a:xfrm rot="177106">
            <a:off x="7077085" y="1792867"/>
            <a:ext cx="2084388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Frutiger 45 Light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Frutiger 45 Light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Frutiger 45 Light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2A0C6"/>
              </a:buClr>
              <a:buSzPct val="60000"/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Frutiger 45 Light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de-DE" sz="2000" b="0" dirty="0">
                <a:solidFill>
                  <a:schemeClr val="accent1"/>
                </a:solidFill>
              </a:rPr>
              <a:t>Wenden Sie sich bei Fragen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de-DE" altLang="de-DE" sz="2000" b="0" dirty="0">
                <a:solidFill>
                  <a:schemeClr val="accent1"/>
                </a:solidFill>
              </a:rPr>
              <a:t>einfach an die </a:t>
            </a:r>
            <a:r>
              <a:rPr lang="de-DE" altLang="de-DE" sz="2800" b="0" dirty="0">
                <a:solidFill>
                  <a:schemeClr val="accent1"/>
                </a:solidFill>
              </a:rPr>
              <a:t>Bibliothek</a:t>
            </a:r>
            <a:r>
              <a:rPr lang="de-DE" altLang="de-DE" sz="2000" b="0" dirty="0">
                <a:solidFill>
                  <a:schemeClr val="accent1"/>
                </a:solidFill>
              </a:rPr>
              <a:t> </a:t>
            </a:r>
            <a:r>
              <a:rPr lang="de-DE" altLang="de-DE" sz="2000" b="0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  <a:endParaRPr lang="de-DE" altLang="de-DE" sz="2000" b="0" dirty="0">
              <a:solidFill>
                <a:schemeClr val="accent1"/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57510">
            <a:off x="831295" y="1392804"/>
            <a:ext cx="5697456" cy="3798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0" y="5677259"/>
            <a:ext cx="9878462" cy="725488"/>
          </a:xfrm>
        </p:spPr>
        <p:txBody>
          <a:bodyPr/>
          <a:lstStyle/>
          <a:p>
            <a:pPr algn="ctr"/>
            <a:r>
              <a:rPr lang="de-DE" altLang="de-DE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Vielen Dank für Ihre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2148686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hlinkClick r:id="rId3"/>
          </p:cNvPr>
          <p:cNvSpPr/>
          <p:nvPr/>
        </p:nvSpPr>
        <p:spPr bwMode="auto">
          <a:xfrm>
            <a:off x="2504728" y="4149953"/>
            <a:ext cx="6655384" cy="1849085"/>
          </a:xfrm>
          <a:prstGeom prst="rect">
            <a:avLst/>
          </a:prstGeom>
          <a:solidFill>
            <a:schemeClr val="accent3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rPr>
              <a:t>Elektronische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rPr>
              <a:t>Zeitschriftenbibliothek</a:t>
            </a:r>
            <a:r>
              <a:rPr kumimoji="0" lang="de-DE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rPr>
              <a:t> (EZB)</a:t>
            </a:r>
            <a:endParaRPr kumimoji="0" lang="de-D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utiger 45 Light" pitchFamily="34" charset="0"/>
            </a:endParaRPr>
          </a:p>
        </p:txBody>
      </p:sp>
      <p:sp>
        <p:nvSpPr>
          <p:cNvPr id="21" name="Rechteck 20">
            <a:hlinkClick r:id="rId4"/>
          </p:cNvPr>
          <p:cNvSpPr/>
          <p:nvPr/>
        </p:nvSpPr>
        <p:spPr bwMode="auto">
          <a:xfrm>
            <a:off x="766110" y="1891772"/>
            <a:ext cx="6655384" cy="1849247"/>
          </a:xfrm>
          <a:prstGeom prst="rect">
            <a:avLst/>
          </a:prstGeom>
          <a:solidFill>
            <a:schemeClr val="accent4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rPr>
              <a:t>Zeitschriftendatenbank</a:t>
            </a:r>
            <a:r>
              <a:rPr kumimoji="0" lang="de-DE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Frutiger 45 Light" pitchFamily="34" charset="0"/>
              </a:rPr>
              <a:t> (ZDB)</a:t>
            </a:r>
            <a:endParaRPr kumimoji="0" lang="de-D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utiger 45 Light" pitchFamily="34" charset="0"/>
            </a:endParaRP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52" y="4538921"/>
            <a:ext cx="1152128" cy="107114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33320" y="2291718"/>
            <a:ext cx="1152128" cy="1049357"/>
          </a:xfrm>
          <a:prstGeom prst="rect">
            <a:avLst/>
          </a:prstGeom>
        </p:spPr>
      </p:pic>
      <p:sp>
        <p:nvSpPr>
          <p:cNvPr id="26" name="Inhaltsplatzhalter 2"/>
          <p:cNvSpPr>
            <a:spLocks noGrp="1"/>
          </p:cNvSpPr>
          <p:nvPr>
            <p:ph idx="1"/>
          </p:nvPr>
        </p:nvSpPr>
        <p:spPr>
          <a:xfrm>
            <a:off x="3666" y="807515"/>
            <a:ext cx="9906000" cy="86409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800"/>
              </a:spcBef>
              <a:buFont typeface="Calibri Light" panose="020F0302020204030204" pitchFamily="34" charset="0"/>
              <a:buChar char="﻿"/>
            </a:pPr>
            <a:r>
              <a:rPr lang="de-DE" sz="3600" dirty="0">
                <a:solidFill>
                  <a:schemeClr val="bg1">
                    <a:lumMod val="50000"/>
                  </a:schemeClr>
                </a:solidFill>
              </a:rPr>
              <a:t>Wo finde ich die wissenschaftliche Zeitschrift XYZ? </a:t>
            </a:r>
            <a:endParaRPr lang="de-DE" altLang="de-DE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888B9EE-61CD-49E3-9047-A7DAF7099DC5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9F16BCB-6D30-4C10-BBC1-AF92EB4898ED}"/>
              </a:ext>
            </a:extLst>
          </p:cNvPr>
          <p:cNvSpPr txBox="1"/>
          <p:nvPr/>
        </p:nvSpPr>
        <p:spPr>
          <a:xfrm>
            <a:off x="4222041" y="139965"/>
            <a:ext cx="5656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dirty="0">
                <a:solidFill>
                  <a:srgbClr val="969696"/>
                </a:solidFill>
                <a:latin typeface="Calibri Light" panose="020F0302020204030204"/>
              </a:rPr>
              <a:t>Literaturrecherche / SLR</a:t>
            </a:r>
            <a:r>
              <a:rPr lang="de-DE" dirty="0">
                <a:solidFill>
                  <a:schemeClr val="bg2"/>
                </a:solidFill>
                <a:latin typeface="+mj-lt"/>
              </a:rPr>
              <a:t> – Suchprozess</a:t>
            </a:r>
          </a:p>
        </p:txBody>
      </p:sp>
    </p:spTree>
    <p:extLst>
      <p:ext uri="{BB962C8B-B14F-4D97-AF65-F5344CB8AC3E}">
        <p14:creationId xmlns:p14="http://schemas.microsoft.com/office/powerpoint/2010/main" val="3705220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19E574-1B4E-4E64-B04E-C8C7CFE8F12D}" type="slidenum">
              <a:rPr lang="de-DE" smtClean="0"/>
              <a:t>21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8371318" y="139965"/>
            <a:ext cx="1507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2"/>
                </a:solidFill>
              </a:rPr>
              <a:t>Aktion!</a:t>
            </a:r>
          </a:p>
        </p:txBody>
      </p:sp>
      <p:sp>
        <p:nvSpPr>
          <p:cNvPr id="6" name="Rechteck 5">
            <a:hlinkClick r:id="rId3"/>
            <a:extLst>
              <a:ext uri="{FF2B5EF4-FFF2-40B4-BE49-F238E27FC236}">
                <a16:creationId xmlns:a16="http://schemas.microsoft.com/office/drawing/2014/main" id="{273854B3-4F05-40F2-896F-AA9F7D65D6F1}"/>
              </a:ext>
            </a:extLst>
          </p:cNvPr>
          <p:cNvSpPr/>
          <p:nvPr/>
        </p:nvSpPr>
        <p:spPr bwMode="auto">
          <a:xfrm>
            <a:off x="712843" y="1090140"/>
            <a:ext cx="8496944" cy="5238675"/>
          </a:xfrm>
          <a:prstGeom prst="rect">
            <a:avLst/>
          </a:prstGeom>
          <a:solidFill>
            <a:schemeClr val="accent4">
              <a:alpha val="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21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Recherchieren Sie in </a:t>
            </a:r>
            <a:r>
              <a:rPr lang="de-DE" sz="4000" dirty="0" err="1">
                <a:solidFill>
                  <a:schemeClr val="accent3"/>
                </a:solidFill>
              </a:rPr>
              <a:t>Bib-Discover</a:t>
            </a:r>
            <a:br>
              <a:rPr lang="de-DE" sz="4000" dirty="0">
                <a:solidFill>
                  <a:schemeClr val="accent3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 nach </a:t>
            </a:r>
            <a:r>
              <a:rPr lang="de-DE" b="1" dirty="0">
                <a:solidFill>
                  <a:schemeClr val="tx1"/>
                </a:solidFill>
              </a:rPr>
              <a:t>Brain-Computer Interface</a:t>
            </a:r>
            <a:r>
              <a:rPr lang="de-DE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de-DE" sz="18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500" dirty="0">
                <a:solidFill>
                  <a:schemeClr val="bg2">
                    <a:lumMod val="75000"/>
                  </a:schemeClr>
                </a:solidFill>
              </a:rPr>
              <a:t>Beschränken Sie die Suche auf </a:t>
            </a:r>
            <a:r>
              <a:rPr lang="de-DE" sz="2500" b="1" dirty="0">
                <a:solidFill>
                  <a:schemeClr val="bg2">
                    <a:lumMod val="75000"/>
                  </a:schemeClr>
                </a:solidFill>
              </a:rPr>
              <a:t>online verfügbare </a:t>
            </a:r>
            <a:r>
              <a:rPr lang="de-DE" sz="2500" dirty="0">
                <a:solidFill>
                  <a:schemeClr val="bg2">
                    <a:lumMod val="75000"/>
                  </a:schemeClr>
                </a:solidFill>
              </a:rPr>
              <a:t>Titel.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500" dirty="0">
                <a:solidFill>
                  <a:schemeClr val="bg2">
                    <a:lumMod val="75000"/>
                  </a:schemeClr>
                </a:solidFill>
              </a:rPr>
              <a:t>Die Titel sollen nur </a:t>
            </a:r>
            <a:r>
              <a:rPr lang="de-DE" sz="2500" b="1" dirty="0">
                <a:solidFill>
                  <a:schemeClr val="bg2">
                    <a:lumMod val="75000"/>
                  </a:schemeClr>
                </a:solidFill>
              </a:rPr>
              <a:t>zwischen 2015 und 2023 </a:t>
            </a:r>
            <a:r>
              <a:rPr lang="de-DE" sz="2500" dirty="0">
                <a:solidFill>
                  <a:schemeClr val="bg2">
                    <a:lumMod val="75000"/>
                  </a:schemeClr>
                </a:solidFill>
              </a:rPr>
              <a:t>erschienen sein.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500" dirty="0">
                <a:solidFill>
                  <a:schemeClr val="bg2">
                    <a:lumMod val="75000"/>
                  </a:schemeClr>
                </a:solidFill>
              </a:rPr>
              <a:t>Nutzen Sie die Funktion „</a:t>
            </a:r>
            <a:r>
              <a:rPr lang="de-DE" sz="2500" b="1" dirty="0">
                <a:solidFill>
                  <a:schemeClr val="bg2">
                    <a:lumMod val="75000"/>
                  </a:schemeClr>
                </a:solidFill>
              </a:rPr>
              <a:t>Alle Filter merken</a:t>
            </a:r>
            <a:r>
              <a:rPr lang="de-DE" sz="2500" dirty="0">
                <a:solidFill>
                  <a:schemeClr val="bg2">
                    <a:lumMod val="75000"/>
                  </a:schemeClr>
                </a:solidFill>
              </a:rPr>
              <a:t>“, damit Sie die Filtereinstellungen nicht jedes Mal neu einstellen müssen.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500" dirty="0">
                <a:solidFill>
                  <a:schemeClr val="bg2">
                    <a:lumMod val="75000"/>
                  </a:schemeClr>
                </a:solidFill>
              </a:rPr>
              <a:t>Sie möchten sehen, welche Artikel des </a:t>
            </a:r>
            <a:r>
              <a:rPr lang="de-DE" sz="2500" b="1" dirty="0">
                <a:solidFill>
                  <a:schemeClr val="bg2">
                    <a:lumMod val="75000"/>
                  </a:schemeClr>
                </a:solidFill>
              </a:rPr>
              <a:t>Autoren </a:t>
            </a:r>
            <a:r>
              <a:rPr lang="de-DE" sz="2500" b="1" dirty="0" err="1">
                <a:solidFill>
                  <a:schemeClr val="bg2">
                    <a:lumMod val="75000"/>
                  </a:schemeClr>
                </a:solidFill>
              </a:rPr>
              <a:t>Wolpaw</a:t>
            </a:r>
            <a:r>
              <a:rPr lang="de-DE" sz="25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de-DE" sz="2500" dirty="0">
                <a:solidFill>
                  <a:schemeClr val="bg2">
                    <a:lumMod val="75000"/>
                  </a:schemeClr>
                </a:solidFill>
              </a:rPr>
              <a:t>vorhanden sind.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0552" y="1340768"/>
            <a:ext cx="805924" cy="94231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285243A2-1949-4590-98C7-B95FCF1CA8EB}"/>
              </a:ext>
            </a:extLst>
          </p:cNvPr>
          <p:cNvSpPr/>
          <p:nvPr/>
        </p:nvSpPr>
        <p:spPr>
          <a:xfrm rot="16200000">
            <a:off x="6947978" y="3904769"/>
            <a:ext cx="56448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latin typeface="+mj-lt"/>
              </a:rPr>
              <a:t>Icons: colourbox.de – Hochschullizenz</a:t>
            </a:r>
          </a:p>
        </p:txBody>
      </p:sp>
    </p:spTree>
    <p:extLst>
      <p:ext uri="{BB962C8B-B14F-4D97-AF65-F5344CB8AC3E}">
        <p14:creationId xmlns:p14="http://schemas.microsoft.com/office/powerpoint/2010/main" val="626230465"/>
      </p:ext>
    </p:extLst>
  </p:cSld>
  <p:clrMapOvr>
    <a:masterClrMapping/>
  </p:clrMapOvr>
</p:sld>
</file>

<file path=ppt/theme/theme1.xml><?xml version="1.0" encoding="utf-8"?>
<a:theme xmlns:a="http://schemas.openxmlformats.org/drawingml/2006/main" name="Folienvortrag quer mit Logo">
  <a:themeElements>
    <a:clrScheme name="HuKB-Standardpräsentation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7F1"/>
      </a:accent1>
      <a:accent2>
        <a:srgbClr val="C54630"/>
      </a:accent2>
      <a:accent3>
        <a:srgbClr val="9A4483"/>
      </a:accent3>
      <a:accent4>
        <a:srgbClr val="309292"/>
      </a:accent4>
      <a:accent5>
        <a:srgbClr val="FFEE00"/>
      </a:accent5>
      <a:accent6>
        <a:srgbClr val="F0BD00"/>
      </a:accent6>
      <a:hlink>
        <a:srgbClr val="0097F1"/>
      </a:hlink>
      <a:folHlink>
        <a:srgbClr val="9A448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 45 Ligh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 45 Light" pitchFamily="34" charset="0"/>
          </a:defRPr>
        </a:defPPr>
      </a:lstStyle>
    </a:lnDef>
  </a:objectDefaults>
  <a:extraClrSchemeLst>
    <a:extraClrScheme>
      <a:clrScheme name="Folienvortrag quer mit Log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2A0C6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AACDDF"/>
        </a:accent5>
        <a:accent6>
          <a:srgbClr val="E78A00"/>
        </a:accent6>
        <a:hlink>
          <a:srgbClr val="00CC99"/>
        </a:hlink>
        <a:folHlink>
          <a:srgbClr val="CC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trag quer mit Log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2A0C6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AACDDF"/>
        </a:accent5>
        <a:accent6>
          <a:srgbClr val="B9E78A"/>
        </a:accent6>
        <a:hlink>
          <a:srgbClr val="00CC99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trag quer mit Logo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trag quer mit Logo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vortrag quer mit Logo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trag quer mit Logo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trag quer mit Logo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trag quer mit Logo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trag quer mit Logo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HuKB-Standardpräsentation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7F1"/>
      </a:accent1>
      <a:accent2>
        <a:srgbClr val="C54630"/>
      </a:accent2>
      <a:accent3>
        <a:srgbClr val="9A4483"/>
      </a:accent3>
      <a:accent4>
        <a:srgbClr val="309292"/>
      </a:accent4>
      <a:accent5>
        <a:srgbClr val="FFEE00"/>
      </a:accent5>
      <a:accent6>
        <a:srgbClr val="F0BD00"/>
      </a:accent6>
      <a:hlink>
        <a:srgbClr val="0097F1"/>
      </a:hlink>
      <a:folHlink>
        <a:srgbClr val="9A4483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F:\Powerpointvorlagen\Folienvortrag quer mit Logo.pot</Template>
  <TotalTime>0</TotalTime>
  <Words>3620</Words>
  <Application>Microsoft Office PowerPoint</Application>
  <PresentationFormat>A4-Papier (210 x 297 mm)</PresentationFormat>
  <Paragraphs>433</Paragraphs>
  <Slides>21</Slides>
  <Notes>21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21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Frutiger 45 Light</vt:lpstr>
      <vt:lpstr>Frutiger 55 Roman</vt:lpstr>
      <vt:lpstr>Lato</vt:lpstr>
      <vt:lpstr>Wingdings</vt:lpstr>
      <vt:lpstr>Folienvortrag quer mit Logo</vt:lpstr>
      <vt:lpstr>Benutzerdefiniertes Design</vt:lpstr>
      <vt:lpstr>Systematische Literaturrecherche</vt:lpstr>
      <vt:lpstr>PowerPoint-Präsentation</vt:lpstr>
      <vt:lpstr>PowerPoint-Präsentation</vt:lpstr>
      <vt:lpstr>PowerPoint-Präsentation</vt:lpstr>
      <vt:lpstr>PowerPoint-Präsentation</vt:lpstr>
      <vt:lpstr>Warum nicht einfach googeln oder ChatGPT?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Vielen Dank für Ihre Aufmerksamkeit!</vt:lpstr>
      <vt:lpstr>PowerPoint-Präsentation</vt:lpstr>
      <vt:lpstr>PowerPoint-Präsentation</vt:lpstr>
    </vt:vector>
  </TitlesOfParts>
  <Company>FH Bonn-Rhein-Sieg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Kein Folientitel</dc:title>
  <dc:creator>hpoeszvm</dc:creator>
  <cp:lastModifiedBy>Klöß, Melanie</cp:lastModifiedBy>
  <cp:revision>1376</cp:revision>
  <cp:lastPrinted>2018-01-29T10:36:54Z</cp:lastPrinted>
  <dcterms:created xsi:type="dcterms:W3CDTF">2001-01-29T10:02:08Z</dcterms:created>
  <dcterms:modified xsi:type="dcterms:W3CDTF">2026-04-20T17:57:53Z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kumenttitel">
    <vt:lpwstr/>
  </property>
  <property fmtid="{D5CDD505-2E9C-101B-9397-08002B2CF9AE}" pid="3" name="Dokumenttyp">
    <vt:lpwstr/>
  </property>
  <property fmtid="{D5CDD505-2E9C-101B-9397-08002B2CF9AE}" pid="4" name="Autor">
    <vt:lpwstr>JG</vt:lpwstr>
  </property>
  <property fmtid="{D5CDD505-2E9C-101B-9397-08002B2CF9AE}" pid="5" name="Funktion des Autors">
    <vt:lpwstr/>
  </property>
  <property fmtid="{D5CDD505-2E9C-101B-9397-08002B2CF9AE}" pid="6" name="Aufbewahrungsart">
    <vt:lpwstr>Elektronisch</vt:lpwstr>
  </property>
  <property fmtid="{D5CDD505-2E9C-101B-9397-08002B2CF9AE}" pid="7" name="Aufbewahrungsfrist">
    <vt:lpwstr>1</vt:lpwstr>
  </property>
  <property fmtid="{D5CDD505-2E9C-101B-9397-08002B2CF9AE}" pid="8" name="Restriktionen">
    <vt:lpwstr/>
  </property>
  <property fmtid="{D5CDD505-2E9C-101B-9397-08002B2CF9AE}" pid="9" name="Schlagworte">
    <vt:lpwstr/>
  </property>
  <property fmtid="{D5CDD505-2E9C-101B-9397-08002B2CF9AE}" pid="10" name="Bschreibung">
    <vt:lpwstr/>
  </property>
</Properties>
</file>